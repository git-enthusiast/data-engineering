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ARCHITECTURE DEEP DIVE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95528" y="182880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CPython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CPU — How Python Really Executes Every Line You Write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9052560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20624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source.py → tokens → AST → bytecode → PVM → objects → native code → CPU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corrected, in-depth walkthrough — for teaching Python's execution model the way it actually works.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61320" y="1371600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2637"/>
          </a:solidFill>
          <a:ln w="20320">
            <a:solidFill>
              <a:srgbClr val="9A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61320" y="2066544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2637"/>
          </a:solidFill>
          <a:ln w="20320">
            <a:solidFill>
              <a:srgbClr val="5B9B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61320" y="2761488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2637"/>
          </a:solidFill>
          <a:ln w="20320">
            <a:solidFill>
              <a:srgbClr val="FFD4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61320" y="3456432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2637"/>
          </a:solidFill>
          <a:ln w="2032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61320" y="4151376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2637"/>
          </a:solidFill>
          <a:ln w="2032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61320" y="4846320"/>
            <a:ext cx="1051560" cy="566928"/>
          </a:xfrm>
          <a:prstGeom prst="roundRect">
            <a:avLst>
              <a:gd name="adj" fmla="val 14516"/>
            </a:avLst>
          </a:prstGeom>
          <a:solidFill>
            <a:srgbClr val="1E2637"/>
          </a:solidFill>
          <a:ln w="20320">
            <a:solidFill>
              <a:srgbClr val="EDEF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0" y="55229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CPU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  ·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Walk Away With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1600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Compiled, then interpreted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78992" y="198424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“Python compiles to bytecode, then executes it” beats “Python is interpreted.”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56832" y="1600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objects &amp; frames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56832" y="198424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code object, an execution frame, and the evaluation stack actually are.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1821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machine, live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78992" y="35661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PVM executes `z = x + y` one instruction at a time — traced on the stack.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22783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31821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.pyc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56832" y="35661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exists, when it's created, and why it is a cache — not a native executable.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809744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47640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vs. Python, fairly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8992" y="514807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CPython's architecture compares to the JVM, side by side, without the myths.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35040" y="4809744"/>
            <a:ext cx="457200" cy="457200"/>
          </a:xfrm>
          <a:prstGeom prst="ellipse">
            <a:avLst/>
          </a:prstGeom>
          <a:solidFill>
            <a:srgbClr val="9A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56832" y="47640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an object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656832" y="514807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even the integer `10` has a type, a value, and reference metadata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16 Parts Ahead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Popular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36192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276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Architecture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36192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9A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276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Program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536192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6276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098280" y="201168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Source to AST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94360" y="3172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Analysis &amp; Compiling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697480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429000" y="3172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Objects &amp; Bytecode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263640" y="3172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Stack-Based VM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0" y="2697480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098280" y="317296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Down to the CPU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94360" y="43342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&amp; Dynamic Typing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858768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3429000" y="43342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&amp; Function Calls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3858768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263640" y="43342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.pyc Cache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61120" y="3858768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9098280" y="43342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vs. Python Architecture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5020056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111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594360" y="5495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Trace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91840" y="5020056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5111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3429000" y="5495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Imports, Native Code &amp; Memory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26480" y="5020056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5111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6263640" y="5495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Internals &amp; Terminology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961120" y="5020056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98280" y="5111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9098280" y="54955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vs.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Legend: Colors Used Throughout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diagram from here on uses the same six colors for the same six ideas. A box's border and dot always tell you which layer of the system you're looking at.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63724"/>
            <a:ext cx="146304" cy="146304"/>
          </a:xfrm>
          <a:prstGeom prst="ellipse">
            <a:avLst/>
          </a:prstGeom>
          <a:solidFill>
            <a:srgbClr val="9AA3B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Text — raw characters, not yet understood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30652"/>
            <a:ext cx="146304" cy="14630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83464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Analysis — tokenizer, parser, AST, symbol table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97580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40156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/ Bytecode — code objects, .pyc, instructions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6450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96849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/ Execution — the PVM, frames, the evaluation stack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36372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267712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/ Memory — int, str, list — and the memory manager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930652"/>
            <a:ext cx="146304" cy="146304"/>
          </a:xfrm>
          <a:prstGeom prst="ellipse">
            <a:avLst/>
          </a:prstGeom>
          <a:solidFill>
            <a:srgbClr val="EDEFF4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83464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Hardware — the operating system and the physical CPU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49758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6382512" y="340156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/ Correction — a common misconception, flagged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37667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" y="5404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76856" y="5559552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2459736" y="537667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32888" y="5404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50792" y="5559552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29" name="Shape 27"/>
          <p:cNvSpPr/>
          <p:nvPr/>
        </p:nvSpPr>
        <p:spPr>
          <a:xfrm>
            <a:off x="4233672" y="537667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06824" y="5404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24728" y="5559552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32" name="Shape 30"/>
          <p:cNvSpPr/>
          <p:nvPr/>
        </p:nvSpPr>
        <p:spPr>
          <a:xfrm>
            <a:off x="6007608" y="537667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80760" y="5404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98664" y="5559552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1544" y="537667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54696" y="5404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372600" y="5559552"/>
            <a:ext cx="219456" cy="201168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9555480" y="537667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28632" y="54041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FF6B6B">
              <a:alpha val="10000"/>
            </a:srgbClr>
          </a:solidFill>
          <a:ln w="15875">
            <a:solidFill>
              <a:srgbClr val="FF6B6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FF6B6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Popular Diagram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go deep, let's repair three inaccuracies hiding in the diagram almost every tutorial uses.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CORRECTION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Sentence That Changes Everything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80160" y="1874520"/>
            <a:ext cx="9601200" cy="2331720"/>
          </a:xfrm>
          <a:prstGeom prst="roundRect">
            <a:avLst>
              <a:gd name="adj" fmla="val 3137"/>
            </a:avLst>
          </a:prstGeom>
          <a:solidFill>
            <a:srgbClr val="1E263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2103120"/>
            <a:ext cx="8961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2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“Python source code is not normally compiled directly into CPU machine code. CPython compiles the source into Python bytecode, and the CPython runtime executes that bytecode.”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.PYC?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48646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what the CPU executes. It's a cached representation of already-compiled bytecode — nothing more.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MOST TUTORIALS START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Diagram Most People Learn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481328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73352" y="1508760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45536" y="1995678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2180844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73352" y="2208276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file.py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45536" y="2695194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288036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73352" y="2907792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45536" y="3394710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3579876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73352" y="3607308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(.pyc)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45536" y="4094226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4279392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73352" y="4306824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/ Interpreter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45536" y="4793742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4978908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73352" y="5006340"/>
            <a:ext cx="3145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40880" y="1481328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completely reasonable place to start.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69480" y="2331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linear and easy to memorize.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the overall direction right: code becomes bytecode, bytecode gets executed.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three details are quietly wrong or incomplete — and they matter once you compare Python to Java, or ask “what does the CPU actually run?”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FIX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 Hiding In That Diagram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E263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“.pyc” looks mandatory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isn't. Bytecode can be built and run straight from memory — no file ever touches disk.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E263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→ Computer, directly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 skips a whole layer. The PVM never hands instructions to the CPU itself.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E2637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translator stages, assumed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12480" y="33375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Preprocessor, assembler, and linker are a C-style story. A .py file doesn't go through them.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1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.pyc Is Optional, Not Mandatory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80160" y="150876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3312" y="1536192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(source)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91256" y="2084832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31343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53312" y="2340864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91256" y="2889504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311810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53312" y="3145536"/>
            <a:ext cx="387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 / Bytecode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91840" y="3666744"/>
            <a:ext cx="914" cy="22860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874520" y="3895344"/>
            <a:ext cx="2834640" cy="914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773936" y="3895344"/>
            <a:ext cx="201168" cy="182880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608576" y="3895344"/>
            <a:ext cx="201168" cy="182880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096512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4123944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Execution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immediately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91840" y="4096512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64992" y="4123944"/>
            <a:ext cx="2688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.pyc Cache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on disk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18120" y="1508760"/>
            <a:ext cx="3913632" cy="4434840"/>
          </a:xfrm>
          <a:prstGeom prst="roundRect">
            <a:avLst>
              <a:gd name="adj" fmla="val 186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0" y="224028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freshly-run script's bytecode can live purely in memory and execute at once.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“__pycache__/name.cpython-3xx.pyc” appears mainly to cache imported modules for next time.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every .pyc file changes nothing about correctness — only recompilation speed.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2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PVM Never Talks to the CPU Directly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25880" y="1463040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99032" y="1490472"/>
            <a:ext cx="4059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Bytecode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BINARY_OP +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8416" y="2167128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2414016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99032" y="2441448"/>
            <a:ext cx="4059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Interpreter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PVM's eval loop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28416" y="3118104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325880" y="3364992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99032" y="3392424"/>
            <a:ext cx="4059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C Implementation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operation's real logic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28416" y="4069080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325880" y="4315968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99032" y="4343400"/>
            <a:ext cx="4059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Machine Instructions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MOV, ADD, CMP, JMP …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0" y="14630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201168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57984"/>
            <a:ext cx="299923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Bytecode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471928"/>
            <a:ext cx="299923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75904" y="2785872"/>
            <a:ext cx="299923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0" y="342900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has no idea what “BINARY_OP” means. Something has to translate it — and that something is CPython's own C code, compiled once, ahead of time, into real machine code.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3 OF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Skips Most Classic Translator Stages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PROGRAMMING-LANGUAGE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783080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24712" y="1810512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42616" y="2203704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386584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24712" y="241401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42616" y="2807208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2990088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24712" y="301752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42616" y="3410712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3593592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24712" y="3621024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642616" y="4014216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4197096"/>
            <a:ext cx="338328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24712" y="422452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general model — but a .py file doesn't run this gauntlet.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CPYTHON ACTUALLY DOES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783080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48272" y="1810512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source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814816" y="2203704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2386584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48272" y="2414016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→ Parser → AST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14816" y="2807208"/>
            <a:ext cx="201168" cy="201168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2990088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48272" y="3017520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14816" y="341071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3593592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48272" y="362102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/ Code Object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814816" y="4014216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36" name="Shape 34"/>
          <p:cNvSpPr/>
          <p:nvPr/>
        </p:nvSpPr>
        <p:spPr>
          <a:xfrm>
            <a:off x="6675120" y="4197096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48272" y="422452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Interpreter → native execution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16305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docs.python.org — Execution Model; dis — Disassembler for Python Bytecode.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B9BD5">
              <a:alpha val="10000"/>
            </a:srgbClr>
          </a:solidFill>
          <a:ln w="15875">
            <a:solidFill>
              <a:srgbClr val="5B9BD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B9BD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Architecture, Up Front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diagram holding everything we're about to unpack, stage by stage, for the rest of this deck.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FOR EVERYTHING THAT FOLLOWS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Complete, Corrected CPython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115568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27632" y="114300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program.py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04488" y="1373886"/>
            <a:ext cx="146304" cy="128016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1476756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27632" y="1504188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04488" y="1735074"/>
            <a:ext cx="146304" cy="128016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1837944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27632" y="1865376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04488" y="2096262"/>
            <a:ext cx="146304" cy="128016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2199132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27632" y="2226564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Syntax Tree (AST)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04488" y="2457450"/>
            <a:ext cx="146304" cy="128016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2560320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27632" y="2587752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+ Compiler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04488" y="2818638"/>
            <a:ext cx="146304" cy="128016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4480" y="2921508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27632" y="294894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 / Bytecode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55664" y="2990088"/>
            <a:ext cx="182880" cy="146304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3408" y="2921508"/>
            <a:ext cx="23317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94894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.pyc cache (optional)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04488" y="3257550"/>
            <a:ext cx="146304" cy="128016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554480" y="3643884"/>
            <a:ext cx="4846320" cy="310896"/>
          </a:xfrm>
          <a:prstGeom prst="roundRect">
            <a:avLst>
              <a:gd name="adj" fmla="val 17647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627632" y="367131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Runtime — PVM / Evaluation Loop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04488" y="3938778"/>
            <a:ext cx="146304" cy="10972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31" name="Shape 29"/>
          <p:cNvSpPr/>
          <p:nvPr/>
        </p:nvSpPr>
        <p:spPr>
          <a:xfrm>
            <a:off x="1554480" y="4032504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627632" y="40599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9544" y="4032504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82696" y="40599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64608" y="4032504"/>
            <a:ext cx="1536192" cy="256032"/>
          </a:xfrm>
          <a:prstGeom prst="roundRect">
            <a:avLst>
              <a:gd name="adj" fmla="val 2142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40599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04488" y="4272534"/>
            <a:ext cx="146304" cy="10972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554480" y="4366260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627632" y="4393692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Objects — int, str, list, dict, function 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04488" y="4633722"/>
            <a:ext cx="146304" cy="10972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554480" y="4727448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627632" y="475488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C Runtime — Built-ins / APIs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04488" y="4994910"/>
            <a:ext cx="146304" cy="10972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44" name="Shape 42"/>
          <p:cNvSpPr/>
          <p:nvPr/>
        </p:nvSpPr>
        <p:spPr>
          <a:xfrm>
            <a:off x="1554480" y="5088636"/>
            <a:ext cx="4846320" cy="256032"/>
          </a:xfrm>
          <a:prstGeom prst="roundRect">
            <a:avLst>
              <a:gd name="adj" fmla="val 21429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627632" y="5116068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904488" y="5328666"/>
            <a:ext cx="146304" cy="109728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47" name="Shape 45"/>
          <p:cNvSpPr/>
          <p:nvPr/>
        </p:nvSpPr>
        <p:spPr>
          <a:xfrm>
            <a:off x="1554480" y="5422392"/>
            <a:ext cx="4846320" cy="256032"/>
          </a:xfrm>
          <a:prstGeom prst="roundRect">
            <a:avLst>
              <a:gd name="adj" fmla="val 21429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627632" y="5449824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Hardware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098280" y="1207008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308592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TOP TO BOTTOM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08592" y="17830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journey — source text becoming a running program. Parts 3 through 16 open up every single arrow above, one at a time, using one small example program.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308592" y="4160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own docs describe a script as a code block executed inside an execution frame.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4. Execution Model.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B9BD5">
              <a:alpha val="10000"/>
            </a:srgbClr>
          </a:solidFill>
          <a:ln w="15875">
            <a:solidFill>
              <a:srgbClr val="5B9BD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B9BD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Program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tiny, four-line program. We will follow it, unchanged, all the way from a text file to a printed number.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START TO FINISH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Running Example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3040" y="169164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9344" y="1837944"/>
            <a:ext cx="5193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9344" y="2290572"/>
            <a:ext cx="5193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9344" y="2743200"/>
            <a:ext cx="5193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9344" y="3195828"/>
            <a:ext cx="5193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print(z)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7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69480" y="169164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21488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63040" y="457200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small enough to trace completely — every character, every token, every bytecode instruction — without losing anyone.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touches every major concept: names, constants, arithmetic, and a function call to print().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reuse it from Part 4 all the way through Part 13, so each new idea attaches to something already familiar.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LINE ONE RUNS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Python Starts Up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7280" y="15087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1536192"/>
            <a:ext cx="4974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type: python program.py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57016" y="2226564"/>
            <a:ext cx="201168" cy="201168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48716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0432" y="2514600"/>
            <a:ext cx="4974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python.exe / python3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CPython executable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57016" y="3204972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465576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" y="3493008"/>
            <a:ext cx="4974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Runtime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the interpreter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57016" y="4183380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44398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70432" y="4471416"/>
            <a:ext cx="4974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program.py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source file is opened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18120" y="1508760"/>
            <a:ext cx="3913632" cy="4206240"/>
          </a:xfrm>
          <a:prstGeom prst="roundRect">
            <a:avLst>
              <a:gd name="adj" fmla="val 186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note on names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0" y="219456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Windows, python.exe is the executable that contains — or starts — the CPython implementation.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 and macOS this is typically the python3 binary.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the very first thing that happens is not “run my code” — it's “start the CPython runtime that will read my code.”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B9BD5">
              <a:alpha val="10000"/>
            </a:srgbClr>
          </a:solidFill>
          <a:ln w="15875">
            <a:solidFill>
              <a:srgbClr val="5B9BD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B9BD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Pipeline: Source to AST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turn raw characters into a structure Python can reason about — before a single instruction is generated.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7 · SOURCE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Is Just Text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655064"/>
            <a:ext cx="41879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2061972"/>
            <a:ext cx="41879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" y="2468880"/>
            <a:ext cx="41879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" y="2875788"/>
            <a:ext cx="41879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print(z)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eyes, this is code. To a CPU, it is not yet anything at all.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49240" y="1508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LINE, AS RAW CHARACTERS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874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22392" y="190195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62472" y="190195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629400" y="1874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02552" y="190195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69480" y="1874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42632" y="190195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␣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09560" y="1874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82712" y="190195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549640" y="1874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22792" y="1901952"/>
            <a:ext cx="420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49240" y="2606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raw characters — no names, no numbers, no meaning yet. Just bytes.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49240" y="3246120"/>
            <a:ext cx="5943600" cy="1920240"/>
          </a:xfrm>
          <a:prstGeom prst="roundRect">
            <a:avLst>
              <a:gd name="adj" fmla="val 3810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34747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cannot directly execute “x = 10.” It has no concept of an assignment statement — only registers, memory addresses, and a fixed set of machine instructions. Everything that follows in this deck exists to close that gap.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7 · 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Source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80160" y="20116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3312" y="2039112"/>
            <a:ext cx="25968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5092" y="2253996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116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039112"/>
            <a:ext cx="25968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program.py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11212" y="2253996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0" y="201168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45552" y="2039112"/>
            <a:ext cx="25968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291840"/>
            <a:ext cx="9052560" cy="2377440"/>
          </a:xfrm>
          <a:prstGeom prst="roundRect">
            <a:avLst>
              <a:gd name="adj" fmla="val 307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52044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opens program.py and reads its contents — nothing is interpreted or understood yet.</a:t>
            </a:r>
            <a:endParaRPr lang="en-US" sz="14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simply a stream of characters: 'x', ' ', '=', ' ', '1', '0', newline, 'y', …</a:t>
            </a:r>
            <a:endParaRPr lang="en-US" sz="14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raw material every later stage — tokenizing, parsing, compiling — will work from.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7 · TOKENIZE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Tokenization?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6916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27632" y="171907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7972" y="1956816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6916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82312" y="171907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02652" y="1956816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6916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36992" y="171907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a.k.a. “lexical analysis”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3063240"/>
            <a:ext cx="8595360" cy="2606040"/>
          </a:xfrm>
          <a:prstGeom prst="roundRect">
            <a:avLst>
              <a:gd name="adj" fmla="val 280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329184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the smallest meaningful chunk of source code — a name, a number, an operator, a keyword, a newline. The tokenizer's whole job is to walk the character stream and group characters into these chunks.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434340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‘x’, ‘ ’, ‘=’, ‘ ’, ‘1’, ‘0’  —  becomes  —  NAME(x), OPERATOR(=), NUMBER(10)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between tokens is consumed and discarded (it did its job — separating characters into groups).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7 · TOKENIZE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Tokenizing `x = 10`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64408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91456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18504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⏎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63724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64792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90772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64408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417820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22" name="Shape 20"/>
          <p:cNvSpPr/>
          <p:nvPr/>
        </p:nvSpPr>
        <p:spPr>
          <a:xfrm>
            <a:off x="4791456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4868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18504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3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</a:t>
            </a:r>
            <a:endParaRPr lang="en-US" sz="933" dirty="0"/>
          </a:p>
        </p:txBody>
      </p:sp>
      <p:sp>
        <p:nvSpPr>
          <p:cNvPr id="27" name="Shape 25"/>
          <p:cNvSpPr/>
          <p:nvPr/>
        </p:nvSpPr>
        <p:spPr>
          <a:xfrm>
            <a:off x="1737360" y="4617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65960" y="4846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tokens from six characters. The two spaces did their job as separators and are gone.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7 · TOKENIZE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Tokenizing `z = x + y`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12848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39896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66944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93992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A0D14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8288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⏎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12164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9212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23" name="Shape 21"/>
          <p:cNvSpPr/>
          <p:nvPr/>
        </p:nvSpPr>
        <p:spPr>
          <a:xfrm>
            <a:off x="2212848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366260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26" name="Shape 24"/>
          <p:cNvSpPr/>
          <p:nvPr/>
        </p:nvSpPr>
        <p:spPr>
          <a:xfrm>
            <a:off x="3739896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3308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29" name="Shape 27"/>
          <p:cNvSpPr/>
          <p:nvPr/>
        </p:nvSpPr>
        <p:spPr>
          <a:xfrm>
            <a:off x="5266944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4376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7420356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32" name="Shape 30"/>
          <p:cNvSpPr/>
          <p:nvPr/>
        </p:nvSpPr>
        <p:spPr>
          <a:xfrm>
            <a:off x="6793992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47404" y="2660904"/>
            <a:ext cx="164592" cy="201168"/>
          </a:xfrm>
          <a:prstGeom prst="downArrow">
            <a:avLst/>
          </a:prstGeom>
          <a:solidFill>
            <a:srgbClr val="69728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21040" y="3108960"/>
            <a:ext cx="1417320" cy="548640"/>
          </a:xfrm>
          <a:prstGeom prst="roundRect">
            <a:avLst>
              <a:gd name="adj" fmla="val 11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8472" y="310896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3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</a:t>
            </a:r>
            <a:endParaRPr lang="en-US" sz="933" dirty="0"/>
          </a:p>
        </p:txBody>
      </p:sp>
      <p:sp>
        <p:nvSpPr>
          <p:cNvPr id="37" name="Shape 35"/>
          <p:cNvSpPr/>
          <p:nvPr/>
        </p:nvSpPr>
        <p:spPr>
          <a:xfrm>
            <a:off x="685800" y="46177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4400" y="482803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‘x’ and ‘y’ tokenize identically to any other NAME — the tokenizer doesn't yet know they refer to already-assigned values. That understanding comes later.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7 · PARSE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Tokens to Structure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6916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27632" y="171907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7972" y="1956816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6916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82312" y="171907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02652" y="1956816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69164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36992" y="171907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54480" y="2834640"/>
            <a:ext cx="8595360" cy="2880360"/>
          </a:xfrm>
          <a:prstGeom prst="roundRect">
            <a:avLst>
              <a:gd name="adj" fmla="val 2540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30632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list of tokens isn't enough. Python needs to know how they relate — which tokens form the target of an assignment, which form the expression being assigned.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83080" y="3886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`z = x + y`. The parser must recognize: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783080" y="42519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assignment, with a target and an expression.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itself is an addition, with two operands.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7 · PARSE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Parse Tree for `z = x + y`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0" y="15544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02352" y="158191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24231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9312" y="245059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→ 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2316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2450592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addition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2918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33192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32918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28432" y="331927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4480560" y="2011680"/>
            <a:ext cx="1554480" cy="411480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035040" y="2011680"/>
            <a:ext cx="1783080" cy="411480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7132320" y="2880360"/>
            <a:ext cx="685800" cy="411480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818120" y="2880360"/>
            <a:ext cx="685800" cy="411480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280160" y="4069080"/>
            <a:ext cx="9601200" cy="1508760"/>
          </a:xfrm>
          <a:prstGeom prst="roundRect">
            <a:avLst>
              <a:gd name="adj" fmla="val 484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4279392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parse tree captures grammar: “assignment has a target and an expression; this particular expression is an addition of two operands.” It's still very close to the token stream — the next stage will abstract it further.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7 · AST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Syntax Tree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77440" y="169164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719072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53812" y="1956816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169164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88152" y="1719072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54480" y="2834640"/>
            <a:ext cx="8595360" cy="2880360"/>
          </a:xfrm>
          <a:prstGeom prst="roundRect">
            <a:avLst>
              <a:gd name="adj" fmla="val 2540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83080" y="30632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Syntax Tree represents meaning and structure — not the literal characters or punctuation that produced it. Parentheses, exact spacing, and redundant detail fall away; what's left is “what the program means.”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83080" y="416052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have names like Assign, Name, BinOp, Constant, Call — the vocabulary the compiler will work with next.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structure the Python compiler actually consumes to produce bytecode.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7 · AST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 for `z = x + y`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12080" y="1417320"/>
            <a:ext cx="164592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85232" y="144475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12080" y="2084832"/>
            <a:ext cx="164592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85232" y="211226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2752344"/>
            <a:ext cx="164592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85032" y="277977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Name('z')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752344"/>
            <a:ext cx="164592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93992" y="277977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40680" y="3419856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13832" y="344728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Name('x')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40880" y="3419856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14032" y="344728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3419856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48472" y="344728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Name('y')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1837944"/>
            <a:ext cx="914" cy="246888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 flipH="1">
            <a:off x="4434840" y="2505456"/>
            <a:ext cx="1600200" cy="246888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035040" y="2505456"/>
            <a:ext cx="1508760" cy="246888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 flipH="1">
            <a:off x="6126480" y="3172968"/>
            <a:ext cx="1417320" cy="246888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543800" y="3172968"/>
            <a:ext cx="914" cy="246888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543800" y="3172968"/>
            <a:ext cx="1417320" cy="246888"/>
          </a:xfrm>
          <a:prstGeom prst="line">
            <a:avLst/>
          </a:prstGeom>
          <a:noFill/>
          <a:ln w="15875">
            <a:solidFill>
              <a:srgbClr val="5B9BD5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97280" y="4160520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25880" y="437083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to the parse tree: cleaner, more abstract, organized entirely around meaning — an assignment, whose value is a binary operation with a left operand, an operator, and a right operand.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7 · AST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Yourself with `ast.dump()`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55064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77824" y="2006692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77824" y="2358321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= """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7824" y="2709949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7824" y="3061577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7824" y="3413206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7824" y="3764834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print(z)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7824" y="4116463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77824" y="4468091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7824" y="4819719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= ast.parse(source)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7824" y="5171348"/>
            <a:ext cx="5193792" cy="35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print(ast.dump(tree, indent=4))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will hand you the real thing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224028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ast module is part of the standard library — no installation required.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ast.parse() runs the exact same parser CPython itself uses.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ast.dump(..., indent=4) pretty-prints the tree so you can read the Module → Assign → BinOp structure directly.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best way to build real intuition: run it on your own snippets and watch the tree change shape.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16305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ast — Abstract Syntax Trees.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FFD43B">
              <a:alpha val="10000"/>
            </a:srgbClr>
          </a:solidFill>
          <a:ln w="15875">
            <a:solidFill>
              <a:srgbClr val="FFD43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FFD43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Analysis &amp; Compiling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generating a single instruction, Python must understand how every name in your program is used.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OF 7 · SYMBOL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Tables &amp; Scope Analysis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code is generated, the compiler walks the AST once more — this time asking a different question: what kind of name is each one?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15184" cy="1920240"/>
          </a:xfrm>
          <a:prstGeom prst="roundRect">
            <a:avLst>
              <a:gd name="adj" fmla="val 3810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774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inside a function; lives only for that call.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73552" y="2194560"/>
            <a:ext cx="2615184" cy="1920240"/>
          </a:xfrm>
          <a:prstGeom prst="roundRect">
            <a:avLst>
              <a:gd name="adj" fmla="val 3810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56432" y="23774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88036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at module level; visible everywhere in the module.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2194560"/>
            <a:ext cx="2615184" cy="1920240"/>
          </a:xfrm>
          <a:prstGeom prst="roundRect">
            <a:avLst>
              <a:gd name="adj" fmla="val 3810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23774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variable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2784" y="288036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 nested function but defined in an enclosing scope.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06256" y="2194560"/>
            <a:ext cx="2615184" cy="1920240"/>
          </a:xfrm>
          <a:prstGeom prst="roundRect">
            <a:avLst>
              <a:gd name="adj" fmla="val 3810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89136" y="23774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variable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89136" y="2880360"/>
            <a:ext cx="2249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captured by an inner function — shared across scopes.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0817352" cy="1234440"/>
          </a:xfrm>
          <a:prstGeom prst="roundRect">
            <a:avLst>
              <a:gd name="adj" fmla="val 5926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tie it together: a nested function that reads a variable from its enclosing function needs that variable to survive after the outer function returns. Getting local/global/free/cell right is what makes that possible.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OF 7 · SYMBOL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vs. Local — A Worked Example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746504"/>
            <a:ext cx="482803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4944" y="2163470"/>
            <a:ext cx="482803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2580437"/>
            <a:ext cx="482803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test():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" y="2997403"/>
            <a:ext cx="482803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20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4944" y="3414370"/>
            <a:ext cx="482803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89320" y="160020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concludes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52360" y="2359152"/>
            <a:ext cx="219456" cy="182880"/>
          </a:xfrm>
          <a:prstGeom prst="rightArrow">
            <a:avLst/>
          </a:prstGeom>
          <a:solidFill>
            <a:srgbClr val="69728A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8120" y="2295144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295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770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52360" y="2889504"/>
            <a:ext cx="219456" cy="182880"/>
          </a:xfrm>
          <a:prstGeom prst="rightArrow">
            <a:avLst/>
          </a:prstGeom>
          <a:solidFill>
            <a:srgbClr val="69728A"/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2825496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B9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2825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(to test)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3300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52360" y="3419856"/>
            <a:ext cx="219456" cy="182880"/>
          </a:xfrm>
          <a:prstGeom prst="rightArrow">
            <a:avLst/>
          </a:prstGeom>
          <a:solidFill>
            <a:srgbClr val="69728A"/>
          </a:solidFill>
          <a:ln/>
        </p:spPr>
      </p:sp>
      <p:sp>
        <p:nvSpPr>
          <p:cNvPr id="25" name="Shape 23"/>
          <p:cNvSpPr/>
          <p:nvPr/>
        </p:nvSpPr>
        <p:spPr>
          <a:xfrm>
            <a:off x="7818120" y="335584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355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(a function)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4462272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test() never assigns to x — it only reads it. So the compiler marks x as a global lookup inside test(), while y, which is assigned inside the function, becomes a fast local slot with its own storage per call.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OF 7 · COMPILE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Compiler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1600" y="1554480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44752" y="1581912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Syntax Tree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9856" y="2221992"/>
            <a:ext cx="201168" cy="201168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468880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44752" y="2496312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9856" y="3136392"/>
            <a:ext cx="201168" cy="201168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3383280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44752" y="3410712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19856" y="405079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4297680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44752" y="4325112"/>
            <a:ext cx="4151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 (Bytecode)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92440" y="1554480"/>
            <a:ext cx="3639312" cy="4206240"/>
          </a:xfrm>
          <a:prstGeom prst="roundRect">
            <a:avLst>
              <a:gd name="adj" fmla="val 2010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103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compiler turns Python source directly into Intel or ARM machine code.”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1040" y="33375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compiler's actual job stops one layer earlier: it produces a code object holding bytecode — instructions for a virtual machine, not for any physical CPU.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Code Objects (C API).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FFD43B">
              <a:alpha val="10000"/>
            </a:srgbClr>
          </a:solidFill>
          <a:ln w="15875">
            <a:solidFill>
              <a:srgbClr val="FFD43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FFD43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Objects &amp; Bytecode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compiler's real output isn't machine code — it's a self-contained package called a code object.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COMPILER'S REAL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a Code Object?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6002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01952" y="1627632"/>
            <a:ext cx="2414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07992" y="1842516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6002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1627632"/>
            <a:ext cx="2414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525512" y="1842516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16002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36992" y="1627632"/>
            <a:ext cx="2414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463040" y="2697480"/>
            <a:ext cx="8778240" cy="2697480"/>
          </a:xfrm>
          <a:prstGeom prst="roundRect">
            <a:avLst>
              <a:gd name="adj" fmla="val 2712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37360" y="2926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code object represents a chunk of executable code that has not yet been bound to a function.”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Python C API documentation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it's the compiled “recipe” for a block of code — a module, a function, a class body — containing everything needed to run it, before any particular call has actually happened.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Code Objects (C API).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Code Object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40350E"/>
          </a:solidFill>
          <a:ln w="12700">
            <a:solidFill>
              <a:srgbClr val="FFD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1089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3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9776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1581912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4142232" y="180136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instructions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73952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1581912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6638544" y="180136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(e.g. 10, 20)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70264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34856" y="1581912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180136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(e.g. x, y, z, print)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2907792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42232" y="307238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0" name="Text 18"/>
          <p:cNvSpPr/>
          <p:nvPr/>
        </p:nvSpPr>
        <p:spPr>
          <a:xfrm>
            <a:off x="4142232" y="32918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Local-variable info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2907792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38544" y="307238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3" name="Text 21"/>
          <p:cNvSpPr/>
          <p:nvPr/>
        </p:nvSpPr>
        <p:spPr>
          <a:xfrm>
            <a:off x="6638544" y="32918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cell variables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0264" y="2907792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56" y="307238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6" name="Text 24"/>
          <p:cNvSpPr/>
          <p:nvPr/>
        </p:nvSpPr>
        <p:spPr>
          <a:xfrm>
            <a:off x="9134856" y="329184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Line-number table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77640" y="4398264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42232" y="4562856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9" name="Text 27"/>
          <p:cNvSpPr/>
          <p:nvPr/>
        </p:nvSpPr>
        <p:spPr>
          <a:xfrm>
            <a:off x="4142232" y="4782312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tables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73952" y="4398264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38544" y="4562856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2" name="Text 30"/>
          <p:cNvSpPr/>
          <p:nvPr/>
        </p:nvSpPr>
        <p:spPr>
          <a:xfrm>
            <a:off x="6638544" y="4782312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Stack-size info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70264" y="4398264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34856" y="4562856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5" name="Text 33"/>
          <p:cNvSpPr/>
          <p:nvPr/>
        </p:nvSpPr>
        <p:spPr>
          <a:xfrm>
            <a:off x="9134856" y="4782312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execution metadata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CONCRETELY, FOR OUR PROGRAM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Program's Code Object, Filled 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2798064" cy="914400"/>
          </a:xfrm>
          <a:prstGeom prst="roundRect">
            <a:avLst>
              <a:gd name="adj" fmla="val 6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122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4231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383280"/>
            <a:ext cx="2798064" cy="1417320"/>
          </a:xfrm>
          <a:prstGeom prst="roundRect">
            <a:avLst>
              <a:gd name="adj" fmla="val 3871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529584"/>
            <a:ext cx="2505456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3810762"/>
            <a:ext cx="2505456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4091940"/>
            <a:ext cx="2505456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4373118"/>
            <a:ext cx="2505456" cy="281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0480" y="1463040"/>
            <a:ext cx="7452360" cy="4343400"/>
          </a:xfrm>
          <a:prstGeom prst="roundRect">
            <a:avLst>
              <a:gd name="adj" fmla="val 168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41648" y="1645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(CONCEPTUAL)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41648" y="1965960"/>
            <a:ext cx="7040880" cy="1920240"/>
          </a:xfrm>
          <a:prstGeom prst="roundRect">
            <a:avLst>
              <a:gd name="adj" fmla="val 2857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2112264"/>
            <a:ext cx="6748272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  10        STORE_NAME   x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87952" y="2383536"/>
            <a:ext cx="6748272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  20        STORE_NAME   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87952" y="2654808"/>
            <a:ext cx="6748272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x         LOAD_NAME    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87952" y="2926080"/>
            <a:ext cx="6748272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   +         STORE_NAME   z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187952" y="3197352"/>
            <a:ext cx="6748272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print     LOAD_NAME    z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87952" y="3468624"/>
            <a:ext cx="6748272" cy="271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                  RETURN_VALUE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41648" y="411480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opcodes differ by Python version — bytecode is an implementation detail of CPython, not a language guarantee.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dis — Disassembler for Python Bytecode.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SET UNDERNEATH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Python Bytecode?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34440" y="1691640"/>
            <a:ext cx="288036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07592" y="1719072"/>
            <a:ext cx="27340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0812" y="1979676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691640"/>
            <a:ext cx="288036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1719072"/>
            <a:ext cx="27340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02652" y="1979676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1691640"/>
            <a:ext cx="288036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91272" y="1719072"/>
            <a:ext cx="27340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Bytecode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34440" y="2880360"/>
            <a:ext cx="8778240" cy="2514600"/>
          </a:xfrm>
          <a:prstGeom prst="roundRect">
            <a:avLst>
              <a:gd name="adj" fmla="val 290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63040" y="31089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is an intermediate instruction set designed for the Python Virtual Machine — lower-level than source code, but still far above raw CPU instructions.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   →   LOAD_CONST 10  →  push 10 onto the VM's stack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STORE_NAME x   →  pop it, bind it to the name x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TWO INSTRUCTIONS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`LOAD_CONST` and `STORE_NAME`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6550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06040" y="2148840"/>
            <a:ext cx="274320" cy="256032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14600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2642616"/>
            <a:ext cx="4096512" cy="448056"/>
          </a:xfrm>
          <a:prstGeom prst="roundRect">
            <a:avLst>
              <a:gd name="adj" fmla="val 8163"/>
            </a:avLst>
          </a:prstGeom>
          <a:solidFill>
            <a:srgbClr val="103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660904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10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" y="3108960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x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6309360" cy="4343400"/>
          </a:xfrm>
          <a:prstGeom prst="roundRect">
            <a:avLst>
              <a:gd name="adj" fmla="val 168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492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10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49240" y="21031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constant 10 onto the evaluation stack. Nothing is named yet — the value just exists, temporarily, at the top of the stack.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49240" y="3017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49240" y="34290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top value off the stack and bind it to the name x in the current namespace. The stack is empty again; x now refers to 10.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49240" y="4434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in Python — no matter how complex — breaks down into small steps like these two.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EEAD4">
              <a:alpha val="10000"/>
            </a:srgbClr>
          </a:solidFill>
          <a:ln w="15875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Stack-Based Virtual Machine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exact sequence of pushes and pops that turns `z = x + y` into a value — one instruction at a time.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Is a Stack Machine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CPython's bytecode execution model is built around one simple structure: the evaluation stack.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9264" y="2532888"/>
            <a:ext cx="182880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33172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0C0F17"/>
          </a:solidFill>
          <a:ln w="12700">
            <a:solidFill>
              <a:srgbClr val="37415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28016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2148840"/>
            <a:ext cx="7040880" cy="3703320"/>
          </a:xfrm>
          <a:prstGeom prst="roundRect">
            <a:avLst>
              <a:gd name="adj" fmla="val 1975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23774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bytecode instruction either pushes a value onto this stack, pops values off it, or both.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Last-In-First-Out (LIFO) — the most recently pushed value is the first one popped.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Constants, intermediate results, and function arguments all pass through it, briefly, on their way somewhere else.</a:t>
            </a:r>
            <a:endParaRPr lang="en-US" sz="1500" dirty="0"/>
          </a:p>
          <a:p>
            <a:pPr algn="l" marL="203200" indent="-203200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equivalent of CPU registers here — the stack is where Python temporarily “holdsits”.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`x = 10` on the Stack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63624"/>
            <a:ext cx="104973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1805940"/>
            <a:ext cx="1049731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554480" y="324612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C0F17"/>
          </a:solidFill>
          <a:ln w="12700">
            <a:solidFill>
              <a:srgbClr val="3741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7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names bound yet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run yet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42316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LOAD_CONST 10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12080" y="3246120"/>
            <a:ext cx="1280160" cy="384048"/>
          </a:xfrm>
          <a:prstGeom prst="roundRect">
            <a:avLst>
              <a:gd name="adj" fmla="val 16667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02352" y="3739896"/>
            <a:ext cx="149961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29768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7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names bound yet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 pushed onto the stack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242316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2606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STORE_NAME x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69680" y="324612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C0F17"/>
          </a:solidFill>
          <a:ln w="12700">
            <a:solidFill>
              <a:srgbClr val="37415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86968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55280" y="5074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0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popped, and bound to the name x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`Z = X + Y` — STEP 1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`LOAD_NAME x`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847088"/>
            <a:ext cx="3273552" cy="292608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86537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21579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24505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   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" y="27432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  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547872"/>
            <a:ext cx="2980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current value bound to x in the namespace, and push a reference to it onto the evaluation stack.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84064" y="2103120"/>
            <a:ext cx="182880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920240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9202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285232" y="2542032"/>
            <a:ext cx="191109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81812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171907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15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72600" y="200253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20025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9154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372600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sp>
        <p:nvSpPr>
          <p:cNvPr id="31" name="Text 29"/>
          <p:cNvSpPr/>
          <p:nvPr/>
        </p:nvSpPr>
        <p:spPr>
          <a:xfrm>
            <a:off x="9372600" y="2606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`Z = X + Y` — STEP 2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`LOAD_NAME y`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2139696"/>
            <a:ext cx="3273552" cy="292608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86537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21579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24505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   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" y="27432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  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547872"/>
            <a:ext cx="2980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y the same way, and push it on top. The stack now holds two values — 20 on top of 10.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84064" y="2103120"/>
            <a:ext cx="182880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920240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9202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94960" y="2514600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5146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285232" y="3136392"/>
            <a:ext cx="191109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781812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8120" y="171907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915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372600" y="200253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sp>
        <p:nvSpPr>
          <p:cNvPr id="29" name="Text 27"/>
          <p:cNvSpPr/>
          <p:nvPr/>
        </p:nvSpPr>
        <p:spPr>
          <a:xfrm>
            <a:off x="9372600" y="20025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9154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72600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2606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`Z = X + Y` — STEP 3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`BINARY_OP +`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2432304"/>
            <a:ext cx="3273552" cy="292608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86537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21579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24505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   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" y="27432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  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547872"/>
            <a:ext cx="2980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top two values (20 and 10), add them together, and push the single result. The stack briefly holds just one value: 30.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84064" y="2103120"/>
            <a:ext cx="182880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920240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9202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285232" y="2542032"/>
            <a:ext cx="191109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781812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171907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15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72600" y="200253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20025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9154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372600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sp>
        <p:nvSpPr>
          <p:cNvPr id="31" name="Text 29"/>
          <p:cNvSpPr/>
          <p:nvPr/>
        </p:nvSpPr>
        <p:spPr>
          <a:xfrm>
            <a:off x="9372600" y="2606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`Z = X + Y` — STEP 4 OF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`STORE_NAME z`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2724912"/>
            <a:ext cx="3273552" cy="292608"/>
          </a:xfrm>
          <a:prstGeom prst="roundRect">
            <a:avLst>
              <a:gd name="adj" fmla="val 12500"/>
            </a:avLst>
          </a:prstGeom>
          <a:solidFill>
            <a:srgbClr val="1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86537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" y="215798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   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245059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   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" y="27432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  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547872"/>
            <a:ext cx="2980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30 off the stack and bind it to the name z. The stack is empty again — the statement is complete.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84064" y="2103120"/>
            <a:ext cx="182880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920240"/>
            <a:ext cx="1691640" cy="512064"/>
          </a:xfrm>
          <a:prstGeom prst="roundRect">
            <a:avLst>
              <a:gd name="adj" fmla="val 10714"/>
            </a:avLst>
          </a:prstGeom>
          <a:solidFill>
            <a:srgbClr val="0C0F17"/>
          </a:solidFill>
          <a:ln w="12700">
            <a:solidFill>
              <a:srgbClr val="37415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394960" y="192024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empty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1812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18120" y="171907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1938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15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72600" y="200253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20025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154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372600" y="2606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2606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31455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154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372600" y="320954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32095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 of the PVM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80160" y="14173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3312" y="1444752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 (Code Object)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36976" y="1920240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121408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53312" y="2148840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Fetch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36976" y="2624328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2825496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53312" y="2852928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/ Dispatch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36976" y="332841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3529584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53312" y="3557016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Operation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36976" y="4032504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280160" y="4233672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53312" y="4261104"/>
            <a:ext cx="39684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04688" y="4402836"/>
            <a:ext cx="182880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8120" y="4032504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91272" y="405993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4553712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91272" y="458114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/ Globals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0817352" cy="1143000"/>
          </a:xfrm>
          <a:prstGeom prst="roundRect">
            <a:avLst>
              <a:gd name="adj" fmla="val 6400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52669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— fetch, decode, execute — repeats for every single bytecode instruction in the code object, feeding results into the stack, and reading or writing Python objects and names as it goes.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THAT RUNS EVERYTHING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Loop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77840" cy="2743200"/>
          </a:xfrm>
          <a:prstGeom prst="roundRect">
            <a:avLst>
              <a:gd name="adj" fmla="val 2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700784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program_not_finished: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4944" y="2050869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4944" y="2400953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 = fetch_next_instruction()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4944" y="2751038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4944" y="3101122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decode(instruction)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3451207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4944" y="3801291"/>
            <a:ext cx="5285232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execute(instruction)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459943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3452" y="4745736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45720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816352" y="459943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93692" y="4745736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45720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36592" y="4599432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690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repeats for the next instruction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1554480"/>
            <a:ext cx="4892040" cy="4206240"/>
          </a:xfrm>
          <a:prstGeom prst="roundRect">
            <a:avLst>
              <a:gd name="adj" fmla="val 173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state, hard to overstate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20840" y="219456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engine. Every Python program, no matter how large, runs as one long series of turns through this loop.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“Decode” figures out which C function implements this particular instruction.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“Execute” runs that C function — which is where Python's own C implementation takes over.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2026-ERA UPDATE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CPython: Adaptive Specialization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916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Python 3.11, the interpreter can specialize bytecode for the runtime conditions it actually observes, using inline caches attached to each instruction.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0632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44752" y="3090672"/>
            <a:ext cx="36941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BINARY_OP +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first run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13832" y="3351276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06324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08192" y="3090672"/>
            <a:ext cx="36941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BINARY_OP_ADD_INT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after a few runs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805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“Python just interprets every instruction identically, every time” is itself an oversimplification today. The evaluation loop you just saw is the timeless mental model — the real machinery increasingly adapts around it for speed.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dis module, CPython adaptive interpreter notes.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EEAD4">
              <a:alpha val="10000"/>
            </a:srgbClr>
          </a:solidFill>
          <a:ln w="15875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Bytecode Down to the CPU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loop found the instruction. Now: who actually performs it?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INSTRUCTION, TRACED ALL THE WAY DOWN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the VM Executes `BINARY_OP +`?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8720" y="1417320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61872" y="1444752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Bytecode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BINARY_OP +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57016" y="208483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295144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61872" y="2322576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Interpreter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the opcode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57016" y="296265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317296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61872" y="3200400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Implementation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function for “add”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57016" y="3840480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4050792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61872" y="4078224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Code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ahead of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57016" y="4718304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4928616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61872" y="4956048"/>
            <a:ext cx="4791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Machine Instructions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MOV, ADD, CMP …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14173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1627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never sees “BINARY_OP”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224028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name is meaningful only to CPython's own dispatch logic.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logic calls into CPython's C implementation — the actual code that knows how to add two Python integer objects.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 code was compiled, once, ahead of time, by a real C compiler — into genuine machine instructions for your specific CPU.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your script never compiles anything down to machine code on the fly. It only runs CPython's own, already-compiled machine code, over and over, guided by your bytecode.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NAIVE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Data 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45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PICTURE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148840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0432" y="2176272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31236" y="3255264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995928"/>
            <a:ext cx="406908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70432" y="4023360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45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9632" y="1993392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80476" y="2423160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260604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2633472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 / CPython Interpreter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80476" y="3063240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324612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9632" y="3273552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 Operations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80476" y="3703320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388620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99632" y="3913632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C Implementation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80476" y="4343400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452628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99632" y="4553712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Machine Instructions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380476" y="4983480"/>
            <a:ext cx="201168" cy="201168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516636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99632" y="5193792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column is the diagram from Part 1, Correction 2 — now fully unpacked on the right.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A78BFA">
              <a:alpha val="10000"/>
            </a:srgbClr>
          </a:solidFill>
          <a:ln w="15875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&amp; Dynamic Typing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number 10 is not a raw value sitting in a register — it's a full Python object, with a type and metadata behind it.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KIND OF VALUE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an Object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Python diverges sharply from a bare-metal virtual machine. When the PVM pushes ‘10’ onto the stack, it isn't pushing four raw bytes — it's pushing a reference to a full Python object.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1452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4604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223364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96516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805276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78428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387188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0340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69100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2252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51012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24164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132924" y="242316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06076" y="245059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97280" y="3383280"/>
            <a:ext cx="9966960" cy="2148840"/>
          </a:xfrm>
          <a:prstGeom prst="roundRect">
            <a:avLst>
              <a:gd name="adj" fmla="val 340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25880" y="361188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carries a type, a value (or contents), and bookkeeping data — most notably a reference count used for memory management.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 objects,” “str objects,” and “list objects” aren't a teaching simplification — they are literally what CPython's C structs are named.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ANATOMY — 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Python Integer Object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295144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2331720"/>
            <a:ext cx="274320" cy="237744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463040"/>
            <a:ext cx="6035040" cy="4389120"/>
          </a:xfrm>
          <a:prstGeom prst="roundRect">
            <a:avLst>
              <a:gd name="adj" fmla="val 1667"/>
            </a:avLst>
          </a:prstGeom>
          <a:solidFill>
            <a:srgbClr val="2C23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214884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148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0" y="2148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40680" y="297180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9718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0" y="2971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40680" y="379476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794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refcount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0" y="37947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(name x)</a:t>
            </a:r>
            <a:endParaRPr lang="en-US" sz="15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ANATOMY — STR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Python String Object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295144"/>
            <a:ext cx="3639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"Rajan"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2331720"/>
            <a:ext cx="274320" cy="237744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463040"/>
            <a:ext cx="6035040" cy="4389120"/>
          </a:xfrm>
          <a:prstGeom prst="roundRect">
            <a:avLst>
              <a:gd name="adj" fmla="val 1667"/>
            </a:avLst>
          </a:prstGeom>
          <a:solidFill>
            <a:srgbClr val="2C23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214884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148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0" y="2148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40680" y="297180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9718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0" y="2971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"Rajan"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40680" y="379476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7947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0" y="37947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40680" y="461772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4617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refcount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0" y="4617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(name name)</a:t>
            </a:r>
            <a:endParaRPr lang="en-US" sz="15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ANATOMY — LIST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Python List Object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655064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235915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450592"/>
            <a:ext cx="219456" cy="201168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219456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2C23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862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object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31920" y="274320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743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64608" y="2944368"/>
            <a:ext cx="201168" cy="18288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352044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35204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4608" y="3721608"/>
            <a:ext cx="201168" cy="18288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0" y="4297680"/>
            <a:ext cx="82296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42976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64608" y="4498848"/>
            <a:ext cx="201168" cy="18288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265176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2679192"/>
            <a:ext cx="15910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0" y="342900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14032" y="3456432"/>
            <a:ext cx="15910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420624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14032" y="4233672"/>
            <a:ext cx="15910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30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52560" y="1508760"/>
            <a:ext cx="2651760" cy="4709160"/>
          </a:xfrm>
          <a:prstGeom prst="roundRect">
            <a:avLst>
              <a:gd name="adj" fmla="val 275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3544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references, not values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235440" y="24231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object doesn't contain 10, 20, and 30 directly — it holds references to three separate int objects living elsewhere in memory.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OUR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Actual `30` Come From?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057400"/>
            <a:ext cx="4663440" cy="1280160"/>
          </a:xfrm>
          <a:prstGeom prst="roundRect">
            <a:avLst>
              <a:gd name="adj" fmla="val 4286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20370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reg_A = 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3544" y="2532888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reg_B = 20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3544" y="286207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reg_A, reg_B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 simple bare-metal VM — or a CPU itself — would add two numbers. Python doesn't work at this level.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8932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691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2221992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object 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71332" y="2368296"/>
            <a:ext cx="219456" cy="201168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1945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14232" y="2221992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object 20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571232" y="2880360"/>
            <a:ext cx="274320" cy="274320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32918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82512" y="3319272"/>
            <a:ext cx="3831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object 30 (newly created)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06908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CPython C implementation asks each object “what is your type?”, confirms both are int, extracts their values, computes the sum, and allocates a brand-new int object to hold 30.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OBJECTS MATTER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Bytecode, Different Behavior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160934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 +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06440" y="2103120"/>
            <a:ext cx="274320" cy="237744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2103120"/>
            <a:ext cx="274320" cy="237744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1460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697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"Hello "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"World"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 + 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sees:  str + str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string concatenation — c becomes "Hello World"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51460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2697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20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sees:  int + 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6364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numeric addition — z becomes 30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BINARY_OP + instruction produces completely different behavior — because the decision is made at runtime, by asking the objects what type they are.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JUST A LABEL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Typing In Action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657600" cy="1828800"/>
          </a:xfrm>
          <a:prstGeom prst="roundRect">
            <a:avLst>
              <a:gd name="adj" fmla="val 3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65506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4944" y="216712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26791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6583680" cy="4343400"/>
          </a:xfrm>
          <a:prstGeom prst="roundRect">
            <a:avLst>
              <a:gd name="adj" fmla="val 168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0116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039112"/>
            <a:ext cx="13167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148840"/>
            <a:ext cx="219456" cy="201168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20116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31152" y="2039112"/>
            <a:ext cx="2596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object → 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2004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65192" y="3227832"/>
            <a:ext cx="13167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3337560"/>
            <a:ext cx="219456" cy="201168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32004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31152" y="3227832"/>
            <a:ext cx="31455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object → "Hello"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x was never “declared as an int.” It is only ever a label pointing at whatever object it was last bound to. Reassignment doesn't change an object — it points the same name at a different object entirely.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E1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EEAD4">
              <a:alpha val="10000"/>
            </a:srgbClr>
          </a:solidFill>
          <a:ln w="15875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&amp; Function Calls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object says what to run. A frame is what's actually happening, right now, as it runs.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PIECE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Python Frame?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own documentation puts it precisely: a code block executes inside an execution frame.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463040" y="2148840"/>
            <a:ext cx="8778240" cy="3931920"/>
          </a:xfrm>
          <a:prstGeom prst="roundRect">
            <a:avLst>
              <a:gd name="adj" fmla="val 1860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2377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function runs — or a module starts, or a class body executes — Python needs somewhere to keep track of what's happening this time, as opposed to what would happen in general.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338328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holds the local variables for this particular call — not for the function in general.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this call's evaluation stack, and exactly where execution currently is within the bytecode.</a:t>
            </a:r>
            <a:endParaRPr lang="en-US" sz="14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calls create a new frame each time — which is precisely how recursion keeps each call's variables separate.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26364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4. Execution Model.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CRUCIAL DISTINCTION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Object vs. Frame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40350E"/>
          </a:solidFill>
          <a:ln w="12700">
            <a:solidFill>
              <a:srgbClr val="FFD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should be executed?”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at compile time.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every call to the function.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bytecode itself, constants, and names — fixed, unchanging content.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15087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2057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“What's happening right now?”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63640" y="27889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fresh, every single call.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to this call — never shared, even for recursive calls to the same function.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this call's local values, its evaluation stack, and its current instruction position.</a:t>
            </a:r>
            <a:endParaRPr lang="en-US" sz="13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FRAME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Contents for `add(a, b)`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008022"/>
            <a:ext cx="4005072" cy="371246"/>
          </a:xfrm>
          <a:prstGeom prst="roundRect">
            <a:avLst>
              <a:gd name="adj" fmla="val 9852"/>
            </a:avLst>
          </a:prstGeom>
          <a:solidFill>
            <a:srgbClr val="10352F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655064"/>
            <a:ext cx="3822192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4944" y="2026310"/>
            <a:ext cx="3822192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 + 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" y="2397557"/>
            <a:ext cx="3822192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" y="2768803"/>
            <a:ext cx="3822192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" y="3140050"/>
            <a:ext cx="3822192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add(5, 7)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created for the call add(5, 7):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508760"/>
            <a:ext cx="6309360" cy="4617720"/>
          </a:xfrm>
          <a:prstGeom prst="roundRect">
            <a:avLst>
              <a:gd name="adj" fmla="val 158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173736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35240" y="17373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add()'s compiled bytecode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66360" y="2395728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3957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35240" y="239572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5,  b → 7,  result → 12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66360" y="3054096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05409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35240" y="305409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(empty between statements)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166360" y="3712464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7124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position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35240" y="37124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currently on: return result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66360" y="4370832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43708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 reference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35240" y="437083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module-level namespace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166360" y="502920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50292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info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635240" y="502920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 — add() is top-level)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MECHANICS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Function Is Called?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160520" cy="1691640"/>
          </a:xfrm>
          <a:prstGeom prst="roundRect">
            <a:avLst>
              <a:gd name="adj" fmla="val 3243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63624"/>
            <a:ext cx="3867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3504" y="1913382"/>
            <a:ext cx="3867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3504" y="2263140"/>
            <a:ext cx="3867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3504" y="2612898"/>
            <a:ext cx="3867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add(10, 20)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77840" y="137160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50992" y="139903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Frame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call add(10, 20)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37576" y="1961388"/>
            <a:ext cx="201168" cy="201168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214884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50992" y="217627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frame is created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37576" y="2738628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577840" y="292608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50992" y="295351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Frame for add()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10,  b → 20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37576" y="3515868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370332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50992" y="373075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+ b, then RETURN 30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frame is discarded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37576" y="4293108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4" name="Shape 22"/>
          <p:cNvSpPr/>
          <p:nvPr/>
        </p:nvSpPr>
        <p:spPr>
          <a:xfrm>
            <a:off x="5577840" y="448056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50992" y="4507992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Main Frame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30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3977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gets its own a and b — even if add() calls itself recursively.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frame is paused, not destroyed, while add()'s frame runs.</a:t>
            </a:r>
            <a:endParaRPr lang="en-US" sz="1250" dirty="0"/>
          </a:p>
          <a:p>
            <a:pPr algn="l" marL="203200" indent="-2032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add() returns, its frame is gone; only the returned value survives.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1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FFD43B">
              <a:alpha val="10000"/>
            </a:srgbClr>
          </a:solidFill>
          <a:ln w="15875">
            <a:solidFill>
              <a:srgbClr val="FFD43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FFD43B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.pyc Cache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flagged it back in Part 1. Now let's look at what a .pyc file actually is — and isn't.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CORRECTION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`.pyc` File, Really?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7280" y="155448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158191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42616" y="2157984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3957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0432" y="242316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0" y="2962656"/>
            <a:ext cx="914" cy="201168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80160" y="3163824"/>
            <a:ext cx="2926080" cy="914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97864" y="3163824"/>
            <a:ext cx="164592" cy="164592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23944" y="3163824"/>
            <a:ext cx="164592" cy="164592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341985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344728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08960" y="341985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82112" y="344728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__pycache__/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hello.cpython-3xx.pyc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150876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89320" y="1691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cache. Not an executable.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989320" y="219456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.pyc file holds a serialized code object — already-tokenized, parsed, and compiled bytecode.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hand hello.pyc directly to the CPU. The CPython runtime still has to load it and run it through the same evaluation loop as anything else.</a:t>
            </a:r>
            <a:endParaRPr lang="en-US" sz="1350" dirty="0"/>
          </a:p>
          <a:p>
            <a:pPr algn="l" marL="203200" indent="-2032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purpose is to save the cost of re-tokenizing, re-parsing, and re-compiling source that hasn't changed — most useful for imported modules that don't change between runs.</a:t>
            </a:r>
            <a:endParaRPr lang="en-US" sz="13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Python Create `.pyc` Files?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3040" y="15544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36192" y="15819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3672" y="1728216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5544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69728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5819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42632" y="1728216"/>
            <a:ext cx="219456" cy="201168"/>
          </a:xfrm>
          <a:prstGeom prst="rightArrow">
            <a:avLst/>
          </a:prstGeom>
          <a:solidFill>
            <a:srgbClr val="69728A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15544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54112" y="15819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large_module.py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306324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53312" y="309067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08376" y="3465576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280160" y="363016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53312" y="365760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008376" y="4032504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0160" y="4197096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53312" y="422452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008376" y="459943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26" name="Shape 24"/>
          <p:cNvSpPr/>
          <p:nvPr/>
        </p:nvSpPr>
        <p:spPr>
          <a:xfrm>
            <a:off x="1280160" y="4764024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53312" y="479145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 disk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5040" y="2514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 AFTER THAT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06324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39712" y="309067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.pyc found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494776" y="346557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3630168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39712" y="365760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directly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94776" y="4032504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36" name="Shape 34"/>
          <p:cNvSpPr/>
          <p:nvPr/>
        </p:nvSpPr>
        <p:spPr>
          <a:xfrm>
            <a:off x="6766560" y="4197096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39712" y="422452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494776" y="4599432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39" name="Shape 37"/>
          <p:cNvSpPr/>
          <p:nvPr/>
        </p:nvSpPr>
        <p:spPr>
          <a:xfrm>
            <a:off x="6766560" y="4764024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39712" y="479145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— no recompile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7200" y="612648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compilation time only — program behavior is identical either way.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COMPARISON, HANDLED CAREFULLY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`.pyc` vs. Java's `.class` — Not the Same Thing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8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54480"/>
          <a:ext cx="87782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43891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D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D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CPython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F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.java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.py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javac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CPython compiler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FFD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.class bytecode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FFD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 object / bytecode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JVM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CPython VM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machine execution (via JIT)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EDEFF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native execution (via C impl.)</a:t>
                      </a:r>
                      <a:endParaRPr lang="en-US" sz="14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463040" y="4892040"/>
            <a:ext cx="8778240" cy="1051560"/>
          </a:xfrm>
          <a:prstGeom prst="roundRect">
            <a:avLst>
              <a:gd name="adj" fmla="val 6957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691640" y="50292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 is useful for intuition — but don't say “.pyc = exactly .class.” The formats, guarantees, and tooling around them are genuinely different, not just renamed versions of the same idea.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B9BD5">
              <a:alpha val="10000"/>
            </a:srgbClr>
          </a:solidFill>
          <a:ln w="15875">
            <a:solidFill>
              <a:srgbClr val="5B9BD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B9BD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vs. Python Architecture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everyone reaches for — done carefully, side by side, without the shortcuts.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Java Execution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17320" y="15087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90472" y="1536192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 (.java)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9856" y="2103120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233172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90472" y="2359152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9856" y="2926080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17320" y="315468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90472" y="3182112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.class Bytecode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19856" y="3749040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17320" y="397764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90472" y="4005072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89504" y="4599432"/>
            <a:ext cx="164592" cy="146304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3986784" y="4599432"/>
            <a:ext cx="164592" cy="146304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17320" y="4764024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90472" y="4791456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703320" y="4764024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76472" y="4791456"/>
            <a:ext cx="1773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38144" y="5340096"/>
            <a:ext cx="164592" cy="164592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417320" y="544068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90472" y="5468112"/>
            <a:ext cx="40599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 → CPU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150876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8388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vs. JVM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83880" y="214884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JDK bundles development tools — including javac, the Java compiler.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JVM is purely the execution environment: it loads .class bytecode and runs it, via an interpreter and/or a JIT compiler.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JIT can compile hot paths into real machine code while the program runs — something CPython does not traditionally do.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READY FOR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(CPython) Execution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51560" y="1417320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4712" y="1444752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Source (.py)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9856" y="1938528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130552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24712" y="2157984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→ Parser → AST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9856" y="2651760"/>
            <a:ext cx="201168" cy="201168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2843784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24712" y="2871216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19856" y="336499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557016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24712" y="3584448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 / Bytecode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19856" y="4078224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4270248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24712" y="4297680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VM / Evaluation Machinery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19856" y="479145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4983480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24712" y="5010912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Native Implementation → CPU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1417320"/>
            <a:ext cx="3794760" cy="4572000"/>
          </a:xfrm>
          <a:prstGeom prst="roundRect">
            <a:avLst>
              <a:gd name="adj" fmla="val 192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1600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standardized “PVM”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83880" y="219456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(the language) doesn't mandate one universal virtual machine the way the JVM is standardized across vendors.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“PVM” is a conceptual name people use for CPython's bytecode-execution machinery specifically.</a:t>
            </a:r>
            <a:endParaRPr lang="en-US" sz="1300" dirty="0"/>
          </a:p>
          <a:p>
            <a:pPr algn="l"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implementations — covered in Part 16 — execute Python differently under the hood.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Difference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TRADITIONALLY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234440" y="214884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07592" y="217627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08376" y="267919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288036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07592" y="290779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08376" y="3410712"/>
            <a:ext cx="201168" cy="201168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361188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07592" y="363931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/ JIT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08376" y="4142232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4440" y="434340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07592" y="437083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15087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CPYTHON, TRADITIONALLY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214884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93992" y="217627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94776" y="267919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0840" y="288036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93992" y="290779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Interpreter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94776" y="3410712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8" name="Shape 26"/>
          <p:cNvSpPr/>
          <p:nvPr/>
        </p:nvSpPr>
        <p:spPr>
          <a:xfrm>
            <a:off x="6720840" y="361188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93992" y="363931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 Implementation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94776" y="4142232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434340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93992" y="4370832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0378440" cy="1234440"/>
          </a:xfrm>
          <a:prstGeom prst="roundRect">
            <a:avLst>
              <a:gd name="adj" fmla="val 5926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4892040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already blurring: since 3.11, CPython specializes and caches bytecode adaptively (Part 7.9). “Java JIT-compiles, Python just interprets” is no longer a clean line — it's a difference of degree, not of kind.</a:t>
            </a:r>
            <a:endParaRPr lang="en-US" sz="13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E1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EEAD4">
              <a:alpha val="10000"/>
            </a:srgbClr>
          </a:solidFill>
          <a:ln w="15875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End-to-End Trace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from Parts 3 through 12, run together as one continuous story — from source text to a printed number.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FRONT HALF, IN ONE 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End: An 8-Step Recap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53516" y="1691640"/>
            <a:ext cx="347472" cy="347472"/>
          </a:xfrm>
          <a:prstGeom prst="ellipse">
            <a:avLst/>
          </a:prstGeom>
          <a:solidFill>
            <a:srgbClr val="9AA3B8"/>
          </a:solidFill>
          <a:ln/>
        </p:spPr>
      </p:sp>
      <p:sp>
        <p:nvSpPr>
          <p:cNvPr id="8" name="Text 6"/>
          <p:cNvSpPr/>
          <p:nvPr/>
        </p:nvSpPr>
        <p:spPr>
          <a:xfrm>
            <a:off x="1153516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0032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3184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44472" y="2414016"/>
            <a:ext cx="128016" cy="128016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5972" y="1691640"/>
            <a:ext cx="347472" cy="347472"/>
          </a:xfrm>
          <a:prstGeom prst="ellipse">
            <a:avLst/>
          </a:prstGeom>
          <a:solidFill>
            <a:srgbClr val="9A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251597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72488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45640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06928" y="2414016"/>
            <a:ext cx="128016" cy="128016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3878428" y="1691640"/>
            <a:ext cx="347472" cy="347472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3878428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34944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08096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9384" y="2414016"/>
            <a:ext cx="128016" cy="128016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22" name="Shape 20"/>
          <p:cNvSpPr/>
          <p:nvPr/>
        </p:nvSpPr>
        <p:spPr>
          <a:xfrm>
            <a:off x="5240884" y="1691640"/>
            <a:ext cx="347472" cy="347472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3" name="Text 21"/>
          <p:cNvSpPr/>
          <p:nvPr/>
        </p:nvSpPr>
        <p:spPr>
          <a:xfrm>
            <a:off x="5240884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7400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70552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1840" y="2414016"/>
            <a:ext cx="128016" cy="128016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27" name="Shape 25"/>
          <p:cNvSpPr/>
          <p:nvPr/>
        </p:nvSpPr>
        <p:spPr>
          <a:xfrm>
            <a:off x="6603340" y="1691640"/>
            <a:ext cx="347472" cy="347472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8" name="Text 26"/>
          <p:cNvSpPr/>
          <p:nvPr/>
        </p:nvSpPr>
        <p:spPr>
          <a:xfrm>
            <a:off x="660334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59856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33008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94296" y="2414016"/>
            <a:ext cx="128016" cy="128016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32" name="Shape 30"/>
          <p:cNvSpPr/>
          <p:nvPr/>
        </p:nvSpPr>
        <p:spPr>
          <a:xfrm>
            <a:off x="7965796" y="1691640"/>
            <a:ext cx="347472" cy="3474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3" name="Text 31"/>
          <p:cNvSpPr/>
          <p:nvPr/>
        </p:nvSpPr>
        <p:spPr>
          <a:xfrm>
            <a:off x="7965796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22312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95464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56752" y="2414016"/>
            <a:ext cx="128016" cy="12801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37" name="Shape 35"/>
          <p:cNvSpPr/>
          <p:nvPr/>
        </p:nvSpPr>
        <p:spPr>
          <a:xfrm>
            <a:off x="9328252" y="1691640"/>
            <a:ext cx="347472" cy="34747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8" name="Text 36"/>
          <p:cNvSpPr/>
          <p:nvPr/>
        </p:nvSpPr>
        <p:spPr>
          <a:xfrm>
            <a:off x="9328252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884768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57920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119208" y="2414016"/>
            <a:ext cx="128016" cy="12801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90708" y="1691640"/>
            <a:ext cx="347472" cy="34747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3" name="Text 41"/>
          <p:cNvSpPr/>
          <p:nvPr/>
        </p:nvSpPr>
        <p:spPr>
          <a:xfrm>
            <a:off x="10690708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247224" y="214884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320376" y="2176272"/>
            <a:ext cx="1088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Frame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280160" y="3246120"/>
            <a:ext cx="9601200" cy="2606040"/>
          </a:xfrm>
          <a:prstGeom prst="roundRect">
            <a:avLst>
              <a:gd name="adj" fmla="val 280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508760" y="34747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4 through 6 covered every one of these steps in depth — tokenizing our program character by character, parsing it into a tree, abstracting that into an AST, and compiling it into a code object.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1508760" y="4343400"/>
            <a:ext cx="9144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is new framing, not new mechanics: before any statement can run, CPython creates a main frame to hold the module's globals, its evaluation stack, and its current position in the bytecode — exactly like the add() frame from Part 10.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MAIN FRAME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Executing `x = 10` and `y = 20`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64992" cy="4160520"/>
          </a:xfrm>
          <a:prstGeom prst="roundRect">
            <a:avLst>
              <a:gd name="adj" fmla="val 217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830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CREATED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2999232" cy="1737360"/>
          </a:xfrm>
          <a:prstGeom prst="roundRect">
            <a:avLst>
              <a:gd name="adj" fmla="val 3158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432304"/>
            <a:ext cx="27066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globals: { 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58768" y="3566160"/>
            <a:ext cx="146304" cy="164592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041648" y="1600200"/>
            <a:ext cx="3364992" cy="4160520"/>
          </a:xfrm>
          <a:prstGeom prst="roundRect">
            <a:avLst>
              <a:gd name="adj" fmla="val 2174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24528" y="17830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x = 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24528" y="2286000"/>
            <a:ext cx="2999232" cy="1737360"/>
          </a:xfrm>
          <a:prstGeom prst="roundRect">
            <a:avLst>
              <a:gd name="adj" fmla="val 3158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432304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10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70832" y="2793492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70832" y="3154680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70832" y="3515868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globals: { x: 10 }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43216" y="3566160"/>
            <a:ext cx="146304" cy="164592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6096" y="1600200"/>
            <a:ext cx="3364992" cy="4160520"/>
          </a:xfrm>
          <a:prstGeom prst="roundRect">
            <a:avLst>
              <a:gd name="adj" fmla="val 2174"/>
            </a:avLst>
          </a:prstGeom>
          <a:solidFill>
            <a:srgbClr val="171D2B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08976" y="17830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y = 20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08976" y="2286000"/>
            <a:ext cx="2999232" cy="1737360"/>
          </a:xfrm>
          <a:prstGeom prst="roundRect">
            <a:avLst>
              <a:gd name="adj" fmla="val 3158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432304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 20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2793492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0" y="3154680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55280" y="3515868"/>
            <a:ext cx="2706624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globals: { x: 10, y: 20 }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statements follow exactly the LOAD_CONST / STORE_NAME pattern introduced in Part 6.5.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INSTRUCTION-LEVEL TRACE, COMPRESSED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Executing `z = x + y` — the Recap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1783080"/>
            <a:ext cx="2212848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830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212848"/>
            <a:ext cx="2212848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59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25296" y="292608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926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115568" y="3419856"/>
            <a:ext cx="122529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017520" y="3429000"/>
            <a:ext cx="128016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3824" y="16002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28416" y="1783080"/>
            <a:ext cx="2212848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7830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28416" y="2212848"/>
            <a:ext cx="2212848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359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 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931920" y="292608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926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931920" y="3392424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3924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822192" y="3886200"/>
            <a:ext cx="122529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724144" y="3429000"/>
            <a:ext cx="128016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7" name="Shape 25"/>
          <p:cNvSpPr/>
          <p:nvPr/>
        </p:nvSpPr>
        <p:spPr>
          <a:xfrm>
            <a:off x="5870448" y="16002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783080"/>
            <a:ext cx="2212848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7830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212848"/>
            <a:ext cx="2212848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2359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 +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38544" y="2926080"/>
            <a:ext cx="1005840" cy="384048"/>
          </a:xfrm>
          <a:prstGeom prst="roundRect">
            <a:avLst>
              <a:gd name="adj" fmla="val 16667"/>
            </a:avLst>
          </a:prstGeom>
          <a:solidFill>
            <a:srgbClr val="10352F"/>
          </a:solidFill>
          <a:ln w="22225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2926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28816" y="3419856"/>
            <a:ext cx="1225296" cy="914"/>
          </a:xfrm>
          <a:prstGeom prst="line">
            <a:avLst/>
          </a:prstGeom>
          <a:noFill/>
          <a:ln w="19050">
            <a:solidFill>
              <a:srgbClr val="37415A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430768" y="3429000"/>
            <a:ext cx="128016" cy="14630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36" name="Shape 34"/>
          <p:cNvSpPr/>
          <p:nvPr/>
        </p:nvSpPr>
        <p:spPr>
          <a:xfrm>
            <a:off x="8577072" y="1600200"/>
            <a:ext cx="2542032" cy="37947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741664" y="1783080"/>
            <a:ext cx="2212848" cy="292608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5EEA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41664" y="178308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41664" y="2212848"/>
            <a:ext cx="2212848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87968" y="2359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 z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345168" y="292608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0C0F17"/>
          </a:solidFill>
          <a:ln w="12700">
            <a:solidFill>
              <a:srgbClr val="37415A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9345168" y="2926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5532120"/>
            <a:ext cx="10817352" cy="594360"/>
          </a:xfrm>
          <a:prstGeom prst="roundRect">
            <a:avLst>
              <a:gd name="adj" fmla="val 1230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" y="553212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instruction-by-instruction detail — including namespace state — is in Part 7, Steps 1 through 4.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FINALE — NEW GROUND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Executing `print(z)` — Bytecode to Terminal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4712" y="139903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LOAD_NAME print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print function object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36976" y="186766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03454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24712" y="206197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LOAD_NAME z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int object → 30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36976" y="253060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269748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24712" y="272491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print with one argument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36976" y="3193542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36042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24712" y="338785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Implementation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CPython's own C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36976" y="3856482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402336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24712" y="405079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output stream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36976" y="4519422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468630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24712" y="471373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runtime → OS interfaces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36976" y="5182362"/>
            <a:ext cx="201168" cy="201168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5349240"/>
            <a:ext cx="4572000" cy="530352"/>
          </a:xfrm>
          <a:prstGeom prst="roundRect">
            <a:avLst>
              <a:gd name="adj" fmla="val 10345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24712" y="537667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on your screen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137160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program.py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22860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4000" dirty="0"/>
          </a:p>
        </p:txBody>
      </p:sp>
      <p:sp>
        <p:nvSpPr>
          <p:cNvPr id="31" name="Shape 29"/>
          <p:cNvSpPr/>
          <p:nvPr/>
        </p:nvSpPr>
        <p:spPr>
          <a:xfrm>
            <a:off x="6583680" y="4343400"/>
            <a:ext cx="4663440" cy="1783080"/>
          </a:xfrm>
          <a:prstGeom prst="roundRect">
            <a:avLst>
              <a:gd name="adj" fmla="val 410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84848" y="452628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 of source became this. Every arrow above is real: a name lookup, a call, a write to a stream, a system call, and finally light on your screen.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6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A78BFA">
              <a:alpha val="10000"/>
            </a:srgbClr>
          </a:solidFill>
          <a:ln w="15875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Imports, Native Code &amp; Memory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doesn't exist separately from the operating system — and every object you create has to live somewhere.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FILE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With `import math`?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6093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256032" cy="219456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417320"/>
            <a:ext cx="3703320" cy="2880360"/>
          </a:xfrm>
          <a:prstGeom prst="roundRect">
            <a:avLst>
              <a:gd name="adj" fmla="val 2540"/>
            </a:avLst>
          </a:prstGeom>
          <a:solidFill>
            <a:srgbClr val="171D2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MACHINERY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204825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1965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loaded?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50545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module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96265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41985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5102352" y="3337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if necessary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877056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5102352" y="3794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cached bytecode when possible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49640" y="1600200"/>
            <a:ext cx="256032" cy="219456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146304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34272" y="149047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module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9611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continues 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754880"/>
            <a:ext cx="10287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standard-library module is Python source. Some — like math — are implemented as native C extension modules, compiled ahead of time. Importing one skips tokenizing and parsing entirely; it's already machine code, loaded directly.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PRINCIPLE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I/O Eventually Reaches the 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7280" y="16002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70432" y="162763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print("Hello")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08376" y="2203704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44144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70432" y="2468880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print implementation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08376" y="3044952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28269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" y="3310128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56832" y="162763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open("data.txt")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94776" y="2203704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244144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2468880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 object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94776" y="3044952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328269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56832" y="3310128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file facilities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08960" y="3849624"/>
            <a:ext cx="914" cy="320040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595360" y="3849624"/>
            <a:ext cx="914" cy="320040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3108960" y="4169664"/>
            <a:ext cx="5486400" cy="914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995264" y="4169664"/>
            <a:ext cx="201168" cy="182880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27" name="Shape 25"/>
          <p:cNvSpPr/>
          <p:nvPr/>
        </p:nvSpPr>
        <p:spPr>
          <a:xfrm>
            <a:off x="3992728" y="4425696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65880" y="4453128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5266944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25880" y="5431536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doesn't exist separately from the operating system. Every visible effect — printed text, a saved file, a network packet — ultimately passes through OS facilities that CPython's C code calls into.</a:t>
            </a:r>
            <a:endParaRPr lang="en-US" sz="13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OBJECTS ACTUALLY LIVE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Management: Where Objects Live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13048" y="14173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86200" y="1444752"/>
            <a:ext cx="3511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Runtime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41848" y="1920240"/>
            <a:ext cx="914" cy="27432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828800" y="2194560"/>
            <a:ext cx="7616952" cy="914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240280" y="2194560"/>
            <a:ext cx="164592" cy="164592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43230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61872" y="2459736"/>
            <a:ext cx="2231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04688" y="2194560"/>
            <a:ext cx="164592" cy="164592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53128" y="243230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2459736"/>
            <a:ext cx="2231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59952" y="2194560"/>
            <a:ext cx="164592" cy="164592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08392" y="243230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81544" y="2459736"/>
            <a:ext cx="22311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50408" y="3154680"/>
            <a:ext cx="182880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813048" y="342900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86200" y="3456432"/>
            <a:ext cx="3511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50408" y="4005072"/>
            <a:ext cx="182880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13048" y="4279392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86200" y="4306824"/>
            <a:ext cx="3511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5321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manages this mostly with reference counting, backed by a cyclic garbage collector for reference cycles that counting alone can't catch.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BEHIND THE METADATA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Counting: When Memory Gets Freed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783080"/>
            <a:ext cx="2267712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929384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 points to the 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2267712" cy="41148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refcount =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0" y="3429000"/>
            <a:ext cx="128016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163824" y="160020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00984" y="1783080"/>
            <a:ext cx="2267712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929384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00984" y="24231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name points to the same list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00984" y="3383280"/>
            <a:ext cx="2267712" cy="41148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refcount =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24144" y="3429000"/>
            <a:ext cx="128016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70448" y="160020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07608" y="1783080"/>
            <a:ext cx="2267712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1929384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07608" y="24231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goes away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07608" y="3383280"/>
            <a:ext cx="2267712" cy="41148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refcount = 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30768" y="3429000"/>
            <a:ext cx="128016" cy="164592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577072" y="160020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14232" y="1783080"/>
            <a:ext cx="2267712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0536" y="1929384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714232" y="24231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references remain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14232" y="3383280"/>
            <a:ext cx="2267712" cy="41148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 w="1397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338328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refcount = 0 → freed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598932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“reference metadata” field shown on every object anatomy card in Part 9.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E1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EEAD4">
              <a:alpha val="10000"/>
            </a:srgbClr>
          </a:solidFill>
          <a:ln w="15875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PVM Internals &amp; Terminology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and mental models that let you talk precisely about what CPython is doing — and why we call it a “virtual machine” at all.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LEVEL DOWN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Zooming Into the PVM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1600" y="1417320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44752" y="1444752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48456" y="1901952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075688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44752" y="210312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48456" y="2560320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2734056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44752" y="2761488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48456" y="3218688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3392424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44752" y="341985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48456" y="387705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4050792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44752" y="4078224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48456" y="4535424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4709160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44752" y="4736592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48456" y="5193792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5367528"/>
            <a:ext cx="4754880" cy="512064"/>
          </a:xfrm>
          <a:prstGeom prst="roundRect">
            <a:avLst>
              <a:gd name="adj" fmla="val 10714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44752" y="539496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CPython Operations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778240" y="1417320"/>
            <a:ext cx="2971800" cy="4572000"/>
          </a:xfrm>
          <a:prstGeom prst="roundRect">
            <a:avLst>
              <a:gd name="adj" fmla="val 2462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79408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interpreter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79408" y="2286000"/>
            <a:ext cx="2606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deck is context around this one linear chain. When people say “the Python interpreter,” this pipeline — repeated for every instruction — is what they mean.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TEACH, IN ORDER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Components Every Teacher Should Cover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916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1671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executable bytecode and its metadata.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1508760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691640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6916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21671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execution context for one particular call.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1508760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691640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169164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pointer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2167128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exactly where execution currently 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300984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30098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77647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temporary operands and results.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023360" y="3118104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3300984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330098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06240" y="377647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names like x, print, or math actually resolve.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589520" y="3118104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3300984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3300984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0" y="377647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runtime values — int, str, list, and more.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4727448"/>
            <a:ext cx="3401568" cy="1444752"/>
          </a:xfrm>
          <a:prstGeom prst="roundRect">
            <a:avLst>
              <a:gd name="adj" fmla="val 5063"/>
            </a:avLst>
          </a:prstGeom>
          <a:solidFill>
            <a:srgbClr val="1E2637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910328"/>
            <a:ext cx="384048" cy="38404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43000" y="4910328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machinery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5385816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executes bytecode, instruction by instruction.</a:t>
            </a:r>
            <a:endParaRPr lang="en-US" sz="11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INTUITION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Useful Analogy: Translator + Virtual Computer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5464" y="15636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+ 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40350E"/>
          </a:solidFill>
          <a:ln w="12700">
            <a:solidFill>
              <a:srgbClr val="FFD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5146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COMPILER SAYS: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will convert this into instructions that my virtual computer understands.”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language  →  Python compiler  →  PVM language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3317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514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PVM SAYS: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88036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understand these instructions — and I know exactly how to carry them out.”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44348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x  ·  LOAD y  ·  ADD  ·  STORE z   —   performed via the underlying CPython implementation.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THING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Call It a “Virtual Machine”?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bytecode behaves like instructions for an abstract computer that doesn't physically exist — it's implemented entirely in software, and that software runs on your real CPU.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37360" y="2240280"/>
            <a:ext cx="7818120" cy="3794760"/>
          </a:xfrm>
          <a:prstGeom prst="roundRect">
            <a:avLst>
              <a:gd name="adj" fmla="val 1928"/>
            </a:avLst>
          </a:prstGeom>
          <a:solidFill>
            <a:srgbClr val="0A0D14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2423160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“PYTHON CPU” — AN INSTRUCTION SET THAT ONLY EXISTS IN SOFTWARE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292608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22192" y="292608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78424" y="292608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78424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34656" y="292608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4656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65960" y="370332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703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22192" y="370332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3703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78424" y="370332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78424" y="3703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34656" y="3703320"/>
            <a:ext cx="1691640" cy="566928"/>
          </a:xfrm>
          <a:prstGeom prst="roundRect">
            <a:avLst>
              <a:gd name="adj" fmla="val 11290"/>
            </a:avLst>
          </a:prstGeom>
          <a:solidFill>
            <a:srgbClr val="1E2637"/>
          </a:solidFill>
          <a:ln w="1524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4656" y="3703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BUILD_LIST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65960" y="4709160"/>
            <a:ext cx="7360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CPU  →  implemented in software  →  runs on your real CPU. That's the whole idea behind “virtual machine.”</a:t>
            </a:r>
            <a:endParaRPr lang="en-US" sz="13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INSTRUCTION SETS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CPU vs. Python VM — Compared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E2637"/>
          </a:solidFill>
          <a:ln w="12700">
            <a:solidFill>
              <a:srgbClr val="EDEF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CPU  (x86-64 / ARM)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03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60604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06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10896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08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61188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11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11480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114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461772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617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512064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262F45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120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15087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10312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103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LOAD_CONST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60604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606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LOAD_NAME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310896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108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STORE_NAME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361188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611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BINARY_OP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411480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114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461772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1E2637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617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RETURN_VALUE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LAYERS IN ORDER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Instruction Hierarchy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24328" y="1554480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581912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Source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x + 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98464" y="2258568"/>
            <a:ext cx="201168" cy="201168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2624328" y="2487168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514600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VM Instructions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LOAD_NAME, BINARY_OP, STORE_NAME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98464" y="3191256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4328" y="3419856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97480" y="3447288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Native Implementation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code behind each instruction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98464" y="4123944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4328" y="4352544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97480" y="4379976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Instructions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MOV, ADD, CMP, JMP …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98464" y="5056632"/>
            <a:ext cx="201168" cy="201168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4328" y="5285232"/>
            <a:ext cx="6949440" cy="676656"/>
          </a:xfrm>
          <a:prstGeom prst="roundRect">
            <a:avLst>
              <a:gd name="adj" fmla="val 8108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97480" y="5312664"/>
            <a:ext cx="6803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CPU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x86-64, ARM, or whatever you're running 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ever talks to the one directly below it — no layer is ever skipped.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THE 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“Compiler” End and “Interpreter” Begin?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40350E"/>
          </a:solidFill>
          <a:ln w="12700">
            <a:solidFill>
              <a:srgbClr val="FFD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1488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0432" y="217627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08376" y="2596896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278892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70432" y="281635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08376" y="3236976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34290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70432" y="345643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008376" y="3877056"/>
            <a:ext cx="201168" cy="201168"/>
          </a:xfrm>
          <a:prstGeom prst="downArrow">
            <a:avLst/>
          </a:prstGeom>
          <a:solidFill>
            <a:srgbClr val="FFD43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406908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70432" y="409651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 / bytecode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150876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/ VM PART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25146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56832" y="254203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94776" y="296265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315468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56832" y="318211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94776" y="3602736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379476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56832" y="3822192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operations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94360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94360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genuinely does both — it compiles, then it interprets.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DEBATE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Python “Compiled” or “Interpreted”?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9875520" cy="1554480"/>
          </a:xfrm>
          <a:prstGeom prst="roundRect">
            <a:avLst>
              <a:gd name="adj" fmla="val 4706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737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“Python is an interpreted language.”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true, but it hides the compilation step entirely — an oversimplification.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9875520" cy="1920240"/>
          </a:xfrm>
          <a:prstGeom prst="roundRect">
            <a:avLst>
              <a:gd name="adj" fmla="val 3810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56616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900" i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“CPython compiles Python source into bytecode / code objects, then executes that bytecode using its runtime execution machinery.”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precise — and it's exactly the sentence we opened this whole deck with, back in Part 1.</a:t>
            </a:r>
            <a:endParaRPr lang="en-US" sz="13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2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5B9BD5">
              <a:alpha val="10000"/>
            </a:srgbClr>
          </a:solidFill>
          <a:ln w="15875">
            <a:solidFill>
              <a:srgbClr val="5B9BD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ln w="12700">
            <a:solidFill>
              <a:srgbClr val="5B9BD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 / 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276148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vs. Implementation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in this deck describes CPython specifically. That distinction turns out to matter a great deal.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LANGUAGE, SEVERAL ENGINES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vs. Implementation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637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— its syntax and semantics, specified independently of any one engine.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637"/>
          </a:solidFill>
          <a:ln w="12700">
            <a:solidFill>
              <a:srgbClr val="FFD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3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implementation of that language — the one this entire deck has been describing.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JIT compiler — translates hot code paths into machine code while the program runs, often dramatically faster than CPython.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55264" y="315468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38144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Jython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38144" y="374904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Python to Java bytecode and runs it on the JVM — giving direct access to the entire Java ecosystem.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1888" y="315468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IronPython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144768" y="374904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.NET Common Language Runtime, the way Jython targets the JVM.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68512" y="3154680"/>
            <a:ext cx="2542032" cy="2880360"/>
          </a:xfrm>
          <a:prstGeom prst="roundRect">
            <a:avLst>
              <a:gd name="adj" fmla="val 2878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51392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51392" y="3749040"/>
            <a:ext cx="2176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reimplementation for microcontrollers and constrained embedded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CAVEAT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Bytecode Stability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267048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8961120" cy="2651760"/>
          </a:xfrm>
          <a:prstGeom prst="roundRect">
            <a:avLst>
              <a:gd name="adj" fmla="val 275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1031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opcode you've seen in this deck — LOAD_CONST, STORE_NAME, BINARY_OP, CALL — is real. But their exact names, numbers, and behavior are explicitly documented as an implementation detail of CPython, not a guarantee of the Python language.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45920" y="3383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— and regularly do — change between Python versions. Code that inspects bytecode directly should never assume it is stable across releases.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71600" y="4709160"/>
            <a:ext cx="8961120" cy="1051560"/>
          </a:xfrm>
          <a:prstGeom prst="roundRect">
            <a:avLst>
              <a:gd name="adj" fmla="val 6957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470916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 module is the best way to see this for yourself — disassemble any function, on your installed Python version, and read its real bytecode.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108192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dis — Disassembler for Python Bytecode.</a:t>
            </a:r>
            <a:endParaRPr lang="en-US" sz="9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Diagram — Now Fully Understood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554480" y="1115568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27632" y="114300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program.py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04488" y="1373886"/>
            <a:ext cx="146304" cy="128016"/>
          </a:xfrm>
          <a:prstGeom prst="downArrow">
            <a:avLst/>
          </a:prstGeom>
          <a:solidFill>
            <a:srgbClr val="9AA3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476756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27632" y="1504188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→ Parser → AST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04488" y="1735074"/>
            <a:ext cx="146304" cy="128016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837944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27632" y="1865376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+ Compiler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04488" y="2096262"/>
            <a:ext cx="146304" cy="128016"/>
          </a:xfrm>
          <a:prstGeom prst="downArrow">
            <a:avLst/>
          </a:prstGeom>
          <a:solidFill>
            <a:srgbClr val="5B9BD5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2199132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27632" y="2226564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 / Bytecode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04488" y="2535174"/>
            <a:ext cx="146304" cy="128016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8" name="Shape 16"/>
          <p:cNvSpPr/>
          <p:nvPr/>
        </p:nvSpPr>
        <p:spPr>
          <a:xfrm>
            <a:off x="1554480" y="2921508"/>
            <a:ext cx="4846320" cy="310896"/>
          </a:xfrm>
          <a:prstGeom prst="roundRect">
            <a:avLst>
              <a:gd name="adj" fmla="val 17647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27632" y="2948940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VM — Evaluation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04488" y="3294126"/>
            <a:ext cx="146304" cy="10972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3406140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27632" y="3433572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Objects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904488" y="3673602"/>
            <a:ext cx="146304" cy="10972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554480" y="3767328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27632" y="379476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C Runtime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04488" y="4034790"/>
            <a:ext cx="146304" cy="10972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4480" y="4128516"/>
            <a:ext cx="4846320" cy="283464"/>
          </a:xfrm>
          <a:prstGeom prst="roundRect">
            <a:avLst>
              <a:gd name="adj" fmla="val 19355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27632" y="4155948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→ CPU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98280" y="1115568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08592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ARROW, ACCOUNTED FOR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08592" y="17830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parts ago, this was six unexplained boxes. Now each one is a stage you've traced by hand, with a real program, down to individual bytecode instructions.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08592" y="3931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goal: not to memorize boxes, but to be able to explain why each arrow points where it does.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ONLY ONE THING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One-Line Data Flow to Memorize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9164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→ Tokens → AST → Code Object / Bytecode → PVM / Evaluation → Python Objects → Native / OS Operations → CPU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Or, the short version: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386791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73452" y="4014216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38404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24912" y="386791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2252" y="4014216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38404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53712" y="386791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31052" y="4014216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8404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82512" y="386791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9852" y="4014216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38404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11312" y="386791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Runtime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8652" y="4014216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6960" y="384048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40112" y="386791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in that one line is now backed by a diagram, a trace, or a worked example in this deck.</a:t>
            </a:r>
            <a:endParaRPr lang="en-US" sz="9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CIRCLE, BACK TO PART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Important Correction, Restated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3D1B1B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71600" y="21031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44752" y="2130552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08376" y="2825496"/>
            <a:ext cx="201168" cy="201168"/>
          </a:xfrm>
          <a:prstGeom prst="downArrow">
            <a:avLst/>
          </a:prstGeom>
          <a:solidFill>
            <a:srgbClr val="FF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20040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17780">
            <a:solidFill>
              <a:srgbClr val="FF6B6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44752" y="3227832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skips an entire layer of real, running C code.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0352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2103120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21305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94776" y="2496312"/>
            <a:ext cx="201168" cy="201168"/>
          </a:xfrm>
          <a:prstGeom prst="downArrow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2670048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2697480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Native Implementation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94776" y="3063240"/>
            <a:ext cx="201168" cy="201168"/>
          </a:xfrm>
          <a:prstGeom prst="downArrow">
            <a:avLst/>
          </a:prstGeom>
          <a:solidFill>
            <a:srgbClr val="A78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3236976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65392" y="3264408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Libraries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94776" y="3630168"/>
            <a:ext cx="201168" cy="201168"/>
          </a:xfrm>
          <a:prstGeom prst="downArrow">
            <a:avLst/>
          </a:prstGeom>
          <a:solidFill>
            <a:srgbClr val="EDEF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3803904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65392" y="3831336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64208"/>
            <a:ext cx="365760" cy="36576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compiles, then interprets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70432" y="20848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purely an “interpreted language” — it compiles to bytecode first.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664208"/>
            <a:ext cx="365760" cy="36576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8272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.pyc is a cache, not an executable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748272" y="208483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recompilation time; it is never handed to the CPU directly.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2841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1012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PVM never touches the CPU directly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70432" y="3749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CPython's own compiled C code stands between bytecode and machine instructions.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127248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3328416"/>
            <a:ext cx="365760" cy="3657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48272" y="331012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an object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748272" y="3749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10 carries a type, a value, and reference-count metadata.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91456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99262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70432" y="49743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make each call independent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70432" y="54132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and closures work because every call gets its own frame.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4791456"/>
            <a:ext cx="5257800" cy="1481328"/>
          </a:xfrm>
          <a:prstGeom prst="roundRect">
            <a:avLst>
              <a:gd name="adj" fmla="val 4938"/>
            </a:avLst>
          </a:prstGeom>
          <a:solidFill>
            <a:srgbClr val="1E2637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36208" y="4992624"/>
            <a:ext cx="365760" cy="36576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48272" y="497433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“PVM” describes CPython, not Python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748272" y="541324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implementations — PyPy, Jython, and more — execute differently.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772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Suggested Next Layer for Teaching This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9875520" cy="2331720"/>
          </a:xfrm>
          <a:prstGeom prst="roundRect">
            <a:avLst>
              <a:gd name="adj" fmla="val 3137"/>
            </a:avLst>
          </a:prstGeom>
          <a:solidFill>
            <a:srgbClr val="171D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105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complete program — the same one used throughout this deck — and trace it live, in this order: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9AA3B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24712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2560320"/>
            <a:ext cx="219456" cy="201168"/>
          </a:xfrm>
          <a:prstGeom prst="rightArrow">
            <a:avLst/>
          </a:prstGeom>
          <a:solidFill>
            <a:srgbClr val="9A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2167128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2560320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4" name="Shape 12"/>
          <p:cNvSpPr/>
          <p:nvPr/>
        </p:nvSpPr>
        <p:spPr>
          <a:xfrm>
            <a:off x="3282696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55848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42816" y="2560320"/>
            <a:ext cx="219456" cy="201168"/>
          </a:xfrm>
          <a:prstGeom prst="rightArrow">
            <a:avLst/>
          </a:prstGeom>
          <a:solidFill>
            <a:srgbClr val="5B9BD5"/>
          </a:solidFill>
          <a:ln/>
        </p:spPr>
      </p:sp>
      <p:sp>
        <p:nvSpPr>
          <p:cNvPr id="17" name="Shape 15"/>
          <p:cNvSpPr/>
          <p:nvPr/>
        </p:nvSpPr>
        <p:spPr>
          <a:xfrm>
            <a:off x="4398264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71416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Object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58384" y="2560320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513832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FFD43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86984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 Output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73952" y="2560320"/>
            <a:ext cx="219456" cy="201168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9400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02552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89520" y="2560320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744968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18120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705088" y="2560320"/>
            <a:ext cx="219456" cy="201168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29" name="Shape 27"/>
          <p:cNvSpPr/>
          <p:nvPr/>
        </p:nvSpPr>
        <p:spPr>
          <a:xfrm>
            <a:off x="8860536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933688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20656" y="2560320"/>
            <a:ext cx="219456" cy="201168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9976104" y="2377440"/>
            <a:ext cx="1024128" cy="566928"/>
          </a:xfrm>
          <a:prstGeom prst="roundRect">
            <a:avLst>
              <a:gd name="adj" fmla="val 9677"/>
            </a:avLst>
          </a:prstGeom>
          <a:solidFill>
            <a:srgbClr val="1E2637"/>
          </a:solidFill>
          <a:ln w="17780">
            <a:solidFill>
              <a:srgbClr val="EDEFF4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49256" y="2404872"/>
            <a:ext cx="877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4160520"/>
            <a:ext cx="9875520" cy="1737360"/>
          </a:xfrm>
          <a:prstGeom prst="roundRect">
            <a:avLst>
              <a:gd name="adj" fmla="val 4211"/>
            </a:avLst>
          </a:prstGeom>
          <a:solidFill>
            <a:srgbClr val="40350E"/>
          </a:solidFill>
          <a:ln w="12700">
            <a:solidFill>
              <a:srgbClr val="FFD4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88720" y="438912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 module turns every abstract box in this deck into something a student can run themselves — disassembling real bytecode from their own installed Python, on their own machine, in seconds.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12648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docs.python.org — dis — Disassembler for Python Bytecode.</a:t>
            </a:r>
            <a:endParaRPr lang="en-US" sz="9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0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23015" y="64739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9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CPYTHON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9692640" y="-1097280"/>
            <a:ext cx="4389120" cy="4389120"/>
          </a:xfrm>
          <a:prstGeom prst="ellipse">
            <a:avLst/>
          </a:prstGeom>
          <a:solidFill>
            <a:srgbClr val="5EEAD4">
              <a:alpha val="8000"/>
            </a:srgbClr>
          </a:solidFill>
          <a:ln w="15875">
            <a:solidFill>
              <a:srgbClr val="5EEAD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5029200"/>
            <a:ext cx="3108960" cy="3108960"/>
          </a:xfrm>
          <a:prstGeom prst="ellipse">
            <a:avLst/>
          </a:prstGeom>
          <a:ln w="12700">
            <a:solidFill>
              <a:srgbClr val="5B9BD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6974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D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 Code to CPU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corrections, and “wait, what about …?” are all welcome.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7498080" cy="914400"/>
          </a:xfrm>
          <a:prstGeom prst="roundRect">
            <a:avLst>
              <a:gd name="adj" fmla="val 6000"/>
            </a:avLst>
          </a:prstGeom>
          <a:solidFill>
            <a:srgbClr val="0A0D14"/>
          </a:solidFill>
          <a:ln w="12700">
            <a:solidFill>
              <a:srgbClr val="37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4581144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4892040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dis.dis("z = x + y")   # try it yourself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CPython</dc:title>
  <dc:subject>PptxGenJS Presentation</dc:subject>
  <dc:creator>Claude</dc:creator>
  <cp:lastModifiedBy>Claude</cp:lastModifiedBy>
  <cp:revision>1</cp:revision>
  <dcterms:created xsi:type="dcterms:W3CDTF">2026-08-10T07:33:18Z</dcterms:created>
  <dcterms:modified xsi:type="dcterms:W3CDTF">2026-08-10T07:33:18Z</dcterms:modified>
</cp:coreProperties>
</file>