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0c32463-c297-85ba-78ad-d05b96dd7f1d}">
          <p14:sldIdLst>
            <p14:sldId id="256"/>
            <p14:sldId id="257"/>
          </p14:sldIdLst>
        </p14:section>
        <p14:section name="Session 3 - Breakpoints, watch lists and tracing" id="{e89dd939-5c67-49e1-37ec-140a2126093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Session 4 - Coding standards" id="{8d2b7241-773a-427a-0e5e-5e2821aad25b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ummary" id="{3b933482-f47b-26ce-e9b0-ac1ad1c2abf4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2. Session 3 is where you spend the most time demonstrating the actual tools. Check that students have last week's debugging report to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Class 1: last week we learned what errors are; this week we learn how to find them systematically and how to write code that has fewer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3. Pearson alignment LO4. This is the session where you demonstrate the tools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objectives. Tell students they will produce a step-by-step debugging log as evidence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plan. Highlight the 15-30 minute block: this is the live debugger demo that everything else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Quick-fire. Answers: (1) no; (2) runtime; (3) logical; (4) reproduce, investigate, correct,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5-15 min. Define each term in one sentence and link to a physical analogy: a breakpoint is pausing a video, watch is a live scoreboard, trace is replaying the match frame by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help investigate code. The point is not that print is wrong; the debugger lets you investigate interactively, which is much faster for loops and function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15-30 min. Do not tell students the cause. Ask them to predict, then let the debugger reveal it. The highlighted line is the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numbered element before starting the live demo. Then run the demo. Students should locate the same elements on their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15-30 min. Narrate your reasoning aloud: "I expect total to grow. It is not growing. So the assignment is wrong." This models the investigation thinking you want students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Shortcuts are the Windows and Linux defaults. On macOS they may differ. Students can also use the toolbar buttons. Demonstrate Step Into with a small function call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Watch panel reproduces exactly this table automatically. A trace table is how you reason about code without a debugger, for example in an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sum_to_bug.py (off-by-one in range) and count_passes_bug.py (boundary condition). Require students to set a breakpoint and inspect two variables. Take screenshots as evidence where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50-65 min. Show the filled example based on the demo, then students complete their own log for their practice program. Evidence: corrected source code, evidence of debugger use and the completed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65-72 min. Pairs take turns, 3 minutes each. Pick one or two volunteers to explain to the whole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72-75 min. Suggested answers: (1) Step Over runs the line without entering the called function, Step Into enters it; (2) it updates the value at every pause so you see how it changes over time; (3) debugger lets you pause and inspect without editing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4. Pearson alignment LO3 and LO4.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0-7 min. Both programs do the same job. Ask students which they would prefer to inherit from a colleague and why. Collect their reasons on the board; the rest of the session builds on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7-20 min. Go through each card briefly. Ask for one example of each from their own past code. Keep it short: students will apply these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55-65 min. Demonstrate a formatter or linter in VS Code if time allows (for example the Python extension formatting on save). PEP 8 is the official Python style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20-35 min. Start from the poor version (def f(a, b)) and refactor step by step in VS Code: rename function, rename parameters, add docstring, return instead of print, tidy the call. Ask students for the next improvement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returned values improve reuse and testability. This sets up the testing work in Session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messy program has three near-identical functions, inconsistent naming and odd formatting. Students must confirm the refactored program gives the same results as the original. A model solution is in the Tutor Guide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55-65 min. Introduce the checklist and review the improved example together. Students use the same checklist in the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constructive and specific comments. Remind students the review is of the code, not the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72-75 min. Suggested answers: (1) readability, easier maintenance, less need for comments; (2) a string in triple quotes directly under the function definition describing its purpose; (3) a test can compare the returned value to the expected one; (4) snake_case names, 4-space indentation, spaces around operators, lines up to 79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evidence. Remind students that next week they will apply debugging, standards, security and testing to one integrated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ck/assets/kc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2996" y="347472"/>
            <a:ext cx="1960059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KCIC  |  Pearson BTEC HND Computing  |  Development Tools, Debugging &amp; Secure Delivery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ck/assets/kc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960059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10312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023360"/>
            <a:ext cx="8778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Kings Cornerstone International College  |  Pearson BTEC Higher National Diploma in Computing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ck/assets/kc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960059" cy="4206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2" type="title" hasCustomPrompt="1"/>
          </p:nvPr>
        </p:nvSpPr>
        <p:spPr>
          <a:xfrm>
            <a:off x="301752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017520" y="384048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21031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Class 2: Debugging Tools and Coding Standards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40233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Sessions 3 and 4  |  150 minutes  |  Learning outcomes LO3 and LO4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Class 2 at a glance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Search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39442"/>
            <a:ext cx="373075" cy="37307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Session 3 (75 min)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8229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Breakpoints, watch lists and tracing. Use the VS Code debugger to find and document a defect.</a:t>
            </a:r>
            <a:endParaRPr lang="en-US" sz="1900" dirty="0"/>
          </a:p>
        </p:txBody>
      </p:sp>
      <p:sp>
        <p:nvSpPr>
          <p:cNvPr id="9" name="Card 2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08576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Pen" descr="Pe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1939442"/>
            <a:ext cx="373075" cy="37307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4608576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Session 4 (75 min)</a:t>
            </a:r>
            <a:endParaRPr lang="en-US" sz="2400" dirty="0"/>
          </a:p>
        </p:txBody>
      </p:sp>
      <p:sp>
        <p:nvSpPr>
          <p:cNvPr id="13" name="Text 4"/>
          <p:cNvSpPr txBox="1"/>
          <p:nvPr/>
        </p:nvSpPr>
        <p:spPr>
          <a:xfrm>
            <a:off x="4608576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Coding standards and maintainable code. Refactor poorly written code and review a partner's work.</a:t>
            </a:r>
            <a:endParaRPr lang="en-US" sz="1900" dirty="0"/>
          </a:p>
        </p:txBody>
      </p:sp>
      <p:sp>
        <p:nvSpPr>
          <p:cNvPr id="14" name="Card 3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94192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CheckCircle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274" y="1939442"/>
            <a:ext cx="373075" cy="373075"/>
          </a:xfrm>
          <a:prstGeom prst="rect">
            <a:avLst/>
          </a:prstGeom>
        </p:spPr>
      </p:pic>
      <p:sp>
        <p:nvSpPr>
          <p:cNvPr id="17" name="Text 5"/>
          <p:cNvSpPr txBox="1"/>
          <p:nvPr/>
        </p:nvSpPr>
        <p:spPr>
          <a:xfrm>
            <a:off x="8394192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You leave able to</a:t>
            </a:r>
            <a:endParaRPr lang="en-US" sz="2400" dirty="0"/>
          </a:p>
        </p:txBody>
      </p:sp>
      <p:sp>
        <p:nvSpPr>
          <p:cNvPr id="18" name="Text 6"/>
          <p:cNvSpPr txBox="1"/>
          <p:nvPr/>
        </p:nvSpPr>
        <p:spPr>
          <a:xfrm>
            <a:off x="8394192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Investigate a bug with the debugger, write a debugging log and improve code using PEP 8 conventions.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ion badge"/>
          <p:cNvSpPr/>
          <p:nvPr/>
        </p:nvSpPr>
        <p:spPr>
          <a:xfrm>
            <a:off x="822960" y="251460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Session number"/>
          <p:cNvSpPr txBox="1"/>
          <p:nvPr/>
        </p:nvSpPr>
        <p:spPr>
          <a:xfrm>
            <a:off x="82296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3017520" y="2377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Breakpoints, Watch Lists and Tracing</a:t>
            </a:r>
            <a:endParaRPr lang="en-US" sz="4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3017520" y="3840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Pearson alignment: LO4  |  75 minutes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Session 3 learning objectives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Pause" descr="Pau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39442"/>
            <a:ext cx="373075" cy="37307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Use the debugger</a:t>
            </a:r>
            <a:endParaRPr lang="en-US" sz="2400" dirty="0"/>
          </a:p>
        </p:txBody>
      </p:sp>
      <p:sp>
        <p:nvSpPr>
          <p:cNvPr id="8" name="Text 8"/>
          <p:cNvSpPr txBox="1"/>
          <p:nvPr/>
        </p:nvSpPr>
        <p:spPr>
          <a:xfrm>
            <a:off x="8229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Set breakpoints, start a debug session and step through statements.</a:t>
            </a:r>
            <a:endParaRPr lang="en-US" sz="1900" dirty="0"/>
          </a:p>
        </p:txBody>
      </p:sp>
      <p:sp>
        <p:nvSpPr>
          <p:cNvPr id="9" name="Card 2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08576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Eye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1939442"/>
            <a:ext cx="373075" cy="37307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08576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Trace and inspect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Follow execution and watch how variables change line by line.</a:t>
            </a:r>
            <a:endParaRPr lang="en-US" sz="1900" dirty="0"/>
          </a:p>
        </p:txBody>
      </p:sp>
      <p:sp>
        <p:nvSpPr>
          <p:cNvPr id="14" name="Card 3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94192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FileAlt" descr="Fil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274" y="1939442"/>
            <a:ext cx="373075" cy="373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94192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Document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394192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Record the cause of a defect and how you found and fixed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Session 3 plan: 75 minutes</a:t>
            </a:r>
            <a:endParaRPr lang="en-US" sz="3000" dirty="0"/>
          </a:p>
        </p:txBody>
      </p:sp>
      <p:graphicFrame>
        <p:nvGraphicFramePr>
          <p:cNvPr id="6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0-5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Review the three error types from Session 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Retrieval quiz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5-15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Debugging process, breakpoint, watch list, trace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Slides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15-30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 a breakpoint, step through code, inspect variables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Live demo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30-50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Investigate a program with a calculation or loop defect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Guided practical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50-65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Complete a step-by-step debugging log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Worksheet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65-72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Explain findings and demonstrate the correction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Peer explanation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72-75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Final checkpoint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Quick questions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Retrieval quiz: three error types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548640" y="146304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Question marker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Question number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7" name="Question text"/>
          <p:cNvSpPr txBox="1"/>
          <p:nvPr/>
        </p:nvSpPr>
        <p:spPr>
          <a:xfrm>
            <a:off x="1463040" y="160020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Python reports "SyntaxError". Does the program run at all?</a:t>
            </a:r>
            <a:endParaRPr lang="en-US" sz="1900" dirty="0"/>
          </a:p>
        </p:txBody>
      </p:sp>
      <p:sp>
        <p:nvSpPr>
          <p:cNvPr id="8" name="Question card 2"/>
          <p:cNvSpPr/>
          <p:nvPr/>
        </p:nvSpPr>
        <p:spPr>
          <a:xfrm>
            <a:off x="6227064" y="146304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9" name="Question marker"/>
          <p:cNvSpPr/>
          <p:nvPr/>
        </p:nvSpPr>
        <p:spPr>
          <a:xfrm>
            <a:off x="6455664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Question number"/>
          <p:cNvSpPr txBox="1"/>
          <p:nvPr/>
        </p:nvSpPr>
        <p:spPr>
          <a:xfrm>
            <a:off x="645566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Question text"/>
          <p:cNvSpPr txBox="1"/>
          <p:nvPr/>
        </p:nvSpPr>
        <p:spPr>
          <a:xfrm>
            <a:off x="7141464" y="160020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int("abc") fails while the program is running. What type of error is this?</a:t>
            </a:r>
            <a:endParaRPr lang="en-US" sz="1900" dirty="0"/>
          </a:p>
        </p:txBody>
      </p:sp>
      <p:sp>
        <p:nvSpPr>
          <p:cNvPr id="12" name="Question card 3"/>
          <p:cNvSpPr/>
          <p:nvPr/>
        </p:nvSpPr>
        <p:spPr>
          <a:xfrm>
            <a:off x="548640" y="379476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Question marker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estion number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Question text"/>
          <p:cNvSpPr txBox="1"/>
          <p:nvPr/>
        </p:nvSpPr>
        <p:spPr>
          <a:xfrm>
            <a:off x="1463040" y="393192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total prints 103 instead of 300 with no error message. What type of error is this?</a:t>
            </a:r>
            <a:endParaRPr lang="en-US" sz="1900" dirty="0"/>
          </a:p>
        </p:txBody>
      </p:sp>
      <p:sp>
        <p:nvSpPr>
          <p:cNvPr id="16" name="Question card 4"/>
          <p:cNvSpPr/>
          <p:nvPr/>
        </p:nvSpPr>
        <p:spPr>
          <a:xfrm>
            <a:off x="6227064" y="379476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7" name="Question marker"/>
          <p:cNvSpPr/>
          <p:nvPr/>
        </p:nvSpPr>
        <p:spPr>
          <a:xfrm>
            <a:off x="6455664" y="4023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Question number"/>
          <p:cNvSpPr txBox="1"/>
          <p:nvPr/>
        </p:nvSpPr>
        <p:spPr>
          <a:xfrm>
            <a:off x="645566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</a:t>
            </a:r>
            <a:endParaRPr lang="en-US" sz="1400" dirty="0"/>
          </a:p>
        </p:txBody>
      </p:sp>
      <p:sp>
        <p:nvSpPr>
          <p:cNvPr id="19" name="Question text"/>
          <p:cNvSpPr txBox="1"/>
          <p:nvPr/>
        </p:nvSpPr>
        <p:spPr>
          <a:xfrm>
            <a:off x="7141464" y="393192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Name the four steps of the debugging workflow.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Three debugger ideas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Pause" descr="Pau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39442"/>
            <a:ext cx="373075" cy="373075"/>
          </a:xfrm>
          <a:prstGeom prst="rect">
            <a:avLst/>
          </a:prstGeom>
        </p:spPr>
      </p:pic>
      <p:sp>
        <p:nvSpPr>
          <p:cNvPr id="7" name="Text 13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Breakpoint</a:t>
            </a:r>
            <a:endParaRPr lang="en-US" sz="2400" dirty="0"/>
          </a:p>
        </p:txBody>
      </p:sp>
      <p:sp>
        <p:nvSpPr>
          <p:cNvPr id="8" name="Text 14"/>
          <p:cNvSpPr txBox="1"/>
          <p:nvPr/>
        </p:nvSpPr>
        <p:spPr>
          <a:xfrm>
            <a:off x="8229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Pauses execution at a chosen line so you can look at the program in mid-flight.</a:t>
            </a:r>
            <a:endParaRPr lang="en-US" sz="1900" dirty="0"/>
          </a:p>
        </p:txBody>
      </p:sp>
      <p:sp>
        <p:nvSpPr>
          <p:cNvPr id="9" name="Card 2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08576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Eye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1939442"/>
            <a:ext cx="373075" cy="373075"/>
          </a:xfrm>
          <a:prstGeom prst="rect">
            <a:avLst/>
          </a:prstGeom>
        </p:spPr>
      </p:pic>
      <p:sp>
        <p:nvSpPr>
          <p:cNvPr id="12" name="Text 15"/>
          <p:cNvSpPr txBox="1"/>
          <p:nvPr/>
        </p:nvSpPr>
        <p:spPr>
          <a:xfrm>
            <a:off x="4608576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Watch list</a:t>
            </a:r>
            <a:endParaRPr lang="en-US" sz="2400" dirty="0"/>
          </a:p>
        </p:txBody>
      </p:sp>
      <p:sp>
        <p:nvSpPr>
          <p:cNvPr id="13" name="Text 16"/>
          <p:cNvSpPr txBox="1"/>
          <p:nvPr/>
        </p:nvSpPr>
        <p:spPr>
          <a:xfrm>
            <a:off x="4608576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Tracks the value of a chosen variable or expression every time execution pauses.</a:t>
            </a:r>
            <a:endParaRPr lang="en-US" sz="1900" dirty="0"/>
          </a:p>
        </p:txBody>
      </p:sp>
      <p:sp>
        <p:nvSpPr>
          <p:cNvPr id="14" name="Card 3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94192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Stream" descr="Strea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274" y="1939442"/>
            <a:ext cx="373075" cy="373075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8394192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Tracing</a:t>
            </a:r>
            <a:endParaRPr lang="en-US" sz="2400" dirty="0"/>
          </a:p>
        </p:txBody>
      </p:sp>
      <p:sp>
        <p:nvSpPr>
          <p:cNvPr id="18" name="Text 18"/>
          <p:cNvSpPr txBox="1"/>
          <p:nvPr/>
        </p:nvSpPr>
        <p:spPr>
          <a:xfrm>
            <a:off x="8394192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Following the order of execution and the changing program state, step by step.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Debugger or print()?</a:t>
            </a:r>
            <a:endParaRPr lang="en-US" sz="3000" dirty="0"/>
          </a:p>
        </p:txBody>
      </p:sp>
      <p:sp>
        <p:nvSpPr>
          <p:cNvPr id="4" name="Panel print() statements"/>
          <p:cNvSpPr/>
          <p:nvPr/>
        </p:nvSpPr>
        <p:spPr>
          <a:xfrm>
            <a:off x="548640" y="1463040"/>
            <a:ext cx="54132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5" name="Panel header print() statements"/>
          <p:cNvSpPr/>
          <p:nvPr/>
        </p:nvSpPr>
        <p:spPr>
          <a:xfrm>
            <a:off x="548640" y="1463040"/>
            <a:ext cx="541324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6" name="Panel title"/>
          <p:cNvSpPr txBox="1"/>
          <p:nvPr/>
        </p:nvSpPr>
        <p:spPr>
          <a:xfrm>
            <a:off x="822960" y="1463040"/>
            <a:ext cx="4864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print() statements</a:t>
            </a:r>
            <a:endParaRPr lang="en-US" sz="2200" dirty="0"/>
          </a:p>
        </p:txBody>
      </p:sp>
      <p:sp>
        <p:nvSpPr>
          <p:cNvPr id="7" name="Panel text"/>
          <p:cNvSpPr txBox="1"/>
          <p:nvPr/>
        </p:nvSpPr>
        <p:spPr>
          <a:xfrm>
            <a:off x="822960" y="2286000"/>
            <a:ext cx="4864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Quick to add and always available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You must edit the code, rerun and remove them afterwards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Shows only values you thought to print in advance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Cannot pause the program or change what you inspect</a:t>
            </a:r>
            <a:endParaRPr lang="en-US" sz="1900" dirty="0"/>
          </a:p>
        </p:txBody>
      </p:sp>
      <p:sp>
        <p:nvSpPr>
          <p:cNvPr id="8" name="Panel IDE debugger"/>
          <p:cNvSpPr/>
          <p:nvPr/>
        </p:nvSpPr>
        <p:spPr>
          <a:xfrm>
            <a:off x="6227064" y="1463040"/>
            <a:ext cx="54132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9" name="Panel header IDE debugger"/>
          <p:cNvSpPr/>
          <p:nvPr/>
        </p:nvSpPr>
        <p:spPr>
          <a:xfrm>
            <a:off x="6227064" y="1463040"/>
            <a:ext cx="5413248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0" name="Panel title"/>
          <p:cNvSpPr txBox="1"/>
          <p:nvPr/>
        </p:nvSpPr>
        <p:spPr>
          <a:xfrm>
            <a:off x="6501384" y="1463040"/>
            <a:ext cx="4864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IDE debugger</a:t>
            </a:r>
            <a:endParaRPr lang="en-US" sz="2200" dirty="0"/>
          </a:p>
        </p:txBody>
      </p:sp>
      <p:sp>
        <p:nvSpPr>
          <p:cNvPr id="11" name="Panel text"/>
          <p:cNvSpPr txBox="1"/>
          <p:nvPr/>
        </p:nvSpPr>
        <p:spPr>
          <a:xfrm>
            <a:off x="6501384" y="2286000"/>
            <a:ext cx="4864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Pause at any line without editing the code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Inspect every variable in scope at that moment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Step through line by line and into or out of functions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Add watch expressions and change your mind as you go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Demo program: why is the average wrong?</a:t>
            </a:r>
            <a:endParaRPr lang="en-US" sz="3000" dirty="0"/>
          </a:p>
        </p:txBody>
      </p:sp>
      <p:sp>
        <p:nvSpPr>
          <p:cNvPr id="4" name="Code block"/>
          <p:cNvSpPr/>
          <p:nvPr/>
        </p:nvSpPr>
        <p:spPr>
          <a:xfrm>
            <a:off x="548640" y="1463040"/>
            <a:ext cx="6583680" cy="2112264"/>
          </a:xfrm>
          <a:prstGeom prst="roundRect">
            <a:avLst>
              <a:gd name="adj" fmla="val 3463"/>
            </a:avLst>
          </a:prstGeom>
          <a:solidFill>
            <a:srgbClr val="0B1B38"/>
          </a:solidFill>
          <a:ln/>
        </p:spPr>
      </p:sp>
      <p:sp>
        <p:nvSpPr>
          <p:cNvPr id="5" name="Code text"/>
          <p:cNvSpPr txBox="1"/>
          <p:nvPr/>
        </p:nvSpPr>
        <p:spPr>
          <a:xfrm>
            <a:off x="777240" y="1645920"/>
            <a:ext cx="612648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[60, 70, 80]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mark in marks: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mark  # intentional logical error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total / len(marks)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average)</a:t>
            </a:r>
            <a:endParaRPr lang="en-US" sz="1600" dirty="0"/>
          </a:p>
        </p:txBody>
      </p:sp>
      <p:sp>
        <p:nvSpPr>
          <p:cNvPr id="6" name="Label"/>
          <p:cNvSpPr txBox="1"/>
          <p:nvPr/>
        </p:nvSpPr>
        <p:spPr>
          <a:xfrm>
            <a:off x="548640" y="37856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OUTPUT (expected 70.0)</a:t>
            </a:r>
            <a:endParaRPr lang="en-US" sz="1200" dirty="0"/>
          </a:p>
        </p:txBody>
      </p:sp>
      <p:sp>
        <p:nvSpPr>
          <p:cNvPr id="7" name="Output block"/>
          <p:cNvSpPr/>
          <p:nvPr/>
        </p:nvSpPr>
        <p:spPr>
          <a:xfrm>
            <a:off x="548640" y="4059936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0B1B38"/>
          </a:solidFill>
          <a:ln/>
        </p:spPr>
      </p:sp>
      <p:sp>
        <p:nvSpPr>
          <p:cNvPr id="8" name="Code text"/>
          <p:cNvSpPr txBox="1"/>
          <p:nvPr/>
        </p:nvSpPr>
        <p:spPr>
          <a:xfrm>
            <a:off x="777240" y="424281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Average: 26.666666666666668</a:t>
            </a:r>
            <a:endParaRPr lang="en-US" sz="1600" dirty="0"/>
          </a:p>
        </p:txBody>
      </p:sp>
      <p:sp>
        <p:nvSpPr>
          <p:cNvPr id="9" name="Points heading"/>
          <p:cNvSpPr txBox="1"/>
          <p:nvPr/>
        </p:nvSpPr>
        <p:spPr>
          <a:xfrm>
            <a:off x="7498080" y="146304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10" name="Key points"/>
          <p:cNvSpPr txBox="1"/>
          <p:nvPr/>
        </p:nvSpPr>
        <p:spPr>
          <a:xfrm>
            <a:off x="7498080" y="2011680"/>
            <a:ext cx="414497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Expected average: 70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program prints about 26.67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You cannot spot it by reading the first line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the debugger to see what happens to total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VS Code debug view</a:t>
            </a:r>
            <a:endParaRPr lang="en-US" sz="3000" dirty="0"/>
          </a:p>
        </p:txBody>
      </p:sp>
      <p:sp>
        <p:nvSpPr>
          <p:cNvPr id="4" name="Window frame"/>
          <p:cNvSpPr/>
          <p:nvPr/>
        </p:nvSpPr>
        <p:spPr>
          <a:xfrm>
            <a:off x="548640" y="1463040"/>
            <a:ext cx="7040880" cy="4572000"/>
          </a:xfrm>
          <a:prstGeom prst="roundRect">
            <a:avLst>
              <a:gd name="adj" fmla="val 1200"/>
            </a:avLst>
          </a:prstGeom>
          <a:solidFill>
            <a:srgbClr val="1E2A44"/>
          </a:solidFill>
          <a:ln/>
        </p:spPr>
      </p:sp>
      <p:sp>
        <p:nvSpPr>
          <p:cNvPr id="5" name="Region sidebar"/>
          <p:cNvSpPr/>
          <p:nvPr/>
        </p:nvSpPr>
        <p:spPr>
          <a:xfrm>
            <a:off x="640080" y="1554480"/>
            <a:ext cx="2011680" cy="3931920"/>
          </a:xfrm>
          <a:prstGeom prst="rect">
            <a:avLst/>
          </a:prstGeom>
          <a:solidFill>
            <a:srgbClr val="1B2745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6" name="Region text sidebar"/>
          <p:cNvSpPr txBox="1"/>
          <p:nvPr/>
        </p:nvSpPr>
        <p:spPr>
          <a:xfrm>
            <a:off x="713232" y="1609344"/>
            <a:ext cx="1865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=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-&gt;  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STACK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&lt;module&gt;</a:t>
            </a:r>
            <a:endParaRPr lang="en-US" sz="1200" dirty="0"/>
          </a:p>
        </p:txBody>
      </p:sp>
      <p:sp>
        <p:nvSpPr>
          <p:cNvPr id="7" name="Region toolbar"/>
          <p:cNvSpPr/>
          <p:nvPr/>
        </p:nvSpPr>
        <p:spPr>
          <a:xfrm>
            <a:off x="2651760" y="1554480"/>
            <a:ext cx="4846320" cy="365760"/>
          </a:xfrm>
          <a:prstGeom prst="rect">
            <a:avLst/>
          </a:prstGeom>
          <a:solidFill>
            <a:srgbClr val="03265E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8" name="Region text toolbar"/>
          <p:cNvSpPr txBox="1"/>
          <p:nvPr/>
        </p:nvSpPr>
        <p:spPr>
          <a:xfrm>
            <a:off x="2724912" y="160934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F0"/>
                </a:solidFill>
              </a:rPr>
              <a:t>Continue  Step Over  Step Into  Step Out</a:t>
            </a:r>
            <a:endParaRPr lang="en-US" sz="1200" dirty="0"/>
          </a:p>
        </p:txBody>
      </p:sp>
      <p:sp>
        <p:nvSpPr>
          <p:cNvPr id="9" name="Region editor"/>
          <p:cNvSpPr/>
          <p:nvPr/>
        </p:nvSpPr>
        <p:spPr>
          <a:xfrm>
            <a:off x="2651760" y="1920240"/>
            <a:ext cx="4846320" cy="2377440"/>
          </a:xfrm>
          <a:prstGeom prst="rect">
            <a:avLst/>
          </a:prstGeom>
          <a:solidFill>
            <a:srgbClr val="0B1B38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10" name="Region text editor"/>
          <p:cNvSpPr txBox="1"/>
          <p:nvPr/>
        </p:nvSpPr>
        <p:spPr>
          <a:xfrm>
            <a:off x="2724912" y="1975104"/>
            <a:ext cx="4700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marks = [60, 70, 80]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total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for mark in marks: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total = mark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average = total / len(marks)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print("Average:", average)</a:t>
            </a:r>
            <a:endParaRPr lang="en-US" sz="1200" dirty="0"/>
          </a:p>
        </p:txBody>
      </p:sp>
      <p:sp>
        <p:nvSpPr>
          <p:cNvPr id="11" name="Region current"/>
          <p:cNvSpPr/>
          <p:nvPr/>
        </p:nvSpPr>
        <p:spPr>
          <a:xfrm>
            <a:off x="2651760" y="2487168"/>
            <a:ext cx="4846320" cy="201168"/>
          </a:xfrm>
          <a:prstGeom prst="rect">
            <a:avLst/>
          </a:prstGeom>
          <a:solidFill>
            <a:srgbClr val="6B5A14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12" name="Region text current"/>
          <p:cNvSpPr txBox="1"/>
          <p:nvPr/>
        </p:nvSpPr>
        <p:spPr>
          <a:xfrm>
            <a:off x="2724912" y="2542032"/>
            <a:ext cx="4700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total = mark</a:t>
            </a:r>
            <a:endParaRPr lang="en-US" sz="1200" dirty="0"/>
          </a:p>
        </p:txBody>
      </p:sp>
      <p:sp>
        <p:nvSpPr>
          <p:cNvPr id="13" name="Region bp"/>
          <p:cNvSpPr/>
          <p:nvPr/>
        </p:nvSpPr>
        <p:spPr>
          <a:xfrm>
            <a:off x="2670048" y="2542032"/>
            <a:ext cx="109728" cy="109728"/>
          </a:xfrm>
          <a:prstGeom prst="rect">
            <a:avLst/>
          </a:prstGeom>
          <a:solidFill>
            <a:srgbClr val="E53935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14" name="Region console"/>
          <p:cNvSpPr/>
          <p:nvPr/>
        </p:nvSpPr>
        <p:spPr>
          <a:xfrm>
            <a:off x="2651760" y="4297680"/>
            <a:ext cx="4846320" cy="1188720"/>
          </a:xfrm>
          <a:prstGeom prst="rect">
            <a:avLst/>
          </a:prstGeom>
          <a:solidFill>
            <a:srgbClr val="111C36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15" name="Region text console"/>
          <p:cNvSpPr txBox="1"/>
          <p:nvPr/>
        </p:nvSpPr>
        <p:spPr>
          <a:xfrm>
            <a:off x="2724912" y="4352544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E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CONSOLE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(program paused at line 4)</a:t>
            </a:r>
            <a:endParaRPr lang="en-US" sz="1200" dirty="0"/>
          </a:p>
        </p:txBody>
      </p:sp>
      <p:sp>
        <p:nvSpPr>
          <p:cNvPr id="16" name="Region status"/>
          <p:cNvSpPr/>
          <p:nvPr/>
        </p:nvSpPr>
        <p:spPr>
          <a:xfrm>
            <a:off x="640080" y="5486400"/>
            <a:ext cx="6858000" cy="365760"/>
          </a:xfrm>
          <a:prstGeom prst="rect">
            <a:avLst/>
          </a:prstGeom>
          <a:solidFill>
            <a:srgbClr val="B8975A"/>
          </a:solidFill>
          <a:ln w="12700">
            <a:solidFill>
              <a:srgbClr val="0B1B38"/>
            </a:solidFill>
            <a:prstDash val="solid"/>
          </a:ln>
        </p:spPr>
      </p:sp>
      <p:sp>
        <p:nvSpPr>
          <p:cNvPr id="17" name="Region text status"/>
          <p:cNvSpPr txBox="1"/>
          <p:nvPr/>
        </p:nvSpPr>
        <p:spPr>
          <a:xfrm>
            <a:off x="713232" y="5541264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3265E"/>
                </a:solidFill>
              </a:rPr>
              <a:t>Debugging: Python File</a:t>
            </a:r>
            <a:endParaRPr lang="en-US" sz="1200" dirty="0"/>
          </a:p>
        </p:txBody>
      </p:sp>
      <p:sp>
        <p:nvSpPr>
          <p:cNvPr id="18" name="Marker 1"/>
          <p:cNvSpPr/>
          <p:nvPr/>
        </p:nvSpPr>
        <p:spPr>
          <a:xfrm>
            <a:off x="6858000" y="157276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Marker number"/>
          <p:cNvSpPr txBox="1"/>
          <p:nvPr/>
        </p:nvSpPr>
        <p:spPr>
          <a:xfrm>
            <a:off x="685800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Marker 2"/>
          <p:cNvSpPr/>
          <p:nvPr/>
        </p:nvSpPr>
        <p:spPr>
          <a:xfrm>
            <a:off x="2331720" y="2377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Marker number"/>
          <p:cNvSpPr txBox="1"/>
          <p:nvPr/>
        </p:nvSpPr>
        <p:spPr>
          <a:xfrm>
            <a:off x="23317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Marker 3"/>
          <p:cNvSpPr/>
          <p:nvPr/>
        </p:nvSpPr>
        <p:spPr>
          <a:xfrm>
            <a:off x="6858000" y="2377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Marker number"/>
          <p:cNvSpPr txBox="1"/>
          <p:nvPr/>
        </p:nvSpPr>
        <p:spPr>
          <a:xfrm>
            <a:off x="68580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Marker 4"/>
          <p:cNvSpPr/>
          <p:nvPr/>
        </p:nvSpPr>
        <p:spPr>
          <a:xfrm>
            <a:off x="2148840" y="1783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Marker number"/>
          <p:cNvSpPr txBox="1"/>
          <p:nvPr/>
        </p:nvSpPr>
        <p:spPr>
          <a:xfrm>
            <a:off x="21488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Marker 5"/>
          <p:cNvSpPr/>
          <p:nvPr/>
        </p:nvSpPr>
        <p:spPr>
          <a:xfrm>
            <a:off x="2148840" y="28346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Marker number"/>
          <p:cNvSpPr txBox="1"/>
          <p:nvPr/>
        </p:nvSpPr>
        <p:spPr>
          <a:xfrm>
            <a:off x="21488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Marker 6"/>
          <p:cNvSpPr/>
          <p:nvPr/>
        </p:nvSpPr>
        <p:spPr>
          <a:xfrm>
            <a:off x="6858000" y="4663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Marker number"/>
          <p:cNvSpPr txBox="1"/>
          <p:nvPr/>
        </p:nvSpPr>
        <p:spPr>
          <a:xfrm>
            <a:off x="68580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Legend marker"/>
          <p:cNvSpPr/>
          <p:nvPr/>
        </p:nvSpPr>
        <p:spPr>
          <a:xfrm>
            <a:off x="7909560" y="1661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Legend number"/>
          <p:cNvSpPr txBox="1"/>
          <p:nvPr/>
        </p:nvSpPr>
        <p:spPr>
          <a:xfrm>
            <a:off x="7909560" y="1661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Legend text"/>
          <p:cNvSpPr txBox="1"/>
          <p:nvPr/>
        </p:nvSpPr>
        <p:spPr>
          <a:xfrm>
            <a:off x="8412480" y="1463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Debug toolbar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Continue, Step Over, Step Into, Step Out, Restart, Stop</a:t>
            </a:r>
            <a:endParaRPr lang="en-US" sz="1400" dirty="0"/>
          </a:p>
        </p:txBody>
      </p:sp>
      <p:sp>
        <p:nvSpPr>
          <p:cNvPr id="33" name="Legend marker"/>
          <p:cNvSpPr/>
          <p:nvPr/>
        </p:nvSpPr>
        <p:spPr>
          <a:xfrm>
            <a:off x="7909560" y="2423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Legend number"/>
          <p:cNvSpPr txBox="1"/>
          <p:nvPr/>
        </p:nvSpPr>
        <p:spPr>
          <a:xfrm>
            <a:off x="79095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Legend text"/>
          <p:cNvSpPr txBox="1"/>
          <p:nvPr/>
        </p:nvSpPr>
        <p:spPr>
          <a:xfrm>
            <a:off x="8412480" y="2225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Breakpoint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dot in the gutter marks where to pause</a:t>
            </a:r>
            <a:endParaRPr lang="en-US" sz="1400" dirty="0"/>
          </a:p>
        </p:txBody>
      </p:sp>
      <p:sp>
        <p:nvSpPr>
          <p:cNvPr id="36" name="Legend marker"/>
          <p:cNvSpPr/>
          <p:nvPr/>
        </p:nvSpPr>
        <p:spPr>
          <a:xfrm>
            <a:off x="7909560" y="3185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Legend number"/>
          <p:cNvSpPr txBox="1"/>
          <p:nvPr/>
        </p:nvSpPr>
        <p:spPr>
          <a:xfrm>
            <a:off x="7909560" y="3185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Legend text"/>
          <p:cNvSpPr txBox="1"/>
          <p:nvPr/>
        </p:nvSpPr>
        <p:spPr>
          <a:xfrm>
            <a:off x="8412480" y="2987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Current 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Highlighted line is about to run</a:t>
            </a:r>
            <a:endParaRPr lang="en-US" sz="1400" dirty="0"/>
          </a:p>
        </p:txBody>
      </p:sp>
      <p:sp>
        <p:nvSpPr>
          <p:cNvPr id="39" name="Legend marker"/>
          <p:cNvSpPr/>
          <p:nvPr/>
        </p:nvSpPr>
        <p:spPr>
          <a:xfrm>
            <a:off x="7909560" y="3947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Legend number"/>
          <p:cNvSpPr txBox="1"/>
          <p:nvPr/>
        </p:nvSpPr>
        <p:spPr>
          <a:xfrm>
            <a:off x="7909560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Legend text"/>
          <p:cNvSpPr txBox="1"/>
          <p:nvPr/>
        </p:nvSpPr>
        <p:spPr>
          <a:xfrm>
            <a:off x="8412480" y="3749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Variables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Values of every variable in scope</a:t>
            </a:r>
            <a:endParaRPr lang="en-US" sz="1400" dirty="0"/>
          </a:p>
        </p:txBody>
      </p:sp>
      <p:sp>
        <p:nvSpPr>
          <p:cNvPr id="42" name="Legend marker"/>
          <p:cNvSpPr/>
          <p:nvPr/>
        </p:nvSpPr>
        <p:spPr>
          <a:xfrm>
            <a:off x="7909560" y="4709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Legend number"/>
          <p:cNvSpPr txBox="1"/>
          <p:nvPr/>
        </p:nvSpPr>
        <p:spPr>
          <a:xfrm>
            <a:off x="79095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Legend text"/>
          <p:cNvSpPr txBox="1"/>
          <p:nvPr/>
        </p:nvSpPr>
        <p:spPr>
          <a:xfrm>
            <a:off x="8412480" y="4511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Expressions you choose to track</a:t>
            </a:r>
            <a:endParaRPr lang="en-US" sz="1400" dirty="0"/>
          </a:p>
        </p:txBody>
      </p:sp>
      <p:sp>
        <p:nvSpPr>
          <p:cNvPr id="45" name="Legend marker"/>
          <p:cNvSpPr/>
          <p:nvPr/>
        </p:nvSpPr>
        <p:spPr>
          <a:xfrm>
            <a:off x="7909560" y="5471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Legend number"/>
          <p:cNvSpPr txBox="1"/>
          <p:nvPr/>
        </p:nvSpPr>
        <p:spPr>
          <a:xfrm>
            <a:off x="7909560" y="5471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47" name="Legend text"/>
          <p:cNvSpPr txBox="1"/>
          <p:nvPr/>
        </p:nvSpPr>
        <p:spPr>
          <a:xfrm>
            <a:off x="8412480" y="5273040"/>
            <a:ext cx="32305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Debug console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and expression evaluation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Live demo: the debugging steps</a:t>
            </a:r>
            <a:endParaRPr lang="en-US" sz="3000" dirty="0"/>
          </a:p>
        </p:txBody>
      </p:sp>
      <p:sp>
        <p:nvSpPr>
          <p:cNvPr id="4" name="Step marker 1"/>
          <p:cNvSpPr/>
          <p:nvPr/>
        </p:nvSpPr>
        <p:spPr>
          <a:xfrm>
            <a:off x="548640" y="15019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"/>
          <p:cNvSpPr txBox="1"/>
          <p:nvPr/>
        </p:nvSpPr>
        <p:spPr>
          <a:xfrm>
            <a:off x="548640" y="1501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"/>
          <p:cNvSpPr txBox="1"/>
          <p:nvPr/>
        </p:nvSpPr>
        <p:spPr>
          <a:xfrm>
            <a:off x="1188720" y="14630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Set a breakpoint on the line inside the loop (click the gutter or press F9).</a:t>
            </a:r>
            <a:endParaRPr lang="en-US" sz="1800" dirty="0"/>
          </a:p>
        </p:txBody>
      </p:sp>
      <p:sp>
        <p:nvSpPr>
          <p:cNvPr id="7" name="Step marker 2"/>
          <p:cNvSpPr/>
          <p:nvPr/>
        </p:nvSpPr>
        <p:spPr>
          <a:xfrm>
            <a:off x="548640" y="20734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number"/>
          <p:cNvSpPr txBox="1"/>
          <p:nvPr/>
        </p:nvSpPr>
        <p:spPr>
          <a:xfrm>
            <a:off x="548640" y="2073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ext"/>
          <p:cNvSpPr txBox="1"/>
          <p:nvPr/>
        </p:nvSpPr>
        <p:spPr>
          <a:xfrm>
            <a:off x="1188720" y="20345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Start debugging with F5 and choose Python File.</a:t>
            </a:r>
            <a:endParaRPr lang="en-US" sz="1800" dirty="0"/>
          </a:p>
        </p:txBody>
      </p:sp>
      <p:sp>
        <p:nvSpPr>
          <p:cNvPr id="10" name="Step marker 3"/>
          <p:cNvSpPr/>
          <p:nvPr/>
        </p:nvSpPr>
        <p:spPr>
          <a:xfrm>
            <a:off x="548640" y="26449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"/>
          <p:cNvSpPr txBox="1"/>
          <p:nvPr/>
        </p:nvSpPr>
        <p:spPr>
          <a:xfrm>
            <a:off x="548640" y="2644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text"/>
          <p:cNvSpPr txBox="1"/>
          <p:nvPr/>
        </p:nvSpPr>
        <p:spPr>
          <a:xfrm>
            <a:off x="1188720" y="26060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Open the Variables panel.</a:t>
            </a:r>
            <a:endParaRPr lang="en-US" sz="1800" dirty="0"/>
          </a:p>
        </p:txBody>
      </p:sp>
      <p:sp>
        <p:nvSpPr>
          <p:cNvPr id="13" name="Step marker 4"/>
          <p:cNvSpPr/>
          <p:nvPr/>
        </p:nvSpPr>
        <p:spPr>
          <a:xfrm>
            <a:off x="548640" y="32164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number"/>
          <p:cNvSpPr txBox="1"/>
          <p:nvPr/>
        </p:nvSpPr>
        <p:spPr>
          <a:xfrm>
            <a:off x="548640" y="3216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text"/>
          <p:cNvSpPr txBox="1"/>
          <p:nvPr/>
        </p:nvSpPr>
        <p:spPr>
          <a:xfrm>
            <a:off x="1188720" y="31775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Step through each iteration with Step Over (F10).</a:t>
            </a:r>
            <a:endParaRPr lang="en-US" sz="1800" dirty="0"/>
          </a:p>
        </p:txBody>
      </p:sp>
      <p:sp>
        <p:nvSpPr>
          <p:cNvPr id="16" name="Step marker 5"/>
          <p:cNvSpPr/>
          <p:nvPr/>
        </p:nvSpPr>
        <p:spPr>
          <a:xfrm>
            <a:off x="548640" y="37879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number"/>
          <p:cNvSpPr txBox="1"/>
          <p:nvPr/>
        </p:nvSpPr>
        <p:spPr>
          <a:xfrm>
            <a:off x="548640" y="3787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Step text"/>
          <p:cNvSpPr txBox="1"/>
          <p:nvPr/>
        </p:nvSpPr>
        <p:spPr>
          <a:xfrm>
            <a:off x="1188720" y="37490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Inspect mark and total after every step.</a:t>
            </a:r>
            <a:endParaRPr lang="en-US" sz="1800" dirty="0"/>
          </a:p>
        </p:txBody>
      </p:sp>
      <p:sp>
        <p:nvSpPr>
          <p:cNvPr id="19" name="Step marker 6"/>
          <p:cNvSpPr/>
          <p:nvPr/>
        </p:nvSpPr>
        <p:spPr>
          <a:xfrm>
            <a:off x="548640" y="43594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ber"/>
          <p:cNvSpPr txBox="1"/>
          <p:nvPr/>
        </p:nvSpPr>
        <p:spPr>
          <a:xfrm>
            <a:off x="548640" y="4359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Step text"/>
          <p:cNvSpPr txBox="1"/>
          <p:nvPr/>
        </p:nvSpPr>
        <p:spPr>
          <a:xfrm>
            <a:off x="1188720" y="43205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Add total to the Watch panel.</a:t>
            </a:r>
            <a:endParaRPr lang="en-US" sz="1800" dirty="0"/>
          </a:p>
        </p:txBody>
      </p:sp>
      <p:sp>
        <p:nvSpPr>
          <p:cNvPr id="22" name="Step marker 7"/>
          <p:cNvSpPr/>
          <p:nvPr/>
        </p:nvSpPr>
        <p:spPr>
          <a:xfrm>
            <a:off x="548640" y="49309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number"/>
          <p:cNvSpPr txBox="1"/>
          <p:nvPr/>
        </p:nvSpPr>
        <p:spPr>
          <a:xfrm>
            <a:off x="548640" y="4930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Step text"/>
          <p:cNvSpPr txBox="1"/>
          <p:nvPr/>
        </p:nvSpPr>
        <p:spPr>
          <a:xfrm>
            <a:off x="1188720" y="48920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Notice total is being overwritten, not accumulated.</a:t>
            </a:r>
            <a:endParaRPr lang="en-US" sz="1800" dirty="0"/>
          </a:p>
        </p:txBody>
      </p:sp>
      <p:sp>
        <p:nvSpPr>
          <p:cNvPr id="25" name="Step marker 8"/>
          <p:cNvSpPr/>
          <p:nvPr/>
        </p:nvSpPr>
        <p:spPr>
          <a:xfrm>
            <a:off x="548640" y="550240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tep number"/>
          <p:cNvSpPr txBox="1"/>
          <p:nvPr/>
        </p:nvSpPr>
        <p:spPr>
          <a:xfrm>
            <a:off x="548640" y="5502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7" name="Step text"/>
          <p:cNvSpPr txBox="1"/>
          <p:nvPr/>
        </p:nvSpPr>
        <p:spPr>
          <a:xfrm>
            <a:off x="1188720" y="5463540"/>
            <a:ext cx="10424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Change the line to total += mark and rerun the debugger to confirm 70.0.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Debugger controls in VS Code</a:t>
            </a:r>
            <a:endParaRPr lang="en-US" sz="3000" dirty="0"/>
          </a:p>
        </p:txBody>
      </p:sp>
      <p:graphicFrame>
        <p:nvGraphicFramePr>
          <p:cNvPr id="13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Control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Shortcut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Toggle breakpoint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F9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Adds or removes a breakpoint on the current line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Continue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Runs until the next breakpoint or the end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 Over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F10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Runs the current line without entering a called function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 Into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F11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Enters the function being called on this line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 Out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Shift+F11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Runs until the current function returns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Shift+F5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Ends the debug session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Trace table for the demo program</a:t>
            </a:r>
            <a:endParaRPr lang="en-US" sz="30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20040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mark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 (buggy)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 (fixed)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Iteration 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Iteration 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Iteration 3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Average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 / 3 = 26.67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210 / 3 = 70.0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buggy total only ever holds the latest mark, so the average is 80 /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Practice: investigate a defect</a:t>
            </a:r>
            <a:endParaRPr lang="en-US" sz="3000" dirty="0"/>
          </a:p>
        </p:txBody>
      </p:sp>
      <p:sp>
        <p:nvSpPr>
          <p:cNvPr id="4" name="Activity panel"/>
          <p:cNvSpPr/>
          <p:nvPr/>
        </p:nvSpPr>
        <p:spPr>
          <a:xfrm>
            <a:off x="548640" y="1463040"/>
            <a:ext cx="3291840" cy="448056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 FaHandsHelping" descr="HandsHelp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042770"/>
            <a:ext cx="395021" cy="395021"/>
          </a:xfrm>
          <a:prstGeom prst="rect">
            <a:avLst/>
          </a:prstGeom>
        </p:spPr>
      </p:pic>
      <p:sp>
        <p:nvSpPr>
          <p:cNvPr id="7" name="Your turn label"/>
          <p:cNvSpPr txBox="1"/>
          <p:nvPr/>
        </p:nvSpPr>
        <p:spPr>
          <a:xfrm>
            <a:off x="86868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600" dirty="0"/>
          </a:p>
        </p:txBody>
      </p:sp>
      <p:sp>
        <p:nvSpPr>
          <p:cNvPr id="8" name="Time"/>
          <p:cNvSpPr txBox="1"/>
          <p:nvPr/>
        </p:nvSpPr>
        <p:spPr>
          <a:xfrm>
            <a:off x="8686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20 minutes (30-50)</a:t>
            </a:r>
            <a:endParaRPr lang="en-US" sz="2000" dirty="0"/>
          </a:p>
        </p:txBody>
      </p:sp>
      <p:sp>
        <p:nvSpPr>
          <p:cNvPr id="9" name="Evidence"/>
          <p:cNvSpPr txBox="1"/>
          <p:nvPr/>
        </p:nvSpPr>
        <p:spPr>
          <a:xfrm>
            <a:off x="868680" y="4206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Evidence to keep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Corrected code and screenshot of the debugger in use.</a:t>
            </a:r>
            <a:endParaRPr lang="en-US" sz="1600" dirty="0"/>
          </a:p>
        </p:txBody>
      </p:sp>
      <p:sp>
        <p:nvSpPr>
          <p:cNvPr id="10" name="Task marker 1"/>
          <p:cNvSpPr/>
          <p:nvPr/>
        </p:nvSpPr>
        <p:spPr>
          <a:xfrm>
            <a:off x="4206240" y="162610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ask number"/>
          <p:cNvSpPr txBox="1"/>
          <p:nvPr/>
        </p:nvSpPr>
        <p:spPr>
          <a:xfrm>
            <a:off x="4206240" y="1626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ask text"/>
          <p:cNvSpPr txBox="1"/>
          <p:nvPr/>
        </p:nvSpPr>
        <p:spPr>
          <a:xfrm>
            <a:off x="4846320" y="146304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Open debug_practice/sum_to_bug.py and run it. Note the wrong result.</a:t>
            </a:r>
            <a:endParaRPr lang="en-US" sz="1900" dirty="0"/>
          </a:p>
        </p:txBody>
      </p:sp>
      <p:sp>
        <p:nvSpPr>
          <p:cNvPr id="13" name="Task marker 2"/>
          <p:cNvSpPr/>
          <p:nvPr/>
        </p:nvSpPr>
        <p:spPr>
          <a:xfrm>
            <a:off x="4206240" y="237286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ask number"/>
          <p:cNvSpPr txBox="1"/>
          <p:nvPr/>
        </p:nvSpPr>
        <p:spPr>
          <a:xfrm>
            <a:off x="4206240" y="23728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ask text"/>
          <p:cNvSpPr txBox="1"/>
          <p:nvPr/>
        </p:nvSpPr>
        <p:spPr>
          <a:xfrm>
            <a:off x="4846320" y="220980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Set a breakpoint inside the loop and start the debugger.</a:t>
            </a:r>
            <a:endParaRPr lang="en-US" sz="1900" dirty="0"/>
          </a:p>
        </p:txBody>
      </p:sp>
      <p:sp>
        <p:nvSpPr>
          <p:cNvPr id="16" name="Task marker 3"/>
          <p:cNvSpPr/>
          <p:nvPr/>
        </p:nvSpPr>
        <p:spPr>
          <a:xfrm>
            <a:off x="4206240" y="31196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ask number"/>
          <p:cNvSpPr txBox="1"/>
          <p:nvPr/>
        </p:nvSpPr>
        <p:spPr>
          <a:xfrm>
            <a:off x="4206240" y="3119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ask text"/>
          <p:cNvSpPr txBox="1"/>
          <p:nvPr/>
        </p:nvSpPr>
        <p:spPr>
          <a:xfrm>
            <a:off x="4846320" y="295656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Inspect at least two variables on each step.</a:t>
            </a:r>
            <a:endParaRPr lang="en-US" sz="1900" dirty="0"/>
          </a:p>
        </p:txBody>
      </p:sp>
      <p:sp>
        <p:nvSpPr>
          <p:cNvPr id="19" name="Task marker 4"/>
          <p:cNvSpPr/>
          <p:nvPr/>
        </p:nvSpPr>
        <p:spPr>
          <a:xfrm>
            <a:off x="4206240" y="38663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ask number"/>
          <p:cNvSpPr txBox="1"/>
          <p:nvPr/>
        </p:nvSpPr>
        <p:spPr>
          <a:xfrm>
            <a:off x="4206240" y="3866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ask text"/>
          <p:cNvSpPr txBox="1"/>
          <p:nvPr/>
        </p:nvSpPr>
        <p:spPr>
          <a:xfrm>
            <a:off x="4846320" y="370332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Identify the line that causes the problem.</a:t>
            </a:r>
            <a:endParaRPr lang="en-US" sz="1900" dirty="0"/>
          </a:p>
        </p:txBody>
      </p:sp>
      <p:sp>
        <p:nvSpPr>
          <p:cNvPr id="22" name="Task marker 5"/>
          <p:cNvSpPr/>
          <p:nvPr/>
        </p:nvSpPr>
        <p:spPr>
          <a:xfrm>
            <a:off x="4206240" y="46131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ask number"/>
          <p:cNvSpPr txBox="1"/>
          <p:nvPr/>
        </p:nvSpPr>
        <p:spPr>
          <a:xfrm>
            <a:off x="4206240" y="46131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ask text"/>
          <p:cNvSpPr txBox="1"/>
          <p:nvPr/>
        </p:nvSpPr>
        <p:spPr>
          <a:xfrm>
            <a:off x="4846320" y="445008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Correct it and confirm with the debugger.</a:t>
            </a:r>
            <a:endParaRPr lang="en-US" sz="1900" dirty="0"/>
          </a:p>
        </p:txBody>
      </p:sp>
      <p:sp>
        <p:nvSpPr>
          <p:cNvPr id="25" name="Task marker 6"/>
          <p:cNvSpPr/>
          <p:nvPr/>
        </p:nvSpPr>
        <p:spPr>
          <a:xfrm>
            <a:off x="4206240" y="535990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ask number"/>
          <p:cNvSpPr txBox="1"/>
          <p:nvPr/>
        </p:nvSpPr>
        <p:spPr>
          <a:xfrm>
            <a:off x="4206240" y="53599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ask text"/>
          <p:cNvSpPr txBox="1"/>
          <p:nvPr/>
        </p:nvSpPr>
        <p:spPr>
          <a:xfrm>
            <a:off x="4846320" y="519684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If you finish, repeat with count_passes_bug.py.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Debugging log template</a:t>
            </a:r>
            <a:endParaRPr lang="en-US" sz="3000" dirty="0"/>
          </a:p>
        </p:txBody>
      </p:sp>
      <p:graphicFrame>
        <p:nvGraphicFramePr>
          <p:cNvPr id="16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384048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Line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Variables inspected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Observation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mark = 60, total = 60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total equals mark, expected 60 (first value)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mark = 70, total = 70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total should be 130 but is 70: it is overwritten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mark = 80, total = 80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Confirms: total only holds the last mark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total += mark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Reran: total = 210, average = 70.0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Your log needs: line number, variables inspected and what you observed at each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Peer explanation</a:t>
            </a:r>
            <a:endParaRPr lang="en-US" sz="3000" dirty="0"/>
          </a:p>
        </p:txBody>
      </p:sp>
      <p:sp>
        <p:nvSpPr>
          <p:cNvPr id="4" name="Step marker 1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"/>
          <p:cNvSpPr txBox="1"/>
          <p:nvPr/>
        </p:nvSpPr>
        <p:spPr>
          <a:xfrm>
            <a:off x="1188720" y="146304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Describe the symptom. 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What did you expect and what did the program do?</a:t>
            </a:r>
            <a:endParaRPr lang="en-US" sz="2000" dirty="0"/>
          </a:p>
        </p:txBody>
      </p:sp>
      <p:sp>
        <p:nvSpPr>
          <p:cNvPr id="7" name="Step marker 2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number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ext"/>
          <p:cNvSpPr txBox="1"/>
          <p:nvPr/>
        </p:nvSpPr>
        <p:spPr>
          <a:xfrm>
            <a:off x="1188720" y="217627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Show the evidence. 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Which breakpoint, which variables, what did you see?</a:t>
            </a:r>
            <a:endParaRPr lang="en-US" sz="2000" dirty="0"/>
          </a:p>
        </p:txBody>
      </p:sp>
      <p:sp>
        <p:nvSpPr>
          <p:cNvPr id="10" name="Step marker 3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"/>
          <p:cNvSpPr txBox="1"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text"/>
          <p:cNvSpPr txBox="1"/>
          <p:nvPr/>
        </p:nvSpPr>
        <p:spPr>
          <a:xfrm>
            <a:off x="1188720" y="288950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State the cause. 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Which line, and why is it wrong?</a:t>
            </a:r>
            <a:endParaRPr lang="en-US" sz="2000" dirty="0"/>
          </a:p>
        </p:txBody>
      </p:sp>
      <p:sp>
        <p:nvSpPr>
          <p:cNvPr id="13" name="Step marker 4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number"/>
          <p:cNvSpPr txBox="1"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text"/>
          <p:cNvSpPr txBox="1"/>
          <p:nvPr/>
        </p:nvSpPr>
        <p:spPr>
          <a:xfrm>
            <a:off x="1188720" y="3602736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Demonstrate the fix. 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Show the corrected run and the verification.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Final checkpoint: Session 3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548640" y="1463040"/>
            <a:ext cx="11064240" cy="134112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5" name="Question marker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Question number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7" name="Question text"/>
          <p:cNvSpPr txBox="1"/>
          <p:nvPr/>
        </p:nvSpPr>
        <p:spPr>
          <a:xfrm>
            <a:off x="1463040" y="1600200"/>
            <a:ext cx="9921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What does Step Over do compared with Step Into?</a:t>
            </a:r>
            <a:endParaRPr lang="en-US" sz="1900" dirty="0"/>
          </a:p>
        </p:txBody>
      </p:sp>
      <p:sp>
        <p:nvSpPr>
          <p:cNvPr id="8" name="Question card 2"/>
          <p:cNvSpPr/>
          <p:nvPr/>
        </p:nvSpPr>
        <p:spPr>
          <a:xfrm>
            <a:off x="548640" y="3032760"/>
            <a:ext cx="11064240" cy="134112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9" name="Question marker"/>
          <p:cNvSpPr/>
          <p:nvPr/>
        </p:nvSpPr>
        <p:spPr>
          <a:xfrm>
            <a:off x="777240" y="3261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Question number"/>
          <p:cNvSpPr txBox="1"/>
          <p:nvPr/>
        </p:nvSpPr>
        <p:spPr>
          <a:xfrm>
            <a:off x="777240" y="3261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Question text"/>
          <p:cNvSpPr txBox="1"/>
          <p:nvPr/>
        </p:nvSpPr>
        <p:spPr>
          <a:xfrm>
            <a:off x="1463040" y="3169920"/>
            <a:ext cx="9921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Why is a watch list better than checking one variable once?</a:t>
            </a:r>
            <a:endParaRPr lang="en-US" sz="1900" dirty="0"/>
          </a:p>
        </p:txBody>
      </p:sp>
      <p:sp>
        <p:nvSpPr>
          <p:cNvPr id="12" name="Question card 3"/>
          <p:cNvSpPr/>
          <p:nvPr/>
        </p:nvSpPr>
        <p:spPr>
          <a:xfrm>
            <a:off x="548640" y="4602480"/>
            <a:ext cx="11064240" cy="134112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3" name="Question marker"/>
          <p:cNvSpPr/>
          <p:nvPr/>
        </p:nvSpPr>
        <p:spPr>
          <a:xfrm>
            <a:off x="777240" y="4831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estion number"/>
          <p:cNvSpPr txBox="1"/>
          <p:nvPr/>
        </p:nvSpPr>
        <p:spPr>
          <a:xfrm>
            <a:off x="777240" y="4831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Question text"/>
          <p:cNvSpPr txBox="1"/>
          <p:nvPr/>
        </p:nvSpPr>
        <p:spPr>
          <a:xfrm>
            <a:off x="1463040" y="4739640"/>
            <a:ext cx="9921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 your own words: how is debugging different from adding print statements?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ion badge"/>
          <p:cNvSpPr/>
          <p:nvPr/>
        </p:nvSpPr>
        <p:spPr>
          <a:xfrm>
            <a:off x="822960" y="251460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Session number"/>
          <p:cNvSpPr txBox="1"/>
          <p:nvPr/>
        </p:nvSpPr>
        <p:spPr>
          <a:xfrm>
            <a:off x="82296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3017520" y="2377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Coding Standards and Maintainable Code</a:t>
            </a:r>
            <a:endParaRPr lang="en-US" sz="4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3017520" y="3840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Pearson alignment: LO3 and LO4  |  75 minutes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Starter: which is easier to read?</a:t>
            </a:r>
            <a:endParaRPr lang="en-US" sz="3000" dirty="0"/>
          </a:p>
        </p:txBody>
      </p:sp>
      <p:sp>
        <p:nvSpPr>
          <p:cNvPr id="4" name="Header Version A"/>
          <p:cNvSpPr/>
          <p:nvPr/>
        </p:nvSpPr>
        <p:spPr>
          <a:xfrm>
            <a:off x="548640" y="1463040"/>
            <a:ext cx="5413248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5" name="Header text"/>
          <p:cNvSpPr txBox="1"/>
          <p:nvPr/>
        </p:nvSpPr>
        <p:spPr>
          <a:xfrm>
            <a:off x="731520" y="146304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Version A</a:t>
            </a:r>
            <a:endParaRPr lang="en-US" sz="1800" dirty="0"/>
          </a:p>
        </p:txBody>
      </p:sp>
      <p:sp>
        <p:nvSpPr>
          <p:cNvPr id="6" name="Code block"/>
          <p:cNvSpPr/>
          <p:nvPr/>
        </p:nvSpPr>
        <p:spPr>
          <a:xfrm>
            <a:off x="548640" y="2057400"/>
            <a:ext cx="5413248" cy="1828800"/>
          </a:xfrm>
          <a:prstGeom prst="roundRect">
            <a:avLst>
              <a:gd name="adj" fmla="val 4000"/>
            </a:avLst>
          </a:prstGeom>
          <a:solidFill>
            <a:srgbClr val="0B1B38"/>
          </a:solidFill>
          <a:ln/>
        </p:spPr>
      </p:sp>
      <p:sp>
        <p:nvSpPr>
          <p:cNvPr id="7" name="Code text"/>
          <p:cNvSpPr txBox="1"/>
          <p:nvPr/>
        </p:nvSpPr>
        <p:spPr>
          <a:xfrm>
            <a:off x="777240" y="2240280"/>
            <a:ext cx="4956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f(a, b):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a *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f(100, 3)</a:t>
            </a:r>
            <a:endParaRPr lang="en-US" sz="1500" dirty="0"/>
          </a:p>
        </p:txBody>
      </p:sp>
      <p:sp>
        <p:nvSpPr>
          <p:cNvPr id="8" name="Header Version B"/>
          <p:cNvSpPr/>
          <p:nvPr/>
        </p:nvSpPr>
        <p:spPr>
          <a:xfrm>
            <a:off x="6227064" y="1463040"/>
            <a:ext cx="541324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9" name="Header text"/>
          <p:cNvSpPr txBox="1"/>
          <p:nvPr/>
        </p:nvSpPr>
        <p:spPr>
          <a:xfrm>
            <a:off x="6409944" y="146304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Version B</a:t>
            </a:r>
            <a:endParaRPr lang="en-US" sz="1800" dirty="0"/>
          </a:p>
        </p:txBody>
      </p:sp>
      <p:sp>
        <p:nvSpPr>
          <p:cNvPr id="10" name="Code block"/>
          <p:cNvSpPr/>
          <p:nvPr/>
        </p:nvSpPr>
        <p:spPr>
          <a:xfrm>
            <a:off x="6227064" y="2057400"/>
            <a:ext cx="5413248" cy="2395728"/>
          </a:xfrm>
          <a:prstGeom prst="roundRect">
            <a:avLst>
              <a:gd name="adj" fmla="val 3053"/>
            </a:avLst>
          </a:prstGeom>
          <a:solidFill>
            <a:srgbClr val="0B1B38"/>
          </a:solidFill>
          <a:ln/>
        </p:spPr>
      </p:sp>
      <p:sp>
        <p:nvSpPr>
          <p:cNvPr id="11" name="Code text"/>
          <p:cNvSpPr txBox="1"/>
          <p:nvPr/>
        </p:nvSpPr>
        <p:spPr>
          <a:xfrm>
            <a:off x="6455664" y="2240280"/>
            <a:ext cx="495604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calculate_total(price, quantity):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total cost."""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price * quantity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calculate_total(100, 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cost:", total)</a:t>
            </a:r>
            <a:endParaRPr lang="en-US" sz="1500" dirty="0"/>
          </a:p>
        </p:txBody>
      </p:sp>
      <p:sp>
        <p:nvSpPr>
          <p:cNvPr id="12" name="Caption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Both versions produce 300. Which one would you rather maintain in six months?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Session 4 plan: 75 minutes</a:t>
            </a:r>
            <a:endParaRPr lang="en-US" sz="3000" dirty="0"/>
          </a:p>
        </p:txBody>
      </p:sp>
      <p:graphicFrame>
        <p:nvGraphicFramePr>
          <p:cNvPr id="21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0-7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Compare two versions of the same code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Starter discussion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7-20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Coding standards: naming, indentation, comments, docstrings, modularity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Slides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20-35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Refactor a poorly written program live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Live coding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35-55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Students improve a messy Python program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Individual or pair work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55-65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Code-review checklist and PEP 8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Demonstration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65-72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Review a partner's code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Peer review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72-75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Exit questions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Short assessment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Habits of maintainable code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Pen" descr="Pe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846174"/>
            <a:ext cx="285293" cy="285293"/>
          </a:xfrm>
          <a:prstGeom prst="rect">
            <a:avLst/>
          </a:prstGeom>
        </p:spPr>
      </p:pic>
      <p:sp>
        <p:nvSpPr>
          <p:cNvPr id="7" name="Text 19"/>
          <p:cNvSpPr txBox="1"/>
          <p:nvPr/>
        </p:nvSpPr>
        <p:spPr>
          <a:xfrm>
            <a:off x="155448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Meaningful names</a:t>
            </a:r>
            <a:endParaRPr lang="en-US" sz="2000" dirty="0"/>
          </a:p>
        </p:txBody>
      </p:sp>
      <p:sp>
        <p:nvSpPr>
          <p:cNvPr id="8" name="Text 20"/>
          <p:cNvSpPr txBox="1"/>
          <p:nvPr/>
        </p:nvSpPr>
        <p:spPr>
          <a:xfrm>
            <a:off x="77724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Variables and functions describe what they hold or do.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334256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562856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LayerGroup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90" y="1846174"/>
            <a:ext cx="285293" cy="285293"/>
          </a:xfrm>
          <a:prstGeom prst="rect">
            <a:avLst/>
          </a:prstGeom>
        </p:spPr>
      </p:pic>
      <p:sp>
        <p:nvSpPr>
          <p:cNvPr id="12" name="Text 21"/>
          <p:cNvSpPr txBox="1"/>
          <p:nvPr/>
        </p:nvSpPr>
        <p:spPr>
          <a:xfrm>
            <a:off x="5340096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Consistent layout</a:t>
            </a:r>
            <a:endParaRPr lang="en-US" sz="2000" dirty="0"/>
          </a:p>
        </p:txBody>
      </p:sp>
      <p:sp>
        <p:nvSpPr>
          <p:cNvPr id="13" name="Text 22"/>
          <p:cNvSpPr txBox="1"/>
          <p:nvPr/>
        </p:nvSpPr>
        <p:spPr>
          <a:xfrm>
            <a:off x="4562856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indentation and spacing throughout the file.</a:t>
            </a:r>
            <a:endParaRPr lang="en-US" sz="1600" dirty="0"/>
          </a:p>
        </p:txBody>
      </p:sp>
      <p:sp>
        <p:nvSpPr>
          <p:cNvPr id="14" name="Card 3"/>
          <p:cNvSpPr/>
          <p:nvPr/>
        </p:nvSpPr>
        <p:spPr>
          <a:xfrm>
            <a:off x="8119872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48472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Code" descr="Co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06" y="1846174"/>
            <a:ext cx="285293" cy="285293"/>
          </a:xfrm>
          <a:prstGeom prst="rect">
            <a:avLst/>
          </a:prstGeom>
        </p:spPr>
      </p:pic>
      <p:sp>
        <p:nvSpPr>
          <p:cNvPr id="17" name="Text 23"/>
          <p:cNvSpPr txBox="1"/>
          <p:nvPr/>
        </p:nvSpPr>
        <p:spPr>
          <a:xfrm>
            <a:off x="9125712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snake_case</a:t>
            </a:r>
            <a:endParaRPr lang="en-US" sz="2000" dirty="0"/>
          </a:p>
        </p:txBody>
      </p:sp>
      <p:sp>
        <p:nvSpPr>
          <p:cNvPr id="18" name="Text 24"/>
          <p:cNvSpPr txBox="1"/>
          <p:nvPr/>
        </p:nvSpPr>
        <p:spPr>
          <a:xfrm>
            <a:off x="8348472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functions and variables: calculate_total, not CalculateTotal.</a:t>
            </a:r>
            <a:endParaRPr lang="en-US" sz="1600" dirty="0"/>
          </a:p>
        </p:txBody>
      </p:sp>
      <p:sp>
        <p:nvSpPr>
          <p:cNvPr id="19" name="Card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FaPuzzlePiece" descr="PuzzlePiec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4132174"/>
            <a:ext cx="285293" cy="285293"/>
          </a:xfrm>
          <a:prstGeom prst="rect">
            <a:avLst/>
          </a:prstGeom>
        </p:spPr>
      </p:pic>
      <p:sp>
        <p:nvSpPr>
          <p:cNvPr id="22" name="Text 25"/>
          <p:cNvSpPr txBox="1"/>
          <p:nvPr/>
        </p:nvSpPr>
        <p:spPr>
          <a:xfrm>
            <a:off x="155448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Small functions</a:t>
            </a:r>
            <a:endParaRPr lang="en-US" sz="2000" dirty="0"/>
          </a:p>
        </p:txBody>
      </p:sp>
      <p:sp>
        <p:nvSpPr>
          <p:cNvPr id="23" name="Text 26"/>
          <p:cNvSpPr txBox="1"/>
          <p:nvPr/>
        </p:nvSpPr>
        <p:spPr>
          <a:xfrm>
            <a:off x="77724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Group related operations and remove duplicated logic.</a:t>
            </a:r>
            <a:endParaRPr lang="en-US" sz="1600" dirty="0"/>
          </a:p>
        </p:txBody>
      </p:sp>
      <p:sp>
        <p:nvSpPr>
          <p:cNvPr id="24" name="Card 5"/>
          <p:cNvSpPr/>
          <p:nvPr/>
        </p:nvSpPr>
        <p:spPr>
          <a:xfrm>
            <a:off x="4334256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4562856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 FaCommentDots" descr="CommentDot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390" y="4132174"/>
            <a:ext cx="285293" cy="285293"/>
          </a:xfrm>
          <a:prstGeom prst="rect">
            <a:avLst/>
          </a:prstGeom>
        </p:spPr>
      </p:pic>
      <p:sp>
        <p:nvSpPr>
          <p:cNvPr id="27" name="Text 27"/>
          <p:cNvSpPr txBox="1"/>
          <p:nvPr/>
        </p:nvSpPr>
        <p:spPr>
          <a:xfrm>
            <a:off x="5340096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Comments and docstrings</a:t>
            </a:r>
            <a:endParaRPr lang="en-US" sz="2000" dirty="0"/>
          </a:p>
        </p:txBody>
      </p:sp>
      <p:sp>
        <p:nvSpPr>
          <p:cNvPr id="28" name="Text 28"/>
          <p:cNvSpPr txBox="1"/>
          <p:nvPr/>
        </p:nvSpPr>
        <p:spPr>
          <a:xfrm>
            <a:off x="4562856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why, not the obvious. Describe functions with docstrings.</a:t>
            </a:r>
            <a:endParaRPr lang="en-US" sz="1600" dirty="0"/>
          </a:p>
        </p:txBody>
      </p:sp>
      <p:sp>
        <p:nvSpPr>
          <p:cNvPr id="29" name="Card 6"/>
          <p:cNvSpPr/>
          <p:nvPr/>
        </p:nvSpPr>
        <p:spPr>
          <a:xfrm>
            <a:off x="8119872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0" name="Icon circle"/>
          <p:cNvSpPr/>
          <p:nvPr/>
        </p:nvSpPr>
        <p:spPr>
          <a:xfrm>
            <a:off x="8348472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 FaExclamationTriangle" descr="ExclamationTriang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006" y="4132174"/>
            <a:ext cx="285293" cy="285293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125712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Deliberate errors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348472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Handle exceptions on purpose instead of hiding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PEP 8 essentials</a:t>
            </a:r>
            <a:endParaRPr lang="en-US" sz="3000" dirty="0"/>
          </a:p>
        </p:txBody>
      </p:sp>
      <p:graphicFrame>
        <p:nvGraphicFramePr>
          <p:cNvPr id="23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Do this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Not this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Naming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total_price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TotalPrice or tp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Indentation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 spaces per level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Mixed tabs and spaces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Operators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x = a + b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x=a+b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Line length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Up to 79 characters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Very long lines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Imports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top of the file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Scattered through the code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Live refactoring</a:t>
            </a:r>
            <a:endParaRPr lang="en-US" sz="3000" dirty="0"/>
          </a:p>
        </p:txBody>
      </p:sp>
      <p:sp>
        <p:nvSpPr>
          <p:cNvPr id="4" name="Code block"/>
          <p:cNvSpPr/>
          <p:nvPr/>
        </p:nvSpPr>
        <p:spPr>
          <a:xfrm>
            <a:off x="548640" y="1463040"/>
            <a:ext cx="6583680" cy="2395728"/>
          </a:xfrm>
          <a:prstGeom prst="roundRect">
            <a:avLst>
              <a:gd name="adj" fmla="val 3053"/>
            </a:avLst>
          </a:prstGeom>
          <a:solidFill>
            <a:srgbClr val="0B1B38"/>
          </a:solidFill>
          <a:ln/>
        </p:spPr>
      </p:sp>
      <p:sp>
        <p:nvSpPr>
          <p:cNvPr id="5" name="Code text"/>
          <p:cNvSpPr txBox="1"/>
          <p:nvPr/>
        </p:nvSpPr>
        <p:spPr>
          <a:xfrm>
            <a:off x="777240" y="1645920"/>
            <a:ext cx="6126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calculate_total(price, quantity):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"""Calculate the total cost of the items."""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price * quantity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calculate_total(price=100, quantity=3)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cost:", total)</a:t>
            </a:r>
            <a:endParaRPr lang="en-US" sz="1600" dirty="0"/>
          </a:p>
        </p:txBody>
      </p:sp>
      <p:sp>
        <p:nvSpPr>
          <p:cNvPr id="6" name="Label"/>
          <p:cNvSpPr txBox="1"/>
          <p:nvPr/>
        </p:nvSpPr>
        <p:spPr>
          <a:xfrm>
            <a:off x="548640" y="4069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Output block"/>
          <p:cNvSpPr/>
          <p:nvPr/>
        </p:nvSpPr>
        <p:spPr>
          <a:xfrm>
            <a:off x="548640" y="4343400"/>
            <a:ext cx="6583680" cy="694944"/>
          </a:xfrm>
          <a:prstGeom prst="roundRect">
            <a:avLst>
              <a:gd name="adj" fmla="val 10526"/>
            </a:avLst>
          </a:prstGeom>
          <a:solidFill>
            <a:srgbClr val="0B1B38"/>
          </a:solidFill>
          <a:ln/>
        </p:spPr>
      </p:sp>
      <p:sp>
        <p:nvSpPr>
          <p:cNvPr id="8" name="Code text"/>
          <p:cNvSpPr txBox="1"/>
          <p:nvPr/>
        </p:nvSpPr>
        <p:spPr>
          <a:xfrm>
            <a:off x="777240" y="452628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cost: 300</a:t>
            </a:r>
            <a:endParaRPr lang="en-US" sz="1600" dirty="0"/>
          </a:p>
        </p:txBody>
      </p:sp>
      <p:sp>
        <p:nvSpPr>
          <p:cNvPr id="9" name="Points heading"/>
          <p:cNvSpPr txBox="1"/>
          <p:nvPr/>
        </p:nvSpPr>
        <p:spPr>
          <a:xfrm>
            <a:off x="7498080" y="146304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changed</a:t>
            </a:r>
            <a:endParaRPr lang="en-US" sz="2200" dirty="0"/>
          </a:p>
        </p:txBody>
      </p:sp>
      <p:sp>
        <p:nvSpPr>
          <p:cNvPr id="10" name="Key points"/>
          <p:cNvSpPr txBox="1"/>
          <p:nvPr/>
        </p:nvSpPr>
        <p:spPr>
          <a:xfrm>
            <a:off x="7498080" y="2011680"/>
            <a:ext cx="414497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Meaningful function and parameter names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docstring says what the function does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Returns a value instead of printing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Keyword arguments make the call readable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Return values make code reusable</a:t>
            </a:r>
            <a:endParaRPr lang="en-US" sz="3000" dirty="0"/>
          </a:p>
        </p:txBody>
      </p:sp>
      <p:sp>
        <p:nvSpPr>
          <p:cNvPr id="4" name="Key idea panel"/>
          <p:cNvSpPr/>
          <p:nvPr/>
        </p:nvSpPr>
        <p:spPr>
          <a:xfrm>
            <a:off x="548640" y="1463040"/>
            <a:ext cx="11091672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</p:spPr>
      </p:sp>
      <p:sp>
        <p:nvSpPr>
          <p:cNvPr id="5" name="Key idea"/>
          <p:cNvSpPr txBox="1"/>
          <p:nvPr/>
        </p:nvSpPr>
        <p:spPr>
          <a:xfrm>
            <a:off x="1005840" y="1645920"/>
            <a:ext cx="10149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that returns a value can be reused, combined and tested. A function that only prints cannot.</a:t>
            </a:r>
            <a:endParaRPr lang="en-US" sz="2800" dirty="0"/>
          </a:p>
        </p:txBody>
      </p:sp>
      <p:sp>
        <p:nvSpPr>
          <p:cNvPr id="6" name="Supporting points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calculate_total(100, 3) + calculate_total(50, 2) works because each call returns a number.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test can check calculate_total(100, 3) == 300 automatically; testing printed text is much harder.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Practice: improve a messy program</a:t>
            </a:r>
            <a:endParaRPr lang="en-US" sz="3000" dirty="0"/>
          </a:p>
        </p:txBody>
      </p:sp>
      <p:sp>
        <p:nvSpPr>
          <p:cNvPr id="4" name="Activity panel"/>
          <p:cNvSpPr/>
          <p:nvPr/>
        </p:nvSpPr>
        <p:spPr>
          <a:xfrm>
            <a:off x="548640" y="1463040"/>
            <a:ext cx="3291840" cy="448056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 FaHandsHelping" descr="HandsHelp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042770"/>
            <a:ext cx="395021" cy="395021"/>
          </a:xfrm>
          <a:prstGeom prst="rect">
            <a:avLst/>
          </a:prstGeom>
        </p:spPr>
      </p:pic>
      <p:sp>
        <p:nvSpPr>
          <p:cNvPr id="7" name="Your turn label"/>
          <p:cNvSpPr txBox="1"/>
          <p:nvPr/>
        </p:nvSpPr>
        <p:spPr>
          <a:xfrm>
            <a:off x="86868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600" dirty="0"/>
          </a:p>
        </p:txBody>
      </p:sp>
      <p:sp>
        <p:nvSpPr>
          <p:cNvPr id="8" name="Time"/>
          <p:cNvSpPr txBox="1"/>
          <p:nvPr/>
        </p:nvSpPr>
        <p:spPr>
          <a:xfrm>
            <a:off x="8686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20 minutes (35-55)</a:t>
            </a:r>
            <a:endParaRPr lang="en-US" sz="2000" dirty="0"/>
          </a:p>
        </p:txBody>
      </p:sp>
      <p:sp>
        <p:nvSpPr>
          <p:cNvPr id="9" name="Evidence"/>
          <p:cNvSpPr txBox="1"/>
          <p:nvPr/>
        </p:nvSpPr>
        <p:spPr>
          <a:xfrm>
            <a:off x="868680" y="4206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Evidence to keep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Before-and-after code and a short explanation of improvements.</a:t>
            </a:r>
            <a:endParaRPr lang="en-US" sz="1600" dirty="0"/>
          </a:p>
        </p:txBody>
      </p:sp>
      <p:sp>
        <p:nvSpPr>
          <p:cNvPr id="10" name="Task marker 1"/>
          <p:cNvSpPr/>
          <p:nvPr/>
        </p:nvSpPr>
        <p:spPr>
          <a:xfrm>
            <a:off x="4206240" y="162610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ask number"/>
          <p:cNvSpPr txBox="1"/>
          <p:nvPr/>
        </p:nvSpPr>
        <p:spPr>
          <a:xfrm>
            <a:off x="4206240" y="1626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ask text"/>
          <p:cNvSpPr txBox="1"/>
          <p:nvPr/>
        </p:nvSpPr>
        <p:spPr>
          <a:xfrm>
            <a:off x="4846320" y="146304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Open refactoring/messy_program.py and run it to see what it does.</a:t>
            </a:r>
            <a:endParaRPr lang="en-US" sz="1900" dirty="0"/>
          </a:p>
        </p:txBody>
      </p:sp>
      <p:sp>
        <p:nvSpPr>
          <p:cNvPr id="13" name="Task marker 2"/>
          <p:cNvSpPr/>
          <p:nvPr/>
        </p:nvSpPr>
        <p:spPr>
          <a:xfrm>
            <a:off x="4206240" y="237286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ask number"/>
          <p:cNvSpPr txBox="1"/>
          <p:nvPr/>
        </p:nvSpPr>
        <p:spPr>
          <a:xfrm>
            <a:off x="4206240" y="23728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ask text"/>
          <p:cNvSpPr txBox="1"/>
          <p:nvPr/>
        </p:nvSpPr>
        <p:spPr>
          <a:xfrm>
            <a:off x="4846320" y="220980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Rename functions and variables so they describe their purpose.</a:t>
            </a:r>
            <a:endParaRPr lang="en-US" sz="1900" dirty="0"/>
          </a:p>
        </p:txBody>
      </p:sp>
      <p:sp>
        <p:nvSpPr>
          <p:cNvPr id="16" name="Task marker 3"/>
          <p:cNvSpPr/>
          <p:nvPr/>
        </p:nvSpPr>
        <p:spPr>
          <a:xfrm>
            <a:off x="4206240" y="31196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ask number"/>
          <p:cNvSpPr txBox="1"/>
          <p:nvPr/>
        </p:nvSpPr>
        <p:spPr>
          <a:xfrm>
            <a:off x="4206240" y="3119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ask text"/>
          <p:cNvSpPr txBox="1"/>
          <p:nvPr/>
        </p:nvSpPr>
        <p:spPr>
          <a:xfrm>
            <a:off x="4846320" y="295656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Remove the duplicated logic by creating one reusable function.</a:t>
            </a:r>
            <a:endParaRPr lang="en-US" sz="1900" dirty="0"/>
          </a:p>
        </p:txBody>
      </p:sp>
      <p:sp>
        <p:nvSpPr>
          <p:cNvPr id="19" name="Task marker 4"/>
          <p:cNvSpPr/>
          <p:nvPr/>
        </p:nvSpPr>
        <p:spPr>
          <a:xfrm>
            <a:off x="4206240" y="38663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ask number"/>
          <p:cNvSpPr txBox="1"/>
          <p:nvPr/>
        </p:nvSpPr>
        <p:spPr>
          <a:xfrm>
            <a:off x="4206240" y="3866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ask text"/>
          <p:cNvSpPr txBox="1"/>
          <p:nvPr/>
        </p:nvSpPr>
        <p:spPr>
          <a:xfrm>
            <a:off x="4846320" y="370332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Fix spacing and the badly formatted conditions.</a:t>
            </a:r>
            <a:endParaRPr lang="en-US" sz="1900" dirty="0"/>
          </a:p>
        </p:txBody>
      </p:sp>
      <p:sp>
        <p:nvSpPr>
          <p:cNvPr id="22" name="Task marker 5"/>
          <p:cNvSpPr/>
          <p:nvPr/>
        </p:nvSpPr>
        <p:spPr>
          <a:xfrm>
            <a:off x="4206240" y="46131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ask number"/>
          <p:cNvSpPr txBox="1"/>
          <p:nvPr/>
        </p:nvSpPr>
        <p:spPr>
          <a:xfrm>
            <a:off x="4206240" y="46131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ask text"/>
          <p:cNvSpPr txBox="1"/>
          <p:nvPr/>
        </p:nvSpPr>
        <p:spPr>
          <a:xfrm>
            <a:off x="4846320" y="445008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Add docstrings and return values where suitable.</a:t>
            </a:r>
            <a:endParaRPr lang="en-US" sz="1900" dirty="0"/>
          </a:p>
        </p:txBody>
      </p:sp>
      <p:sp>
        <p:nvSpPr>
          <p:cNvPr id="25" name="Task marker 6"/>
          <p:cNvSpPr/>
          <p:nvPr/>
        </p:nvSpPr>
        <p:spPr>
          <a:xfrm>
            <a:off x="4206240" y="535990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ask number"/>
          <p:cNvSpPr txBox="1"/>
          <p:nvPr/>
        </p:nvSpPr>
        <p:spPr>
          <a:xfrm>
            <a:off x="4206240" y="53599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ask text"/>
          <p:cNvSpPr txBox="1"/>
          <p:nvPr/>
        </p:nvSpPr>
        <p:spPr>
          <a:xfrm>
            <a:off x="4846320" y="5196840"/>
            <a:ext cx="67665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Write three specific changes and the benefit of each.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Code-review checklist</a:t>
            </a:r>
            <a:endParaRPr lang="en-US" sz="3000" dirty="0"/>
          </a:p>
        </p:txBody>
      </p:sp>
      <p:graphicFrame>
        <p:nvGraphicFramePr>
          <p:cNvPr id="27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64592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Yes / No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Comment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Names are meaningful and in snake_case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Indentation and spacing are consistent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duplicated logic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Functions have docstrings and return values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Comments explain reasoning, not the obvious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Errors are handled deliberately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Peer review</a:t>
            </a:r>
            <a:endParaRPr lang="en-US" sz="3000" dirty="0"/>
          </a:p>
        </p:txBody>
      </p:sp>
      <p:sp>
        <p:nvSpPr>
          <p:cNvPr id="4" name="Activity panel"/>
          <p:cNvSpPr/>
          <p:nvPr/>
        </p:nvSpPr>
        <p:spPr>
          <a:xfrm>
            <a:off x="548640" y="1463040"/>
            <a:ext cx="3291840" cy="448056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 FaHandsHelping" descr="HandsHelp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042770"/>
            <a:ext cx="395021" cy="395021"/>
          </a:xfrm>
          <a:prstGeom prst="rect">
            <a:avLst/>
          </a:prstGeom>
        </p:spPr>
      </p:pic>
      <p:sp>
        <p:nvSpPr>
          <p:cNvPr id="7" name="Your turn label"/>
          <p:cNvSpPr txBox="1"/>
          <p:nvPr/>
        </p:nvSpPr>
        <p:spPr>
          <a:xfrm>
            <a:off x="86868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600" dirty="0"/>
          </a:p>
        </p:txBody>
      </p:sp>
      <p:sp>
        <p:nvSpPr>
          <p:cNvPr id="8" name="Time"/>
          <p:cNvSpPr txBox="1"/>
          <p:nvPr/>
        </p:nvSpPr>
        <p:spPr>
          <a:xfrm>
            <a:off x="8686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7 minutes (65-72)</a:t>
            </a:r>
            <a:endParaRPr lang="en-US" sz="2000" dirty="0"/>
          </a:p>
        </p:txBody>
      </p:sp>
      <p:sp>
        <p:nvSpPr>
          <p:cNvPr id="9" name="Evidence"/>
          <p:cNvSpPr txBox="1"/>
          <p:nvPr/>
        </p:nvSpPr>
        <p:spPr>
          <a:xfrm>
            <a:off x="868680" y="4206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Evidence to keep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Completed code-review checklist.</a:t>
            </a:r>
            <a:endParaRPr lang="en-US" sz="1600" dirty="0"/>
          </a:p>
        </p:txBody>
      </p:sp>
      <p:sp>
        <p:nvSpPr>
          <p:cNvPr id="10" name="Task marker 1"/>
          <p:cNvSpPr/>
          <p:nvPr/>
        </p:nvSpPr>
        <p:spPr>
          <a:xfrm>
            <a:off x="4206240" y="16413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ask number"/>
          <p:cNvSpPr txBox="1"/>
          <p:nvPr/>
        </p:nvSpPr>
        <p:spPr>
          <a:xfrm>
            <a:off x="420624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ask text"/>
          <p:cNvSpPr txBox="1"/>
          <p:nvPr/>
        </p:nvSpPr>
        <p:spPr>
          <a:xfrm>
            <a:off x="4846320" y="1463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Swap laptops or printouts with a partner.</a:t>
            </a:r>
            <a:endParaRPr lang="en-US" sz="1900" dirty="0"/>
          </a:p>
        </p:txBody>
      </p:sp>
      <p:sp>
        <p:nvSpPr>
          <p:cNvPr id="13" name="Task marker 2"/>
          <p:cNvSpPr/>
          <p:nvPr/>
        </p:nvSpPr>
        <p:spPr>
          <a:xfrm>
            <a:off x="4206240" y="24185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ask number"/>
          <p:cNvSpPr txBox="1"/>
          <p:nvPr/>
        </p:nvSpPr>
        <p:spPr>
          <a:xfrm>
            <a:off x="4206240" y="24185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ask text"/>
          <p:cNvSpPr txBox="1"/>
          <p:nvPr/>
        </p:nvSpPr>
        <p:spPr>
          <a:xfrm>
            <a:off x="4846320" y="2240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Use the code-review checklist to review their program.</a:t>
            </a:r>
            <a:endParaRPr lang="en-US" sz="1900" dirty="0"/>
          </a:p>
        </p:txBody>
      </p:sp>
      <p:sp>
        <p:nvSpPr>
          <p:cNvPr id="16" name="Task marker 3"/>
          <p:cNvSpPr/>
          <p:nvPr/>
        </p:nvSpPr>
        <p:spPr>
          <a:xfrm>
            <a:off x="4206240" y="31958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ask number"/>
          <p:cNvSpPr txBox="1"/>
          <p:nvPr/>
        </p:nvSpPr>
        <p:spPr>
          <a:xfrm>
            <a:off x="4206240" y="31958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ask text"/>
          <p:cNvSpPr txBox="1"/>
          <p:nvPr/>
        </p:nvSpPr>
        <p:spPr>
          <a:xfrm>
            <a:off x="4846320" y="30175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Mark each check Yes or No with a short comment.</a:t>
            </a:r>
            <a:endParaRPr lang="en-US" sz="1900" dirty="0"/>
          </a:p>
        </p:txBody>
      </p:sp>
      <p:sp>
        <p:nvSpPr>
          <p:cNvPr id="19" name="Task marker 4"/>
          <p:cNvSpPr/>
          <p:nvPr/>
        </p:nvSpPr>
        <p:spPr>
          <a:xfrm>
            <a:off x="4206240" y="397306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ask number"/>
          <p:cNvSpPr txBox="1"/>
          <p:nvPr/>
        </p:nvSpPr>
        <p:spPr>
          <a:xfrm>
            <a:off x="4206240" y="3973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ask text"/>
          <p:cNvSpPr txBox="1"/>
          <p:nvPr/>
        </p:nvSpPr>
        <p:spPr>
          <a:xfrm>
            <a:off x="4846320" y="37947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Tell your partner one thing done well and one improvement.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Exit questions: Session 4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548640" y="146304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Question marker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Question number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7" name="Question text"/>
          <p:cNvSpPr txBox="1"/>
          <p:nvPr/>
        </p:nvSpPr>
        <p:spPr>
          <a:xfrm>
            <a:off x="1463040" y="160020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Give two reasons why meaningful names matter.</a:t>
            </a:r>
            <a:endParaRPr lang="en-US" sz="1900" dirty="0"/>
          </a:p>
        </p:txBody>
      </p:sp>
      <p:sp>
        <p:nvSpPr>
          <p:cNvPr id="8" name="Question card 2"/>
          <p:cNvSpPr/>
          <p:nvPr/>
        </p:nvSpPr>
        <p:spPr>
          <a:xfrm>
            <a:off x="6227064" y="146304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9" name="Question marker"/>
          <p:cNvSpPr/>
          <p:nvPr/>
        </p:nvSpPr>
        <p:spPr>
          <a:xfrm>
            <a:off x="6455664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Question number"/>
          <p:cNvSpPr txBox="1"/>
          <p:nvPr/>
        </p:nvSpPr>
        <p:spPr>
          <a:xfrm>
            <a:off x="645566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Question text"/>
          <p:cNvSpPr txBox="1"/>
          <p:nvPr/>
        </p:nvSpPr>
        <p:spPr>
          <a:xfrm>
            <a:off x="7141464" y="160020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What is a docstring and where does it go?</a:t>
            </a:r>
            <a:endParaRPr lang="en-US" sz="1900" dirty="0"/>
          </a:p>
        </p:txBody>
      </p:sp>
      <p:sp>
        <p:nvSpPr>
          <p:cNvPr id="12" name="Question card 3"/>
          <p:cNvSpPr/>
          <p:nvPr/>
        </p:nvSpPr>
        <p:spPr>
          <a:xfrm>
            <a:off x="548640" y="379476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Question marker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estion number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Question text"/>
          <p:cNvSpPr txBox="1"/>
          <p:nvPr/>
        </p:nvSpPr>
        <p:spPr>
          <a:xfrm>
            <a:off x="1463040" y="393192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Why is a function that returns a value easier to test than one that prints?</a:t>
            </a:r>
            <a:endParaRPr lang="en-US" sz="1900" dirty="0"/>
          </a:p>
        </p:txBody>
      </p:sp>
      <p:sp>
        <p:nvSpPr>
          <p:cNvPr id="16" name="Question card 4"/>
          <p:cNvSpPr/>
          <p:nvPr/>
        </p:nvSpPr>
        <p:spPr>
          <a:xfrm>
            <a:off x="6227064" y="3794760"/>
            <a:ext cx="54132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7" name="Question marker"/>
          <p:cNvSpPr/>
          <p:nvPr/>
        </p:nvSpPr>
        <p:spPr>
          <a:xfrm>
            <a:off x="6455664" y="4023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Question number"/>
          <p:cNvSpPr txBox="1"/>
          <p:nvPr/>
        </p:nvSpPr>
        <p:spPr>
          <a:xfrm>
            <a:off x="645566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</a:t>
            </a:r>
            <a:endParaRPr lang="en-US" sz="1400" dirty="0"/>
          </a:p>
        </p:txBody>
      </p:sp>
      <p:sp>
        <p:nvSpPr>
          <p:cNvPr id="19" name="Question text"/>
          <p:cNvSpPr txBox="1"/>
          <p:nvPr/>
        </p:nvSpPr>
        <p:spPr>
          <a:xfrm>
            <a:off x="7141464" y="3931920"/>
            <a:ext cx="4270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Name two PEP 8 conventions.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Class 2 summary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CheckCircle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39442"/>
            <a:ext cx="373075" cy="373075"/>
          </a:xfrm>
          <a:prstGeom prst="rect">
            <a:avLst/>
          </a:prstGeom>
        </p:spPr>
      </p:pic>
      <p:sp>
        <p:nvSpPr>
          <p:cNvPr id="7" name="Text 31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Today you did</a:t>
            </a:r>
            <a:endParaRPr lang="en-US" sz="2400" dirty="0"/>
          </a:p>
        </p:txBody>
      </p:sp>
      <p:sp>
        <p:nvSpPr>
          <p:cNvPr id="8" name="Text 32"/>
          <p:cNvSpPr txBox="1"/>
          <p:nvPr/>
        </p:nvSpPr>
        <p:spPr>
          <a:xfrm>
            <a:off x="8229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Used breakpoints, watch lists and tracing, wrote a debugging log, refactored a messy program and reviewed a peer's code.</a:t>
            </a:r>
            <a:endParaRPr lang="en-US" sz="1900" dirty="0"/>
          </a:p>
        </p:txBody>
      </p:sp>
      <p:sp>
        <p:nvSpPr>
          <p:cNvPr id="9" name="Card 2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08576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ClipboardCheck" descr="Clipboard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1939442"/>
            <a:ext cx="373075" cy="373075"/>
          </a:xfrm>
          <a:prstGeom prst="rect">
            <a:avLst/>
          </a:prstGeom>
        </p:spPr>
      </p:pic>
      <p:sp>
        <p:nvSpPr>
          <p:cNvPr id="12" name="Text 33"/>
          <p:cNvSpPr txBox="1"/>
          <p:nvPr/>
        </p:nvSpPr>
        <p:spPr>
          <a:xfrm>
            <a:off x="4608576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Evidence to submit</a:t>
            </a:r>
            <a:endParaRPr lang="en-US" sz="2400" dirty="0"/>
          </a:p>
        </p:txBody>
      </p:sp>
      <p:sp>
        <p:nvSpPr>
          <p:cNvPr id="13" name="Text 34"/>
          <p:cNvSpPr txBox="1"/>
          <p:nvPr/>
        </p:nvSpPr>
        <p:spPr>
          <a:xfrm>
            <a:off x="4608576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Corrected source code, debugging log, before-and-after code and the completed code-review checklist.</a:t>
            </a:r>
            <a:endParaRPr lang="en-US" sz="1900" dirty="0"/>
          </a:p>
        </p:txBody>
      </p:sp>
      <p:sp>
        <p:nvSpPr>
          <p:cNvPr id="14" name="Card 3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94192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Rocket" descr="Rocke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274" y="1939442"/>
            <a:ext cx="373075" cy="373075"/>
          </a:xfrm>
          <a:prstGeom prst="rect">
            <a:avLst/>
          </a:prstGeom>
        </p:spPr>
      </p:pic>
      <p:sp>
        <p:nvSpPr>
          <p:cNvPr id="17" name="Text 35"/>
          <p:cNvSpPr txBox="1"/>
          <p:nvPr/>
        </p:nvSpPr>
        <p:spPr>
          <a:xfrm>
            <a:off x="8394192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Next class</a:t>
            </a:r>
            <a:endParaRPr lang="en-US" sz="2400" dirty="0"/>
          </a:p>
        </p:txBody>
      </p:sp>
      <p:sp>
        <p:nvSpPr>
          <p:cNvPr id="18" name="Text 36"/>
          <p:cNvSpPr txBox="1"/>
          <p:nvPr/>
        </p:nvSpPr>
        <p:spPr>
          <a:xfrm>
            <a:off x="8394192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Secure programming and testing, then building and delivering a small Task Tracker application.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CIC Navy Gold">
  <a:themeElements>
    <a:clrScheme name="KCIC Navy Gold">
      <a:dk1>
        <a:srgbClr val="1F2937"/>
      </a:dk1>
      <a:lt1>
        <a:srgbClr val="FFFFFF"/>
      </a:lt1>
      <a:dk2>
        <a:srgbClr val="03265E"/>
      </a:dk2>
      <a:lt2>
        <a:srgbClr val="F1F4F9"/>
      </a:lt2>
      <a:accent1>
        <a:srgbClr val="03265E"/>
      </a:accent1>
      <a:accent2>
        <a:srgbClr val="B8975A"/>
      </a:accent2>
      <a:accent3>
        <a:srgbClr val="1E7A4F"/>
      </a:accent3>
      <a:accent4>
        <a:srgbClr val="B3261E"/>
      </a:accent4>
      <a:accent5>
        <a:srgbClr val="2F6DB5"/>
      </a:accent5>
      <a:accent6>
        <a:srgbClr val="5B6678"/>
      </a:accent6>
      <a:hlink>
        <a:srgbClr val="2F6DB5"/>
      </a:hlink>
      <a:folHlink>
        <a:srgbClr val="5B6678"/>
      </a:folHlink>
    </a:clrScheme>
    <a:fontScheme name="KCIC Navy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Kings Cornerstone International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2 - Debugging Tools and Coding Standards</dc:title>
  <dc:subject>Sessions 3-4</dc:subject>
  <dc:creator>KCIC Computing Department</dc:creator>
  <cp:lastModifiedBy>KCIC Computing Department</cp:lastModifiedBy>
  <cp:revision>1</cp:revision>
  <dcterms:created xsi:type="dcterms:W3CDTF">2026-10-11T08:19:25Z</dcterms:created>
  <dcterms:modified xsi:type="dcterms:W3CDTF">2026-10-11T08:19:25Z</dcterms:modified>
</cp:coreProperties>
</file>