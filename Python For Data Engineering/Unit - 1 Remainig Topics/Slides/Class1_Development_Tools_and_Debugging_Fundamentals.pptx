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edf5338-daf5-1cfe-6584-43b6d4214c82}">
          <p14:sldIdLst>
            <p14:sldId id="256"/>
            <p14:sldId id="257"/>
          </p14:sldIdLst>
        </p14:section>
        <p14:section name="Session 1 - IDE and workflow" id="{3ed326d3-6739-0518-4d09-2603bcc2d7bb}">
          <p14:sldIdLst>
            <p14:sldId id="258"/>
            <p14:sldId id="259"/>
            <p14:sldId id="260"/>
            <p14:sldId id="261"/>
            <p14:sldId id="262"/>
            <p14:sldId id="263"/>
            <p14:sldId id="264"/>
            <p14:sldId id="265"/>
            <p14:sldId id="266"/>
            <p14:sldId id="267"/>
            <p14:sldId id="268"/>
          </p14:sldIdLst>
        </p14:section>
        <p14:section name="Session 2 - Errors and debugging process" id="{100d2062-6f68-ef04-1bde-01d911e34ed9}">
          <p14:sldIdLst>
            <p14:sldId id="269"/>
            <p14:sldId id="270"/>
            <p14:sldId id="271"/>
            <p14:sldId id="272"/>
            <p14:sldId id="273"/>
            <p14:sldId id="274"/>
            <p14:sldId id="275"/>
            <p14:sldId id="276"/>
            <p14:sldId id="277"/>
            <p14:sldId id="278"/>
            <p14:sldId id="279"/>
            <p14:sldId id="280"/>
          </p14:sldIdLst>
        </p14:section>
        <p14:section name="Summary" id="{ea2ad94f-b806-a2ff-99f3-6ecd36b9139d}">
          <p14:sldIdLst>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This class is practical: roughly 70-80% of the time is spent using the tools. Make sure every student has Python and VS Code installed and working before the session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three cards aloud. Emphasise that students already know Python fundamentals, so no time is spent re-teaching syntax. The focus is on the tools and on professional habits.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 Pearson alignment LO2 and LO3.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min. Introduce objectives. Then ask: "How do you currently write and run your Python programs?" Take 3-4 answers (IDLE, Jupyter, online editors, VS Code). Use the answers to show the variety of tools in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plan so students know the session is mostly hands-on. Point out the 45-70 minute block is entirely their own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 min. Explain the difference in terms of what happens when something goes wrong: an IDE shows the problem where you write the code. Pearson essential content names advanced text editors, so briefly show Notepad++ and Sublime Text (2 minutes) but do not teach their features in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comparison. Stress that students should still practise the main IDE workflow in VS Code. The notebook is a supplementary workbook, not the main development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15-30 min. Live demo. Open VS Code and point to each numbered area in turn. Ask students to find each one on their own screen as you go. Debugger detail comes in Sessions 2 and 3, so only name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30-45 min. Guided coding. Narrate every action: "I am using the explorer to create a file", "I am saving", "I am switching to the terminal". Students follow on their own machines. Check that everyone selects the correct Python interpreter in the status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this live rather than pasting, so students see the process. The starter file is also provided in the pack under Class1/Unit1_Project.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and help students who cannot select the interpreter or whose terminal opens in the wrong folder (use cd or open the folder in VS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60-70 min. Walk round and ask individual students to show you each component. Tick the IDE component checklist (in the student worksheets)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70-75 min. Students answer on paper or on Moodle. Suggested answers: (1) integrated terminal, debugger, error highlighting, project explorer; (2) the terminal; (3) the Problems panel and the editor underlines; (4) the interpreter shown in the status bar, or Ctrl+Shift+P then Python: Select Interpreter.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2. Pearson alignment LO4.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min. Let students discuss. Expected: 300. Actual: 103. This leads directly to the idea that not all errors announce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plan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 min. Keep the explanation short; the demonstrations follow. Ask: which of the three is hardest to find, and why? (Logical, because nothing tells you it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as a reference during the practical. Students should be able to place any error into one of the three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15-30 min. Run each example live. Show how VS Code underlines the problem in red and lists it in the Problems panel. Python version differences affect the exact wording of the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traceback structure: file, line, code, then error type. Ask students what input would make this line work (for example "42").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starter question. Emphasise: the only way to find this error is to know what the correct answer should be, which is why we test and why we document expected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Files: syntax_error.py, runtime_error.py, logical_error.py. Let students struggle productively for a few minutes before intervening. Solutions are in the Tutor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50-62 min. Demonstrate the workflow on the logical error: reproduce (run, see 103), investigate (what is price + quantity?), correct (use *), retest (300, and try other values). Stress changing one thing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62-70 min. Show this completed example and then students complete the blank worksheet for one error of their own choice from the practical.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70-75 min. Suggested answers: (1) logical; (2) syntax; (3) reproduce, investigate, correct, retest; (4) you must show how you verified the fix with a test. Review the most common mistakes from the practical.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evidence and remind students to bring their laptops with VS Code working. Upload completed worksheets to Moodle.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pic>
        <p:nvPicPr>
          <p:cNvPr id="2" name="Image 0" descr="/home/claude/pack/assets/kcic_logo.png">    </p:cNvPr>
          <p:cNvPicPr>
            <a:picLocks noChangeAspect="1"/>
          </p:cNvPicPr>
          <p:nvPr/>
        </p:nvPicPr>
        <p:blipFill>
          <a:blip r:embed="rId1"/>
          <a:stretch>
            <a:fillRect/>
          </a:stretch>
        </p:blipFill>
        <p:spPr>
          <a:xfrm>
            <a:off x="9682996" y="347472"/>
            <a:ext cx="1960059" cy="420624"/>
          </a:xfrm>
          <a:prstGeom prst="rect">
            <a:avLst/>
          </a:prstGeom>
        </p:spPr>
      </p:pic>
      <p:sp>
        <p:nvSpPr>
          <p:cNvPr id="3"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chemeClr val="accent6"/>
                </a:solidFill>
              </a:rPr>
              <a:t>KCIC  |  Pearson BTEC HND Computing  |  Development Tools, Debugging &amp; Secure Delivery</a:t>
            </a:r>
            <a:endParaRPr lang="en-US" sz="1000" dirty="0"/>
          </a:p>
        </p:txBody>
      </p:sp>
      <p:sp>
        <p:nvSpPr>
          <p:cNvPr id="4" name="Text 1"/>
          <p:cNvSpPr/>
          <p:nvPr>
            <p:ph idx="102" type="title" hasCustomPrompt="1"/>
          </p:nvPr>
        </p:nvSpPr>
        <p:spPr>
          <a:xfrm>
            <a:off x="548640" y="274320"/>
            <a:ext cx="8778240" cy="868680"/>
          </a:xfrm>
          <a:prstGeom prst="rect">
            <a:avLst/>
          </a:prstGeom>
          <a:noFill/>
          <a:ln/>
        </p:spPr>
        <p:txBody>
          <a:bodyPr wrap="square" rtlCol="0"/>
          <a:lstStyle>
            <a:lvl1pPr algn="l" indent="0" marL="0">
              <a:buNone/>
              <a:defRPr lang="en-US" sz="3000" b="1" dirty="0">
                <a:solidFill>
                  <a:schemeClr val="accent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chemeClr val="accent1"/>
        </a:solidFill>
      </p:bgPr>
    </p:bg>
    <p:spTree>
      <p:nvGrpSpPr>
        <p:cNvPr id="1" name=""/>
        <p:cNvGrpSpPr/>
        <p:nvPr/>
      </p:nvGrpSpPr>
      <p:grpSpPr>
        <a:xfrm>
          <a:off x="0" y="0"/>
          <a:ext cx="0" cy="0"/>
          <a:chOff x="0" y="0"/>
          <a:chExt cx="0" cy="0"/>
        </a:xfrm>
      </p:grpSpPr>
      <p:pic>
        <p:nvPicPr>
          <p:cNvPr id="2" name="Image 0" descr="/home/claude/pack/assets/kcic_logo.png">    </p:cNvPr>
          <p:cNvPicPr>
            <a:picLocks noChangeAspect="1"/>
          </p:cNvPicPr>
          <p:nvPr/>
        </p:nvPicPr>
        <p:blipFill>
          <a:blip r:embed="rId1"/>
          <a:stretch>
            <a:fillRect/>
          </a:stretch>
        </p:blipFill>
        <p:spPr>
          <a:xfrm>
            <a:off x="777240" y="640080"/>
            <a:ext cx="1960059" cy="420624"/>
          </a:xfrm>
          <a:prstGeom prst="rect">
            <a:avLst/>
          </a:prstGeom>
        </p:spPr>
      </p:pic>
      <p:sp>
        <p:nvSpPr>
          <p:cNvPr id="3" name="Text 0"/>
          <p:cNvSpPr/>
          <p:nvPr>
            <p:ph idx="102" type="title" hasCustomPrompt="1"/>
          </p:nvPr>
        </p:nvSpPr>
        <p:spPr>
          <a:xfrm>
            <a:off x="822960" y="2103120"/>
            <a:ext cx="877824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3" type="body" hasCustomPrompt="1"/>
          </p:nvPr>
        </p:nvSpPr>
        <p:spPr>
          <a:xfrm>
            <a:off x="822960" y="4023360"/>
            <a:ext cx="8778240" cy="109728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
        <p:nvSpPr>
          <p:cNvPr id="5" name="Text 0"/>
          <p:cNvSpPr/>
          <p:nvPr/>
        </p:nvSpPr>
        <p:spPr>
          <a:xfrm>
            <a:off x="822960" y="6126480"/>
            <a:ext cx="10058400" cy="320040"/>
          </a:xfrm>
          <a:prstGeom prst="rect">
            <a:avLst/>
          </a:prstGeom>
          <a:noFill/>
          <a:ln/>
        </p:spPr>
        <p:txBody>
          <a:bodyPr wrap="square" lIns="0" tIns="0" rIns="0" bIns="0" rtlCol="0" anchor="ctr"/>
          <a:lstStyle/>
          <a:p>
            <a:pPr indent="0" marL="0">
              <a:buNone/>
            </a:pPr>
            <a:r>
              <a:rPr lang="en-US" sz="1200" dirty="0">
                <a:solidFill>
                  <a:schemeClr val="accent2"/>
                </a:solidFill>
              </a:rPr>
              <a:t>Kings Cornerstone International College  |  Pearson BTEC Higher National Diploma in Computing</a:t>
            </a:r>
            <a:endParaRPr lang="en-US" sz="1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pic>
        <p:nvPicPr>
          <p:cNvPr id="2" name="Image 0" descr="/home/claude/pack/assets/kcic_logo.png">    </p:cNvPr>
          <p:cNvPicPr>
            <a:picLocks noChangeAspect="1"/>
          </p:cNvPicPr>
          <p:nvPr/>
        </p:nvPicPr>
        <p:blipFill>
          <a:blip r:embed="rId1"/>
          <a:stretch>
            <a:fillRect/>
          </a:stretch>
        </p:blipFill>
        <p:spPr>
          <a:xfrm>
            <a:off x="777240" y="640080"/>
            <a:ext cx="1960059" cy="420624"/>
          </a:xfrm>
          <a:prstGeom prst="rect">
            <a:avLst/>
          </a:prstGeom>
        </p:spPr>
      </p:pic>
      <p:sp>
        <p:nvSpPr>
          <p:cNvPr id="3" name="Text 0"/>
          <p:cNvSpPr/>
          <p:nvPr>
            <p:ph idx="102" type="title" hasCustomPrompt="1"/>
          </p:nvPr>
        </p:nvSpPr>
        <p:spPr>
          <a:xfrm>
            <a:off x="3017520" y="2377440"/>
            <a:ext cx="8229600" cy="137160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4" name="Text 0"/>
          <p:cNvSpPr/>
          <p:nvPr>
            <p:ph idx="103" type="body" hasCustomPrompt="1"/>
          </p:nvPr>
        </p:nvSpPr>
        <p:spPr>
          <a:xfrm>
            <a:off x="3017520" y="3840480"/>
            <a:ext cx="8229600" cy="118872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2.xml"/><Relationship Id="rId5"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2" type="title" hasCustomPrompt="1"/>
          </p:nvPr>
        </p:nvSpPr>
        <p:spPr>
          <a:xfrm>
            <a:off x="822960" y="2103120"/>
            <a:ext cx="8778240" cy="1737360"/>
          </a:xfrm>
          <a:prstGeom prst="rect">
            <a:avLst/>
          </a:prstGeom>
          <a:noFill/>
          <a:ln/>
        </p:spPr>
        <p:txBody>
          <a:bodyPr wrap="square" lIns="0" tIns="0" rIns="0" bIns="0" rtlCol="0" anchor="t"/>
          <a:lstStyle/>
          <a:p>
            <a:pPr algn="l" indent="0" marL="0">
              <a:buNone/>
            </a:pPr>
            <a:r>
              <a:rPr lang="en-US" sz="4400" b="1" dirty="0">
                <a:solidFill>
                  <a:schemeClr val="bg1"/>
                </a:solidFill>
              </a:rPr>
              <a:t>Class 1: Development Tools and Debugging Fundamentals</a:t>
            </a:r>
            <a:endParaRPr lang="en-US" sz="4400" dirty="0"/>
          </a:p>
        </p:txBody>
      </p:sp>
      <p:sp>
        <p:nvSpPr>
          <p:cNvPr id="3" name="Text 0"/>
          <p:cNvSpPr/>
          <p:nvPr>
            <p:ph idx="103" type="body" hasCustomPrompt="1"/>
          </p:nvPr>
        </p:nvSpPr>
        <p:spPr>
          <a:xfrm>
            <a:off x="822960" y="4023360"/>
            <a:ext cx="8778240" cy="1097280"/>
          </a:xfrm>
          <a:prstGeom prst="rect">
            <a:avLst/>
          </a:prstGeom>
          <a:noFill/>
          <a:ln/>
        </p:spPr>
        <p:txBody>
          <a:bodyPr wrap="square" lIns="0" tIns="0" rIns="0" bIns="0" rtlCol="0" anchor="t"/>
          <a:lstStyle/>
          <a:p>
            <a:pPr algn="l" indent="0" marL="0">
              <a:buNone/>
            </a:pPr>
            <a:r>
              <a:rPr lang="en-US" sz="2000" dirty="0">
                <a:solidFill>
                  <a:schemeClr val="bg2"/>
                </a:solidFill>
              </a:rPr>
              <a:t>Sessions 1 and 2  |  150 minutes  |  Learning outcomes LO2, LO3 and LO4</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Class 1 at a glance</a:t>
            </a:r>
            <a:endParaRPr lang="en-US" sz="3000" dirty="0"/>
          </a:p>
        </p:txBody>
      </p:sp>
      <p:sp>
        <p:nvSpPr>
          <p:cNvPr id="4" name="Card 1"/>
          <p:cNvSpPr/>
          <p:nvPr/>
        </p:nvSpPr>
        <p:spPr>
          <a:xfrm>
            <a:off x="548640" y="1463040"/>
            <a:ext cx="3520440" cy="4023360"/>
          </a:xfrm>
          <a:prstGeom prst="roundRect">
            <a:avLst>
              <a:gd name="adj" fmla="val 2597"/>
            </a:avLst>
          </a:prstGeom>
          <a:solidFill>
            <a:schemeClr val="bg2"/>
          </a:solidFill>
          <a:ln/>
        </p:spPr>
      </p:sp>
      <p:sp>
        <p:nvSpPr>
          <p:cNvPr id="5" name="Icon circle"/>
          <p:cNvSpPr/>
          <p:nvPr/>
        </p:nvSpPr>
        <p:spPr>
          <a:xfrm>
            <a:off x="822960" y="1737360"/>
            <a:ext cx="777240" cy="777240"/>
          </a:xfrm>
          <a:prstGeom prst="ellipse">
            <a:avLst/>
          </a:prstGeom>
          <a:solidFill>
            <a:schemeClr val="accent1"/>
          </a:solidFill>
          <a:ln/>
        </p:spPr>
      </p:sp>
      <p:pic>
        <p:nvPicPr>
          <p:cNvPr id="6" name="Icon FaLaptopCode" descr="LaptopCode icon">    </p:cNvPr>
          <p:cNvPicPr>
            <a:picLocks noChangeAspect="1"/>
          </p:cNvPicPr>
          <p:nvPr/>
        </p:nvPicPr>
        <p:blipFill>
          <a:blip r:embed="rId1"/>
          <a:stretch>
            <a:fillRect/>
          </a:stretch>
        </p:blipFill>
        <p:spPr>
          <a:xfrm>
            <a:off x="1025042" y="1939442"/>
            <a:ext cx="373075" cy="373075"/>
          </a:xfrm>
          <a:prstGeom prst="rect">
            <a:avLst/>
          </a:prstGeom>
        </p:spPr>
      </p:pic>
      <p:sp>
        <p:nvSpPr>
          <p:cNvPr id="7" name="Text 1"/>
          <p:cNvSpPr txBox="1"/>
          <p:nvPr/>
        </p:nvSpPr>
        <p:spPr>
          <a:xfrm>
            <a:off x="822960" y="2697480"/>
            <a:ext cx="2971800" cy="548640"/>
          </a:xfrm>
          <a:prstGeom prst="rect">
            <a:avLst/>
          </a:prstGeom>
          <a:noFill/>
          <a:ln/>
        </p:spPr>
        <p:txBody>
          <a:bodyPr wrap="square" lIns="0" tIns="0" rIns="0" bIns="0" rtlCol="0" anchor="t"/>
          <a:lstStyle/>
          <a:p>
            <a:pPr indent="0" marL="0">
              <a:buNone/>
            </a:pPr>
            <a:r>
              <a:rPr lang="en-US" sz="2400" b="1" dirty="0">
                <a:solidFill>
                  <a:schemeClr val="accent1"/>
                </a:solidFill>
              </a:rPr>
              <a:t>Session 1 (75 min)</a:t>
            </a:r>
            <a:endParaRPr lang="en-US" sz="2400" dirty="0"/>
          </a:p>
        </p:txBody>
      </p:sp>
      <p:sp>
        <p:nvSpPr>
          <p:cNvPr id="8" name="Text 2"/>
          <p:cNvSpPr txBox="1"/>
          <p:nvPr/>
        </p:nvSpPr>
        <p:spPr>
          <a:xfrm>
            <a:off x="822960" y="3337560"/>
            <a:ext cx="2971800" cy="1920240"/>
          </a:xfrm>
          <a:prstGeom prst="rect">
            <a:avLst/>
          </a:prstGeom>
          <a:noFill/>
          <a:ln/>
        </p:spPr>
        <p:txBody>
          <a:bodyPr wrap="square" lIns="0" tIns="0" rIns="0" bIns="0" rtlCol="0" anchor="t"/>
          <a:lstStyle/>
          <a:p>
            <a:pPr indent="0" marL="0">
              <a:spcAft>
                <a:spcPts val="400"/>
              </a:spcAft>
              <a:buNone/>
            </a:pPr>
            <a:r>
              <a:rPr lang="en-US" sz="1900" dirty="0">
                <a:solidFill>
                  <a:schemeClr val="tx1"/>
                </a:solidFill>
              </a:rPr>
              <a:t>IDEs, text editors and the development workflow. Create, write and run a Python project in VS Code.</a:t>
            </a:r>
            <a:endParaRPr lang="en-US" sz="1900" dirty="0"/>
          </a:p>
        </p:txBody>
      </p:sp>
      <p:sp>
        <p:nvSpPr>
          <p:cNvPr id="9" name="Card 2"/>
          <p:cNvSpPr/>
          <p:nvPr/>
        </p:nvSpPr>
        <p:spPr>
          <a:xfrm>
            <a:off x="4334256" y="1463040"/>
            <a:ext cx="3520440" cy="4023360"/>
          </a:xfrm>
          <a:prstGeom prst="roundRect">
            <a:avLst>
              <a:gd name="adj" fmla="val 2597"/>
            </a:avLst>
          </a:prstGeom>
          <a:solidFill>
            <a:schemeClr val="bg2"/>
          </a:solidFill>
          <a:ln/>
        </p:spPr>
      </p:sp>
      <p:sp>
        <p:nvSpPr>
          <p:cNvPr id="10" name="Icon circle"/>
          <p:cNvSpPr/>
          <p:nvPr/>
        </p:nvSpPr>
        <p:spPr>
          <a:xfrm>
            <a:off x="4608576" y="1737360"/>
            <a:ext cx="777240" cy="777240"/>
          </a:xfrm>
          <a:prstGeom prst="ellipse">
            <a:avLst/>
          </a:prstGeom>
          <a:solidFill>
            <a:schemeClr val="accent1"/>
          </a:solidFill>
          <a:ln/>
        </p:spPr>
      </p:sp>
      <p:pic>
        <p:nvPicPr>
          <p:cNvPr id="11" name="Icon FaBug" descr="Bug icon">    </p:cNvPr>
          <p:cNvPicPr>
            <a:picLocks noChangeAspect="1"/>
          </p:cNvPicPr>
          <p:nvPr/>
        </p:nvPicPr>
        <p:blipFill>
          <a:blip r:embed="rId2"/>
          <a:stretch>
            <a:fillRect/>
          </a:stretch>
        </p:blipFill>
        <p:spPr>
          <a:xfrm>
            <a:off x="4810658" y="1939442"/>
            <a:ext cx="373075" cy="373075"/>
          </a:xfrm>
          <a:prstGeom prst="rect">
            <a:avLst/>
          </a:prstGeom>
        </p:spPr>
      </p:pic>
      <p:sp>
        <p:nvSpPr>
          <p:cNvPr id="12" name="Text 3"/>
          <p:cNvSpPr txBox="1"/>
          <p:nvPr/>
        </p:nvSpPr>
        <p:spPr>
          <a:xfrm>
            <a:off x="4608576" y="2697480"/>
            <a:ext cx="2971800" cy="548640"/>
          </a:xfrm>
          <a:prstGeom prst="rect">
            <a:avLst/>
          </a:prstGeom>
          <a:noFill/>
          <a:ln/>
        </p:spPr>
        <p:txBody>
          <a:bodyPr wrap="square" lIns="0" tIns="0" rIns="0" bIns="0" rtlCol="0" anchor="t"/>
          <a:lstStyle/>
          <a:p>
            <a:pPr indent="0" marL="0">
              <a:buNone/>
            </a:pPr>
            <a:r>
              <a:rPr lang="en-US" sz="2400" b="1" dirty="0">
                <a:solidFill>
                  <a:schemeClr val="accent1"/>
                </a:solidFill>
              </a:rPr>
              <a:t>Session 2 (75 min)</a:t>
            </a:r>
            <a:endParaRPr lang="en-US" sz="2400" dirty="0"/>
          </a:p>
        </p:txBody>
      </p:sp>
      <p:sp>
        <p:nvSpPr>
          <p:cNvPr id="13" name="Text 4"/>
          <p:cNvSpPr txBox="1"/>
          <p:nvPr/>
        </p:nvSpPr>
        <p:spPr>
          <a:xfrm>
            <a:off x="4608576" y="3337560"/>
            <a:ext cx="2971800" cy="1920240"/>
          </a:xfrm>
          <a:prstGeom prst="rect">
            <a:avLst/>
          </a:prstGeom>
          <a:noFill/>
          <a:ln/>
        </p:spPr>
        <p:txBody>
          <a:bodyPr wrap="square" lIns="0" tIns="0" rIns="0" bIns="0" rtlCol="0" anchor="t"/>
          <a:lstStyle/>
          <a:p>
            <a:pPr indent="0" marL="0">
              <a:spcAft>
                <a:spcPts val="400"/>
              </a:spcAft>
              <a:buNone/>
            </a:pPr>
            <a:r>
              <a:rPr lang="en-US" sz="1900" dirty="0">
                <a:solidFill>
                  <a:schemeClr val="tx1"/>
                </a:solidFill>
              </a:rPr>
              <a:t>Syntax, runtime and logical errors. A structured debugging process and your first debugging report.</a:t>
            </a:r>
            <a:endParaRPr lang="en-US" sz="1900" dirty="0"/>
          </a:p>
        </p:txBody>
      </p:sp>
      <p:sp>
        <p:nvSpPr>
          <p:cNvPr id="14" name="Card 3"/>
          <p:cNvSpPr/>
          <p:nvPr/>
        </p:nvSpPr>
        <p:spPr>
          <a:xfrm>
            <a:off x="8119872" y="1463040"/>
            <a:ext cx="3520440" cy="4023360"/>
          </a:xfrm>
          <a:prstGeom prst="roundRect">
            <a:avLst>
              <a:gd name="adj" fmla="val 2597"/>
            </a:avLst>
          </a:prstGeom>
          <a:solidFill>
            <a:schemeClr val="bg2"/>
          </a:solidFill>
          <a:ln/>
        </p:spPr>
      </p:sp>
      <p:sp>
        <p:nvSpPr>
          <p:cNvPr id="15" name="Icon circle"/>
          <p:cNvSpPr/>
          <p:nvPr/>
        </p:nvSpPr>
        <p:spPr>
          <a:xfrm>
            <a:off x="8394192" y="1737360"/>
            <a:ext cx="777240" cy="777240"/>
          </a:xfrm>
          <a:prstGeom prst="ellipse">
            <a:avLst/>
          </a:prstGeom>
          <a:solidFill>
            <a:schemeClr val="accent1"/>
          </a:solidFill>
          <a:ln/>
        </p:spPr>
      </p:sp>
      <p:pic>
        <p:nvPicPr>
          <p:cNvPr id="16" name="Icon FaCheckCircle" descr="CheckCircle icon">    </p:cNvPr>
          <p:cNvPicPr>
            <a:picLocks noChangeAspect="1"/>
          </p:cNvPicPr>
          <p:nvPr/>
        </p:nvPicPr>
        <p:blipFill>
          <a:blip r:embed="rId3"/>
          <a:stretch>
            <a:fillRect/>
          </a:stretch>
        </p:blipFill>
        <p:spPr>
          <a:xfrm>
            <a:off x="8596274" y="1939442"/>
            <a:ext cx="373075" cy="373075"/>
          </a:xfrm>
          <a:prstGeom prst="rect">
            <a:avLst/>
          </a:prstGeom>
        </p:spPr>
      </p:pic>
      <p:sp>
        <p:nvSpPr>
          <p:cNvPr id="17" name="Text 5"/>
          <p:cNvSpPr txBox="1"/>
          <p:nvPr/>
        </p:nvSpPr>
        <p:spPr>
          <a:xfrm>
            <a:off x="8394192" y="2697480"/>
            <a:ext cx="2971800" cy="548640"/>
          </a:xfrm>
          <a:prstGeom prst="rect">
            <a:avLst/>
          </a:prstGeom>
          <a:noFill/>
          <a:ln/>
        </p:spPr>
        <p:txBody>
          <a:bodyPr wrap="square" lIns="0" tIns="0" rIns="0" bIns="0" rtlCol="0" anchor="t"/>
          <a:lstStyle/>
          <a:p>
            <a:pPr indent="0" marL="0">
              <a:buNone/>
            </a:pPr>
            <a:r>
              <a:rPr lang="en-US" sz="2400" b="1" dirty="0">
                <a:solidFill>
                  <a:schemeClr val="accent1"/>
                </a:solidFill>
              </a:rPr>
              <a:t>You leave able to</a:t>
            </a:r>
            <a:endParaRPr lang="en-US" sz="2400" dirty="0"/>
          </a:p>
        </p:txBody>
      </p:sp>
      <p:sp>
        <p:nvSpPr>
          <p:cNvPr id="18" name="Text 6"/>
          <p:cNvSpPr txBox="1"/>
          <p:nvPr/>
        </p:nvSpPr>
        <p:spPr>
          <a:xfrm>
            <a:off x="8394192" y="3337560"/>
            <a:ext cx="2971800" cy="1920240"/>
          </a:xfrm>
          <a:prstGeom prst="rect">
            <a:avLst/>
          </a:prstGeom>
          <a:noFill/>
          <a:ln/>
        </p:spPr>
        <p:txBody>
          <a:bodyPr wrap="square" lIns="0" tIns="0" rIns="0" bIns="0" rtlCol="0" anchor="t"/>
          <a:lstStyle/>
          <a:p>
            <a:pPr indent="0" marL="0">
              <a:spcAft>
                <a:spcPts val="400"/>
              </a:spcAft>
              <a:buNone/>
            </a:pPr>
            <a:r>
              <a:rPr lang="en-US" sz="1900" dirty="0">
                <a:solidFill>
                  <a:schemeClr val="tx1"/>
                </a:solidFill>
              </a:rPr>
              <a:t>Navigate an IDE confidently, run a project, classify an error and explain how you found and fixed it.</a:t>
            </a:r>
            <a:endParaRPr lang="en-US" sz="19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ssion badge"/>
          <p:cNvSpPr/>
          <p:nvPr/>
        </p:nvSpPr>
        <p:spPr>
          <a:xfrm>
            <a:off x="822960" y="2514600"/>
            <a:ext cx="1737360" cy="1737360"/>
          </a:xfrm>
          <a:prstGeom prst="ellipse">
            <a:avLst/>
          </a:prstGeom>
          <a:solidFill>
            <a:schemeClr val="accent2"/>
          </a:solidFill>
          <a:ln/>
        </p:spPr>
      </p:sp>
      <p:sp>
        <p:nvSpPr>
          <p:cNvPr id="3" name="Session number"/>
          <p:cNvSpPr txBox="1"/>
          <p:nvPr/>
        </p:nvSpPr>
        <p:spPr>
          <a:xfrm>
            <a:off x="822960" y="2514600"/>
            <a:ext cx="1737360" cy="1737360"/>
          </a:xfrm>
          <a:prstGeom prst="rect">
            <a:avLst/>
          </a:prstGeom>
          <a:noFill/>
          <a:ln/>
        </p:spPr>
        <p:txBody>
          <a:bodyPr wrap="square" lIns="0" tIns="0" rIns="0" bIns="0" rtlCol="0" anchor="ctr"/>
          <a:lstStyle/>
          <a:p>
            <a:pPr algn="ctr" indent="0" marL="0">
              <a:buNone/>
            </a:pPr>
            <a:r>
              <a:rPr lang="en-US" sz="8000" b="1" dirty="0">
                <a:solidFill>
                  <a:schemeClr val="accent1"/>
                </a:solidFill>
                <a:latin typeface="Cambria" pitchFamily="34" charset="0"/>
                <a:ea typeface="Cambria" pitchFamily="34" charset="-122"/>
                <a:cs typeface="Cambria" pitchFamily="34" charset="-120"/>
              </a:rPr>
              <a:t>1</a:t>
            </a:r>
            <a:endParaRPr lang="en-US" sz="8000" dirty="0"/>
          </a:p>
        </p:txBody>
      </p:sp>
      <p:sp>
        <p:nvSpPr>
          <p:cNvPr id="4" name="Text 0"/>
          <p:cNvSpPr/>
          <p:nvPr>
            <p:ph idx="102" type="title" hasCustomPrompt="1"/>
          </p:nvPr>
        </p:nvSpPr>
        <p:spPr>
          <a:xfrm>
            <a:off x="3017520" y="2377440"/>
            <a:ext cx="8229600" cy="1371600"/>
          </a:xfrm>
          <a:prstGeom prst="rect">
            <a:avLst/>
          </a:prstGeom>
          <a:noFill/>
          <a:ln/>
        </p:spPr>
        <p:txBody>
          <a:bodyPr wrap="square" lIns="0" tIns="0" rIns="0" bIns="0" rtlCol="0" anchor="ctr"/>
          <a:lstStyle/>
          <a:p>
            <a:pPr algn="l" indent="0" marL="0">
              <a:buNone/>
            </a:pPr>
            <a:r>
              <a:rPr lang="en-US" sz="4200" b="1" dirty="0">
                <a:solidFill>
                  <a:schemeClr val="bg1"/>
                </a:solidFill>
              </a:rPr>
              <a:t>IDE, Text Editors and the Development Workflow</a:t>
            </a:r>
            <a:endParaRPr lang="en-US" sz="4200" dirty="0"/>
          </a:p>
        </p:txBody>
      </p:sp>
      <p:sp>
        <p:nvSpPr>
          <p:cNvPr id="5" name="Text 0"/>
          <p:cNvSpPr/>
          <p:nvPr>
            <p:ph idx="103" type="body" hasCustomPrompt="1"/>
          </p:nvPr>
        </p:nvSpPr>
        <p:spPr>
          <a:xfrm>
            <a:off x="3017520" y="3840480"/>
            <a:ext cx="8229600" cy="1188720"/>
          </a:xfrm>
          <a:prstGeom prst="rect">
            <a:avLst/>
          </a:prstGeom>
          <a:noFill/>
          <a:ln/>
        </p:spPr>
        <p:txBody>
          <a:bodyPr wrap="square" lIns="0" tIns="0" rIns="0" bIns="0" rtlCol="0" anchor="t"/>
          <a:lstStyle/>
          <a:p>
            <a:pPr algn="l" indent="0" marL="0">
              <a:buNone/>
            </a:pPr>
            <a:r>
              <a:rPr lang="en-US" sz="2000" dirty="0">
                <a:solidFill>
                  <a:schemeClr val="bg2"/>
                </a:solidFill>
              </a:rPr>
              <a:t>Pearson alignment: LO2 and LO3  |  75 minutes</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Session 1 learning objectives</a:t>
            </a:r>
            <a:endParaRPr lang="en-US" sz="3000" dirty="0"/>
          </a:p>
        </p:txBody>
      </p:sp>
      <p:sp>
        <p:nvSpPr>
          <p:cNvPr id="4" name="Card 1"/>
          <p:cNvSpPr/>
          <p:nvPr/>
        </p:nvSpPr>
        <p:spPr>
          <a:xfrm>
            <a:off x="548640" y="1463040"/>
            <a:ext cx="3520440" cy="4023360"/>
          </a:xfrm>
          <a:prstGeom prst="roundRect">
            <a:avLst>
              <a:gd name="adj" fmla="val 2597"/>
            </a:avLst>
          </a:prstGeom>
          <a:solidFill>
            <a:schemeClr val="bg2"/>
          </a:solidFill>
          <a:ln/>
        </p:spPr>
      </p:sp>
      <p:sp>
        <p:nvSpPr>
          <p:cNvPr id="5" name="Icon circle"/>
          <p:cNvSpPr/>
          <p:nvPr/>
        </p:nvSpPr>
        <p:spPr>
          <a:xfrm>
            <a:off x="822960" y="1737360"/>
            <a:ext cx="777240" cy="777240"/>
          </a:xfrm>
          <a:prstGeom prst="ellipse">
            <a:avLst/>
          </a:prstGeom>
          <a:solidFill>
            <a:schemeClr val="accent1"/>
          </a:solidFill>
          <a:ln/>
        </p:spPr>
      </p:sp>
      <p:pic>
        <p:nvPicPr>
          <p:cNvPr id="6" name="Icon FaPuzzlePiece" descr="PuzzlePiece icon">    </p:cNvPr>
          <p:cNvPicPr>
            <a:picLocks noChangeAspect="1"/>
          </p:cNvPicPr>
          <p:nvPr/>
        </p:nvPicPr>
        <p:blipFill>
          <a:blip r:embed="rId1"/>
          <a:stretch>
            <a:fillRect/>
          </a:stretch>
        </p:blipFill>
        <p:spPr>
          <a:xfrm>
            <a:off x="1025042" y="1939442"/>
            <a:ext cx="373075" cy="373075"/>
          </a:xfrm>
          <a:prstGeom prst="rect">
            <a:avLst/>
          </a:prstGeom>
        </p:spPr>
      </p:pic>
      <p:sp>
        <p:nvSpPr>
          <p:cNvPr id="7" name="Text 7"/>
          <p:cNvSpPr txBox="1"/>
          <p:nvPr/>
        </p:nvSpPr>
        <p:spPr>
          <a:xfrm>
            <a:off x="822960" y="2697480"/>
            <a:ext cx="2971800" cy="548640"/>
          </a:xfrm>
          <a:prstGeom prst="rect">
            <a:avLst/>
          </a:prstGeom>
          <a:noFill/>
          <a:ln/>
        </p:spPr>
        <p:txBody>
          <a:bodyPr wrap="square" lIns="0" tIns="0" rIns="0" bIns="0" rtlCol="0" anchor="t"/>
          <a:lstStyle/>
          <a:p>
            <a:pPr indent="0" marL="0">
              <a:buNone/>
            </a:pPr>
            <a:r>
              <a:rPr lang="en-US" sz="2400" b="1" dirty="0">
                <a:solidFill>
                  <a:schemeClr val="accent1"/>
                </a:solidFill>
              </a:rPr>
              <a:t>Identify</a:t>
            </a:r>
            <a:endParaRPr lang="en-US" sz="2400" dirty="0"/>
          </a:p>
        </p:txBody>
      </p:sp>
      <p:sp>
        <p:nvSpPr>
          <p:cNvPr id="8" name="Text 8"/>
          <p:cNvSpPr txBox="1"/>
          <p:nvPr/>
        </p:nvSpPr>
        <p:spPr>
          <a:xfrm>
            <a:off x="822960" y="3337560"/>
            <a:ext cx="2971800" cy="1920240"/>
          </a:xfrm>
          <a:prstGeom prst="rect">
            <a:avLst/>
          </a:prstGeom>
          <a:noFill/>
          <a:ln/>
        </p:spPr>
        <p:txBody>
          <a:bodyPr wrap="square" lIns="0" tIns="0" rIns="0" bIns="0" rtlCol="0" anchor="t"/>
          <a:lstStyle/>
          <a:p>
            <a:pPr indent="0" marL="0">
              <a:spcAft>
                <a:spcPts val="400"/>
              </a:spcAft>
              <a:buNone/>
            </a:pPr>
            <a:r>
              <a:rPr lang="en-US" sz="1900" dirty="0">
                <a:solidFill>
                  <a:schemeClr val="tx1"/>
                </a:solidFill>
              </a:rPr>
              <a:t>Name and locate the main components of an IDE and explain what each one is for.</a:t>
            </a:r>
            <a:endParaRPr lang="en-US" sz="1900" dirty="0"/>
          </a:p>
        </p:txBody>
      </p:sp>
      <p:sp>
        <p:nvSpPr>
          <p:cNvPr id="9" name="Card 2"/>
          <p:cNvSpPr/>
          <p:nvPr/>
        </p:nvSpPr>
        <p:spPr>
          <a:xfrm>
            <a:off x="4334256" y="1463040"/>
            <a:ext cx="3520440" cy="4023360"/>
          </a:xfrm>
          <a:prstGeom prst="roundRect">
            <a:avLst>
              <a:gd name="adj" fmla="val 2597"/>
            </a:avLst>
          </a:prstGeom>
          <a:solidFill>
            <a:schemeClr val="bg2"/>
          </a:solidFill>
          <a:ln/>
        </p:spPr>
      </p:sp>
      <p:sp>
        <p:nvSpPr>
          <p:cNvPr id="10" name="Icon circle"/>
          <p:cNvSpPr/>
          <p:nvPr/>
        </p:nvSpPr>
        <p:spPr>
          <a:xfrm>
            <a:off x="4608576" y="1737360"/>
            <a:ext cx="777240" cy="777240"/>
          </a:xfrm>
          <a:prstGeom prst="ellipse">
            <a:avLst/>
          </a:prstGeom>
          <a:solidFill>
            <a:schemeClr val="accent1"/>
          </a:solidFill>
          <a:ln/>
        </p:spPr>
      </p:sp>
      <p:pic>
        <p:nvPicPr>
          <p:cNvPr id="11" name="Icon FaFolderOpen" descr="FolderOpen icon">    </p:cNvPr>
          <p:cNvPicPr>
            <a:picLocks noChangeAspect="1"/>
          </p:cNvPicPr>
          <p:nvPr/>
        </p:nvPicPr>
        <p:blipFill>
          <a:blip r:embed="rId2"/>
          <a:stretch>
            <a:fillRect/>
          </a:stretch>
        </p:blipFill>
        <p:spPr>
          <a:xfrm>
            <a:off x="4810658" y="1939442"/>
            <a:ext cx="373075" cy="373075"/>
          </a:xfrm>
          <a:prstGeom prst="rect">
            <a:avLst/>
          </a:prstGeom>
        </p:spPr>
      </p:pic>
      <p:sp>
        <p:nvSpPr>
          <p:cNvPr id="12" name="Text 9"/>
          <p:cNvSpPr txBox="1"/>
          <p:nvPr/>
        </p:nvSpPr>
        <p:spPr>
          <a:xfrm>
            <a:off x="4608576" y="2697480"/>
            <a:ext cx="2971800" cy="548640"/>
          </a:xfrm>
          <a:prstGeom prst="rect">
            <a:avLst/>
          </a:prstGeom>
          <a:noFill/>
          <a:ln/>
        </p:spPr>
        <p:txBody>
          <a:bodyPr wrap="square" lIns="0" tIns="0" rIns="0" bIns="0" rtlCol="0" anchor="t"/>
          <a:lstStyle/>
          <a:p>
            <a:pPr indent="0" marL="0">
              <a:buNone/>
            </a:pPr>
            <a:r>
              <a:rPr lang="en-US" sz="2400" b="1" dirty="0">
                <a:solidFill>
                  <a:schemeClr val="accent1"/>
                </a:solidFill>
              </a:rPr>
              <a:t>Create and run</a:t>
            </a:r>
            <a:endParaRPr lang="en-US" sz="2400" dirty="0"/>
          </a:p>
        </p:txBody>
      </p:sp>
      <p:sp>
        <p:nvSpPr>
          <p:cNvPr id="13" name="Text 10"/>
          <p:cNvSpPr txBox="1"/>
          <p:nvPr/>
        </p:nvSpPr>
        <p:spPr>
          <a:xfrm>
            <a:off x="4608576" y="3337560"/>
            <a:ext cx="2971800" cy="1920240"/>
          </a:xfrm>
          <a:prstGeom prst="rect">
            <a:avLst/>
          </a:prstGeom>
          <a:noFill/>
          <a:ln/>
        </p:spPr>
        <p:txBody>
          <a:bodyPr wrap="square" lIns="0" tIns="0" rIns="0" bIns="0" rtlCol="0" anchor="t"/>
          <a:lstStyle/>
          <a:p>
            <a:pPr indent="0" marL="0">
              <a:spcAft>
                <a:spcPts val="400"/>
              </a:spcAft>
              <a:buNone/>
            </a:pPr>
            <a:r>
              <a:rPr lang="en-US" sz="1900" dirty="0">
                <a:solidFill>
                  <a:schemeClr val="tx1"/>
                </a:solidFill>
              </a:rPr>
              <a:t>Set up a Python project, write a script and run it from the terminal.</a:t>
            </a:r>
            <a:endParaRPr lang="en-US" sz="1900" dirty="0"/>
          </a:p>
        </p:txBody>
      </p:sp>
      <p:sp>
        <p:nvSpPr>
          <p:cNvPr id="14" name="Card 3"/>
          <p:cNvSpPr/>
          <p:nvPr/>
        </p:nvSpPr>
        <p:spPr>
          <a:xfrm>
            <a:off x="8119872" y="1463040"/>
            <a:ext cx="3520440" cy="4023360"/>
          </a:xfrm>
          <a:prstGeom prst="roundRect">
            <a:avLst>
              <a:gd name="adj" fmla="val 2597"/>
            </a:avLst>
          </a:prstGeom>
          <a:solidFill>
            <a:schemeClr val="bg2"/>
          </a:solidFill>
          <a:ln/>
        </p:spPr>
      </p:sp>
      <p:sp>
        <p:nvSpPr>
          <p:cNvPr id="15" name="Icon circle"/>
          <p:cNvSpPr/>
          <p:nvPr/>
        </p:nvSpPr>
        <p:spPr>
          <a:xfrm>
            <a:off x="8394192" y="1737360"/>
            <a:ext cx="777240" cy="777240"/>
          </a:xfrm>
          <a:prstGeom prst="ellipse">
            <a:avLst/>
          </a:prstGeom>
          <a:solidFill>
            <a:schemeClr val="accent1"/>
          </a:solidFill>
          <a:ln/>
        </p:spPr>
      </p:sp>
      <p:pic>
        <p:nvPicPr>
          <p:cNvPr id="16" name="Icon FaProjectDiagram" descr="ProjectDiagram icon">    </p:cNvPr>
          <p:cNvPicPr>
            <a:picLocks noChangeAspect="1"/>
          </p:cNvPicPr>
          <p:nvPr/>
        </p:nvPicPr>
        <p:blipFill>
          <a:blip r:embed="rId3"/>
          <a:stretch>
            <a:fillRect/>
          </a:stretch>
        </p:blipFill>
        <p:spPr>
          <a:xfrm>
            <a:off x="8596274" y="1939442"/>
            <a:ext cx="373075" cy="373075"/>
          </a:xfrm>
          <a:prstGeom prst="rect">
            <a:avLst/>
          </a:prstGeom>
        </p:spPr>
      </p:pic>
      <p:sp>
        <p:nvSpPr>
          <p:cNvPr id="17" name="Text 11"/>
          <p:cNvSpPr txBox="1"/>
          <p:nvPr/>
        </p:nvSpPr>
        <p:spPr>
          <a:xfrm>
            <a:off x="8394192" y="2697480"/>
            <a:ext cx="2971800" cy="548640"/>
          </a:xfrm>
          <a:prstGeom prst="rect">
            <a:avLst/>
          </a:prstGeom>
          <a:noFill/>
          <a:ln/>
        </p:spPr>
        <p:txBody>
          <a:bodyPr wrap="square" lIns="0" tIns="0" rIns="0" bIns="0" rtlCol="0" anchor="t"/>
          <a:lstStyle/>
          <a:p>
            <a:pPr indent="0" marL="0">
              <a:buNone/>
            </a:pPr>
            <a:r>
              <a:rPr lang="en-US" sz="2400" b="1" dirty="0">
                <a:solidFill>
                  <a:schemeClr val="accent1"/>
                </a:solidFill>
              </a:rPr>
              <a:t>Explain</a:t>
            </a:r>
            <a:endParaRPr lang="en-US" sz="2400" dirty="0"/>
          </a:p>
        </p:txBody>
      </p:sp>
      <p:sp>
        <p:nvSpPr>
          <p:cNvPr id="18" name="Text 12"/>
          <p:cNvSpPr txBox="1"/>
          <p:nvPr/>
        </p:nvSpPr>
        <p:spPr>
          <a:xfrm>
            <a:off x="8394192" y="3337560"/>
            <a:ext cx="2971800" cy="1920240"/>
          </a:xfrm>
          <a:prstGeom prst="rect">
            <a:avLst/>
          </a:prstGeom>
          <a:noFill/>
          <a:ln/>
        </p:spPr>
        <p:txBody>
          <a:bodyPr wrap="square" lIns="0" tIns="0" rIns="0" bIns="0" rtlCol="0" anchor="t"/>
          <a:lstStyle/>
          <a:p>
            <a:pPr indent="0" marL="0">
              <a:spcAft>
                <a:spcPts val="400"/>
              </a:spcAft>
              <a:buNone/>
            </a:pPr>
            <a:r>
              <a:rPr lang="en-US" sz="1900" dirty="0">
                <a:solidFill>
                  <a:schemeClr val="tx1"/>
                </a:solidFill>
              </a:rPr>
              <a:t>Describe how a developer uses the environment to develop an application.</a:t>
            </a:r>
            <a:endParaRPr lang="en-US" sz="19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Session 1 plan: 75 minutes</a:t>
            </a:r>
            <a:endParaRPr lang="en-US" sz="3000" dirty="0"/>
          </a:p>
        </p:txBody>
      </p:sp>
      <p:graphicFrame>
        <p:nvGraphicFramePr>
          <p:cNvPr id="6" name="Data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1280160"/>
                <a:gridCol w="7315200"/>
                <a:gridCol w="2468880"/>
              </a:tblGrid>
              <a:tr h="566928">
                <a:tc>
                  <a:txBody>
                    <a:bodyPr/>
                    <a:lstStyle/>
                    <a:p>
                      <a:pPr indent="0" marL="0">
                        <a:buNone/>
                      </a:pPr>
                      <a:r>
                        <a:rPr lang="en-US" sz="1600" b="1" dirty="0">
                          <a:solidFill>
                            <a:schemeClr val="bg1"/>
                          </a:solidFill>
                        </a:rPr>
                        <a:t>Time</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Activity</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Format</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accent1"/>
                    </a:solidFill>
                  </a:tcPr>
                </a:tc>
              </a:tr>
              <a:tr h="566928">
                <a:tc>
                  <a:txBody>
                    <a:bodyPr/>
                    <a:lstStyle/>
                    <a:p>
                      <a:pPr indent="0" marL="0">
                        <a:buNone/>
                      </a:pPr>
                      <a:r>
                        <a:rPr lang="en-US" sz="1600" b="1" dirty="0">
                          <a:solidFill>
                            <a:schemeClr val="tx1"/>
                          </a:solidFill>
                        </a:rPr>
                        <a:t>0-5</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Objectives and starter question: how do you run Python today?</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Questions</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r>
              <a:tr h="566928">
                <a:tc>
                  <a:txBody>
                    <a:bodyPr/>
                    <a:lstStyle/>
                    <a:p>
                      <a:pPr indent="0" marL="0">
                        <a:buNone/>
                      </a:pPr>
                      <a:r>
                        <a:rPr lang="en-US" sz="1600" b="1" dirty="0">
                          <a:solidFill>
                            <a:schemeClr val="tx1"/>
                          </a:solidFill>
                        </a:rPr>
                        <a:t>5-15</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IDEs, text editors and development environments</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Slides</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r>
              <a:tr h="566928">
                <a:tc>
                  <a:txBody>
                    <a:bodyPr/>
                    <a:lstStyle/>
                    <a:p>
                      <a:pPr indent="0" marL="0">
                        <a:buNone/>
                      </a:pPr>
                      <a:r>
                        <a:rPr lang="en-US" sz="1600" b="1" dirty="0">
                          <a:solidFill>
                            <a:schemeClr val="tx1"/>
                          </a:solidFill>
                        </a:rPr>
                        <a:t>15-30</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Tour of the VS Code interface</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Live demo</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r>
              <a:tr h="566928">
                <a:tc>
                  <a:txBody>
                    <a:bodyPr/>
                    <a:lstStyle/>
                    <a:p>
                      <a:pPr indent="0" marL="0">
                        <a:buNone/>
                      </a:pPr>
                      <a:r>
                        <a:rPr lang="en-US" sz="1600" b="1" dirty="0">
                          <a:solidFill>
                            <a:schemeClr val="tx1"/>
                          </a:solidFill>
                        </a:rPr>
                        <a:t>30-45</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Create a project, write a script, run it in the terminal</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Guided coding</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r>
              <a:tr h="566928">
                <a:tc>
                  <a:txBody>
                    <a:bodyPr/>
                    <a:lstStyle/>
                    <a:p>
                      <a:pPr indent="0" marL="0">
                        <a:buNone/>
                      </a:pPr>
                      <a:r>
                        <a:rPr lang="en-US" sz="1600" b="1" dirty="0">
                          <a:solidFill>
                            <a:schemeClr val="tx1"/>
                          </a:solidFill>
                        </a:rPr>
                        <a:t>45-60</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Students build the same project and explore the components</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Individual practice</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r>
              <a:tr h="566928">
                <a:tc>
                  <a:txBody>
                    <a:bodyPr/>
                    <a:lstStyle/>
                    <a:p>
                      <a:pPr indent="0" marL="0">
                        <a:buNone/>
                      </a:pPr>
                      <a:r>
                        <a:rPr lang="en-US" sz="1600" b="1" dirty="0">
                          <a:solidFill>
                            <a:schemeClr val="tx1"/>
                          </a:solidFill>
                        </a:rPr>
                        <a:t>60-70</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Locate editor, terminal, explorer, output, extensions, debugger</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Practical challenge</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r>
              <a:tr h="566928">
                <a:tc>
                  <a:txBody>
                    <a:bodyPr/>
                    <a:lstStyle/>
                    <a:p>
                      <a:pPr indent="0" marL="0">
                        <a:buNone/>
                      </a:pPr>
                      <a:r>
                        <a:rPr lang="en-US" sz="1600" b="1" dirty="0">
                          <a:solidFill>
                            <a:schemeClr val="tx1"/>
                          </a:solidFill>
                        </a:rPr>
                        <a:t>70-75</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Review and exit ticket</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Short quiz</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Text editor or IDE?</a:t>
            </a:r>
            <a:endParaRPr lang="en-US" sz="3000" dirty="0"/>
          </a:p>
        </p:txBody>
      </p:sp>
      <p:sp>
        <p:nvSpPr>
          <p:cNvPr id="4" name="Panel Text editor"/>
          <p:cNvSpPr/>
          <p:nvPr/>
        </p:nvSpPr>
        <p:spPr>
          <a:xfrm>
            <a:off x="548640" y="1463040"/>
            <a:ext cx="5413248" cy="4480560"/>
          </a:xfrm>
          <a:prstGeom prst="roundRect">
            <a:avLst>
              <a:gd name="adj" fmla="val 2041"/>
            </a:avLst>
          </a:prstGeom>
          <a:solidFill>
            <a:schemeClr val="bg2"/>
          </a:solidFill>
          <a:ln/>
        </p:spPr>
      </p:sp>
      <p:sp>
        <p:nvSpPr>
          <p:cNvPr id="5" name="Panel header Text editor"/>
          <p:cNvSpPr/>
          <p:nvPr/>
        </p:nvSpPr>
        <p:spPr>
          <a:xfrm>
            <a:off x="548640" y="1463040"/>
            <a:ext cx="5413248" cy="594360"/>
          </a:xfrm>
          <a:prstGeom prst="roundRect">
            <a:avLst>
              <a:gd name="adj" fmla="val 15385"/>
            </a:avLst>
          </a:prstGeom>
          <a:solidFill>
            <a:schemeClr val="accent1"/>
          </a:solidFill>
          <a:ln/>
        </p:spPr>
      </p:sp>
      <p:sp>
        <p:nvSpPr>
          <p:cNvPr id="6" name="Panel title"/>
          <p:cNvSpPr txBox="1"/>
          <p:nvPr/>
        </p:nvSpPr>
        <p:spPr>
          <a:xfrm>
            <a:off x="822960" y="1463040"/>
            <a:ext cx="4864608" cy="594360"/>
          </a:xfrm>
          <a:prstGeom prst="rect">
            <a:avLst/>
          </a:prstGeom>
          <a:noFill/>
          <a:ln/>
        </p:spPr>
        <p:txBody>
          <a:bodyPr wrap="square" lIns="0" tIns="0" rIns="0" bIns="0" rtlCol="0" anchor="ctr"/>
          <a:lstStyle/>
          <a:p>
            <a:pPr indent="0" marL="0">
              <a:buNone/>
            </a:pPr>
            <a:r>
              <a:rPr lang="en-US" sz="2200" b="1" dirty="0">
                <a:solidFill>
                  <a:schemeClr val="bg1"/>
                </a:solidFill>
              </a:rPr>
              <a:t>Text editor</a:t>
            </a:r>
            <a:endParaRPr lang="en-US" sz="2200" dirty="0"/>
          </a:p>
        </p:txBody>
      </p:sp>
      <p:sp>
        <p:nvSpPr>
          <p:cNvPr id="7" name="Panel text"/>
          <p:cNvSpPr txBox="1"/>
          <p:nvPr/>
        </p:nvSpPr>
        <p:spPr>
          <a:xfrm>
            <a:off x="822960" y="2286000"/>
            <a:ext cx="4864608" cy="3474720"/>
          </a:xfrm>
          <a:prstGeom prst="rect">
            <a:avLst/>
          </a:prstGeom>
          <a:noFill/>
          <a:ln/>
        </p:spPr>
        <p:txBody>
          <a:bodyPr wrap="square" lIns="0" tIns="0" rIns="0" bIns="0" rtlCol="0" anchor="t"/>
          <a:lstStyle/>
          <a:p>
            <a:pPr marL="342900" indent="-342900">
              <a:spcAft>
                <a:spcPts val="900"/>
              </a:spcAft>
              <a:buSzPct val="100000"/>
              <a:buChar char="•"/>
            </a:pPr>
            <a:r>
              <a:rPr lang="en-US" sz="1900" dirty="0">
                <a:solidFill>
                  <a:schemeClr val="tx1"/>
                </a:solidFill>
              </a:rPr>
              <a:t>Lightweight and fast to open</a:t>
            </a:r>
            <a:endParaRPr lang="en-US" sz="1900" dirty="0"/>
          </a:p>
          <a:p>
            <a:pPr marL="342900" indent="-342900">
              <a:spcAft>
                <a:spcPts val="900"/>
              </a:spcAft>
              <a:buSzPct val="100000"/>
              <a:buChar char="•"/>
            </a:pPr>
            <a:r>
              <a:rPr lang="en-US" sz="1900" dirty="0">
                <a:solidFill>
                  <a:schemeClr val="tx1"/>
                </a:solidFill>
              </a:rPr>
              <a:t>Edits and colours text; little else built in</a:t>
            </a:r>
            <a:endParaRPr lang="en-US" sz="1900" dirty="0"/>
          </a:p>
          <a:p>
            <a:pPr marL="342900" indent="-342900">
              <a:spcAft>
                <a:spcPts val="900"/>
              </a:spcAft>
              <a:buSzPct val="100000"/>
              <a:buChar char="•"/>
            </a:pPr>
            <a:r>
              <a:rPr lang="en-US" sz="1900" dirty="0">
                <a:solidFill>
                  <a:schemeClr val="tx1"/>
                </a:solidFill>
              </a:rPr>
              <a:t>You run and debug the program somewhere else</a:t>
            </a:r>
            <a:endParaRPr lang="en-US" sz="1900" dirty="0"/>
          </a:p>
          <a:p>
            <a:pPr marL="342900" indent="-342900">
              <a:spcAft>
                <a:spcPts val="900"/>
              </a:spcAft>
              <a:buSzPct val="100000"/>
              <a:buChar char="•"/>
            </a:pPr>
            <a:r>
              <a:rPr lang="en-US" sz="1900" dirty="0">
                <a:solidFill>
                  <a:schemeClr val="tx1"/>
                </a:solidFill>
              </a:rPr>
              <a:t>Examples: Notepad++, Sublime Text</a:t>
            </a:r>
            <a:endParaRPr lang="en-US" sz="1900" dirty="0"/>
          </a:p>
        </p:txBody>
      </p:sp>
      <p:sp>
        <p:nvSpPr>
          <p:cNvPr id="8" name="Panel IDE / development environment"/>
          <p:cNvSpPr/>
          <p:nvPr/>
        </p:nvSpPr>
        <p:spPr>
          <a:xfrm>
            <a:off x="6227064" y="1463040"/>
            <a:ext cx="5413248" cy="4480560"/>
          </a:xfrm>
          <a:prstGeom prst="roundRect">
            <a:avLst>
              <a:gd name="adj" fmla="val 2041"/>
            </a:avLst>
          </a:prstGeom>
          <a:solidFill>
            <a:schemeClr val="bg2"/>
          </a:solidFill>
          <a:ln/>
        </p:spPr>
      </p:sp>
      <p:sp>
        <p:nvSpPr>
          <p:cNvPr id="9" name="Panel header IDE / development environment"/>
          <p:cNvSpPr/>
          <p:nvPr/>
        </p:nvSpPr>
        <p:spPr>
          <a:xfrm>
            <a:off x="6227064" y="1463040"/>
            <a:ext cx="5413248" cy="594360"/>
          </a:xfrm>
          <a:prstGeom prst="roundRect">
            <a:avLst>
              <a:gd name="adj" fmla="val 15385"/>
            </a:avLst>
          </a:prstGeom>
          <a:solidFill>
            <a:schemeClr val="accent2"/>
          </a:solidFill>
          <a:ln/>
        </p:spPr>
      </p:sp>
      <p:sp>
        <p:nvSpPr>
          <p:cNvPr id="10" name="Panel title"/>
          <p:cNvSpPr txBox="1"/>
          <p:nvPr/>
        </p:nvSpPr>
        <p:spPr>
          <a:xfrm>
            <a:off x="6501384" y="1463040"/>
            <a:ext cx="4864608" cy="594360"/>
          </a:xfrm>
          <a:prstGeom prst="rect">
            <a:avLst/>
          </a:prstGeom>
          <a:noFill/>
          <a:ln/>
        </p:spPr>
        <p:txBody>
          <a:bodyPr wrap="square" lIns="0" tIns="0" rIns="0" bIns="0" rtlCol="0" anchor="ctr"/>
          <a:lstStyle/>
          <a:p>
            <a:pPr indent="0" marL="0">
              <a:buNone/>
            </a:pPr>
            <a:r>
              <a:rPr lang="en-US" sz="2200" b="1" dirty="0">
                <a:solidFill>
                  <a:schemeClr val="accent1"/>
                </a:solidFill>
              </a:rPr>
              <a:t>IDE / development environment</a:t>
            </a:r>
            <a:endParaRPr lang="en-US" sz="2200" dirty="0"/>
          </a:p>
        </p:txBody>
      </p:sp>
      <p:sp>
        <p:nvSpPr>
          <p:cNvPr id="11" name="Panel text"/>
          <p:cNvSpPr txBox="1"/>
          <p:nvPr/>
        </p:nvSpPr>
        <p:spPr>
          <a:xfrm>
            <a:off x="6501384" y="2286000"/>
            <a:ext cx="4864608" cy="3474720"/>
          </a:xfrm>
          <a:prstGeom prst="rect">
            <a:avLst/>
          </a:prstGeom>
          <a:noFill/>
          <a:ln/>
        </p:spPr>
        <p:txBody>
          <a:bodyPr wrap="square" lIns="0" tIns="0" rIns="0" bIns="0" rtlCol="0" anchor="t"/>
          <a:lstStyle/>
          <a:p>
            <a:pPr marL="342900" indent="-342900">
              <a:spcAft>
                <a:spcPts val="900"/>
              </a:spcAft>
              <a:buSzPct val="100000"/>
              <a:buChar char="•"/>
            </a:pPr>
            <a:r>
              <a:rPr lang="en-US" sz="1900" dirty="0">
                <a:solidFill>
                  <a:schemeClr val="tx1"/>
                </a:solidFill>
              </a:rPr>
              <a:t>Editor, terminal, file explorer and debugger in one window</a:t>
            </a:r>
            <a:endParaRPr lang="en-US" sz="1900" dirty="0"/>
          </a:p>
          <a:p>
            <a:pPr marL="342900" indent="-342900">
              <a:spcAft>
                <a:spcPts val="900"/>
              </a:spcAft>
              <a:buSzPct val="100000"/>
              <a:buChar char="•"/>
            </a:pPr>
            <a:r>
              <a:rPr lang="en-US" sz="1900" dirty="0">
                <a:solidFill>
                  <a:schemeClr val="tx1"/>
                </a:solidFill>
              </a:rPr>
              <a:t>Understands the language: suggestions, error highlighting, formatting</a:t>
            </a:r>
            <a:endParaRPr lang="en-US" sz="1900" dirty="0"/>
          </a:p>
          <a:p>
            <a:pPr marL="342900" indent="-342900">
              <a:spcAft>
                <a:spcPts val="900"/>
              </a:spcAft>
              <a:buSzPct val="100000"/>
              <a:buChar char="•"/>
            </a:pPr>
            <a:r>
              <a:rPr lang="en-US" sz="1900" dirty="0">
                <a:solidFill>
                  <a:schemeClr val="tx1"/>
                </a:solidFill>
              </a:rPr>
              <a:t>Runs and debugs programs without leaving the tool</a:t>
            </a:r>
            <a:endParaRPr lang="en-US" sz="1900" dirty="0"/>
          </a:p>
          <a:p>
            <a:pPr marL="342900" indent="-342900">
              <a:spcAft>
                <a:spcPts val="900"/>
              </a:spcAft>
              <a:buSzPct val="100000"/>
              <a:buChar char="•"/>
            </a:pPr>
            <a:r>
              <a:rPr lang="en-US" sz="1900" dirty="0">
                <a:solidFill>
                  <a:schemeClr val="tx1"/>
                </a:solidFill>
              </a:rPr>
              <a:t>Example: VS Code with the Python extension</a:t>
            </a:r>
            <a:endParaRPr lang="en-US" sz="19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Four tools you will meet</a:t>
            </a:r>
            <a:endParaRPr lang="en-US" sz="3000" dirty="0"/>
          </a:p>
        </p:txBody>
      </p:sp>
      <p:graphicFrame>
        <p:nvGraphicFramePr>
          <p:cNvPr id="8" name="Data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194560"/>
                <a:gridCol w="2743200"/>
                <a:gridCol w="3657600"/>
                <a:gridCol w="2468880"/>
              </a:tblGrid>
              <a:tr h="640080">
                <a:tc>
                  <a:txBody>
                    <a:bodyPr/>
                    <a:lstStyle/>
                    <a:p>
                      <a:pPr indent="0" marL="0">
                        <a:buNone/>
                      </a:pPr>
                      <a:r>
                        <a:rPr lang="en-US" sz="1600" b="1" dirty="0">
                          <a:solidFill>
                            <a:schemeClr val="bg1"/>
                          </a:solidFill>
                        </a:rPr>
                        <a:t>Tool</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Type</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Best used for</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In this unit</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accent1"/>
                    </a:solidFill>
                  </a:tcPr>
                </a:tc>
              </a:tr>
              <a:tr h="640080">
                <a:tc>
                  <a:txBody>
                    <a:bodyPr/>
                    <a:lstStyle/>
                    <a:p>
                      <a:pPr indent="0" marL="0">
                        <a:buNone/>
                      </a:pPr>
                      <a:r>
                        <a:rPr lang="en-US" sz="1600" b="1" dirty="0">
                          <a:solidFill>
                            <a:schemeClr val="tx1"/>
                          </a:solidFill>
                        </a:rPr>
                        <a:t>VS Code</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Editor with IDE features</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Projects, terminal, debugging</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Primary tool</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r>
              <a:tr h="640080">
                <a:tc>
                  <a:txBody>
                    <a:bodyPr/>
                    <a:lstStyle/>
                    <a:p>
                      <a:pPr indent="0" marL="0">
                        <a:buNone/>
                      </a:pPr>
                      <a:r>
                        <a:rPr lang="en-US" sz="1600" b="1" dirty="0">
                          <a:solidFill>
                            <a:schemeClr val="tx1"/>
                          </a:solidFill>
                        </a:rPr>
                        <a:t>Notepad++</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Advanced text editor</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Quick edits to text and scripts</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Brief demo</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r>
              <a:tr h="640080">
                <a:tc>
                  <a:txBody>
                    <a:bodyPr/>
                    <a:lstStyle/>
                    <a:p>
                      <a:pPr indent="0" marL="0">
                        <a:buNone/>
                      </a:pPr>
                      <a:r>
                        <a:rPr lang="en-US" sz="1600" b="1" dirty="0">
                          <a:solidFill>
                            <a:schemeClr val="tx1"/>
                          </a:solidFill>
                        </a:rPr>
                        <a:t>Sublime Text</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Advanced text editor</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Fast editing, multi-cursor</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Brief demo</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r>
              <a:tr h="640080">
                <a:tc>
                  <a:txBody>
                    <a:bodyPr/>
                    <a:lstStyle/>
                    <a:p>
                      <a:pPr indent="0" marL="0">
                        <a:buNone/>
                      </a:pPr>
                      <a:r>
                        <a:rPr lang="en-US" sz="1600" b="1" dirty="0">
                          <a:solidFill>
                            <a:schemeClr val="tx1"/>
                          </a:solidFill>
                        </a:rPr>
                        <a:t>Jupyter Notebook</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Interactive notebook</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Explanations, snippets, experiments</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Workbook only</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The VS Code window</a:t>
            </a:r>
            <a:endParaRPr lang="en-US" sz="3000" dirty="0"/>
          </a:p>
        </p:txBody>
      </p:sp>
      <p:sp>
        <p:nvSpPr>
          <p:cNvPr id="4" name="Window frame"/>
          <p:cNvSpPr/>
          <p:nvPr/>
        </p:nvSpPr>
        <p:spPr>
          <a:xfrm>
            <a:off x="548640" y="1463040"/>
            <a:ext cx="7040880" cy="4572000"/>
          </a:xfrm>
          <a:prstGeom prst="roundRect">
            <a:avLst>
              <a:gd name="adj" fmla="val 1200"/>
            </a:avLst>
          </a:prstGeom>
          <a:solidFill>
            <a:srgbClr val="1E2A44"/>
          </a:solidFill>
          <a:ln/>
        </p:spPr>
      </p:sp>
      <p:sp>
        <p:nvSpPr>
          <p:cNvPr id="5" name="Region activity"/>
          <p:cNvSpPr/>
          <p:nvPr/>
        </p:nvSpPr>
        <p:spPr>
          <a:xfrm>
            <a:off x="640080" y="1554480"/>
            <a:ext cx="457200" cy="3840480"/>
          </a:xfrm>
          <a:prstGeom prst="rect">
            <a:avLst/>
          </a:prstGeom>
          <a:solidFill>
            <a:srgbClr val="16213A"/>
          </a:solidFill>
          <a:ln w="12700">
            <a:solidFill>
              <a:srgbClr val="0B1B38"/>
            </a:solidFill>
            <a:prstDash val="solid"/>
          </a:ln>
        </p:spPr>
      </p:sp>
      <p:sp>
        <p:nvSpPr>
          <p:cNvPr id="6" name="Region text activity"/>
          <p:cNvSpPr txBox="1"/>
          <p:nvPr/>
        </p:nvSpPr>
        <p:spPr>
          <a:xfrm>
            <a:off x="713232" y="1609344"/>
            <a:ext cx="310896" cy="3749040"/>
          </a:xfrm>
          <a:prstGeom prst="rect">
            <a:avLst/>
          </a:prstGeom>
          <a:noFill/>
          <a:ln/>
        </p:spPr>
        <p:txBody>
          <a:bodyPr wrap="square" lIns="0" tIns="0" rIns="0" bIns="0" rtlCol="0" anchor="t"/>
          <a:lstStyle/>
          <a:p>
            <a:pPr indent="0" marL="0">
              <a:buNone/>
            </a:pPr>
            <a:r>
              <a:rPr lang="en-US" sz="1200" dirty="0">
                <a:solidFill>
                  <a:srgbClr val="C9D6F0"/>
                </a:solidFill>
              </a:rPr>
              <a:t>Ext</a:t>
            </a:r>
            <a:endParaRPr lang="en-US" sz="1200" dirty="0"/>
          </a:p>
          <a:p>
            <a:pPr indent="0" marL="0">
              <a:buNone/>
            </a:pPr>
            <a:r>
              <a:rPr lang="en-US" sz="1200" dirty="0">
                <a:solidFill>
                  <a:srgbClr val="C9D6F0"/>
                </a:solidFill>
              </a:rPr>
              <a:t>Dbg</a:t>
            </a:r>
            <a:endParaRPr lang="en-US" sz="1200" dirty="0"/>
          </a:p>
          <a:p>
            <a:pPr indent="0" marL="0">
              <a:buNone/>
            </a:pPr>
            <a:r>
              <a:rPr lang="en-US" sz="1200" dirty="0">
                <a:solidFill>
                  <a:srgbClr val="C9D6F0"/>
                </a:solidFill>
              </a:rPr>
              <a:t>Src</a:t>
            </a:r>
            <a:endParaRPr lang="en-US" sz="1200" dirty="0"/>
          </a:p>
        </p:txBody>
      </p:sp>
      <p:sp>
        <p:nvSpPr>
          <p:cNvPr id="7" name="Region explorer"/>
          <p:cNvSpPr/>
          <p:nvPr/>
        </p:nvSpPr>
        <p:spPr>
          <a:xfrm>
            <a:off x="1097280" y="1554480"/>
            <a:ext cx="1554480" cy="3840480"/>
          </a:xfrm>
          <a:prstGeom prst="rect">
            <a:avLst/>
          </a:prstGeom>
          <a:solidFill>
            <a:srgbClr val="1B2745"/>
          </a:solidFill>
          <a:ln w="12700">
            <a:solidFill>
              <a:srgbClr val="0B1B38"/>
            </a:solidFill>
            <a:prstDash val="solid"/>
          </a:ln>
        </p:spPr>
      </p:sp>
      <p:sp>
        <p:nvSpPr>
          <p:cNvPr id="8" name="Region text explorer"/>
          <p:cNvSpPr txBox="1"/>
          <p:nvPr/>
        </p:nvSpPr>
        <p:spPr>
          <a:xfrm>
            <a:off x="1170432" y="1609344"/>
            <a:ext cx="1408176" cy="3749040"/>
          </a:xfrm>
          <a:prstGeom prst="rect">
            <a:avLst/>
          </a:prstGeom>
          <a:noFill/>
          <a:ln/>
        </p:spPr>
        <p:txBody>
          <a:bodyPr wrap="square" lIns="0" tIns="0" rIns="0" bIns="0" rtlCol="0" anchor="t"/>
          <a:lstStyle/>
          <a:p>
            <a:pPr indent="0" marL="0">
              <a:buNone/>
            </a:pPr>
            <a:r>
              <a:rPr lang="en-US" sz="1000" dirty="0">
                <a:solidFill>
                  <a:srgbClr val="C9D6F0"/>
                </a:solidFill>
              </a:rPr>
              <a:t>EXPLORER</a:t>
            </a:r>
            <a:endParaRPr lang="en-US" sz="1000" dirty="0"/>
          </a:p>
          <a:p>
            <a:pPr indent="0" marL="0">
              <a:buNone/>
            </a:pPr>
            <a:r>
              <a:rPr lang="en-US" sz="1000" dirty="0">
                <a:solidFill>
                  <a:srgbClr val="C9D6F0"/>
                </a:solidFill>
              </a:rPr>
              <a:t>  Unit1_Project</a:t>
            </a:r>
            <a:endParaRPr lang="en-US" sz="1000" dirty="0"/>
          </a:p>
          <a:p>
            <a:pPr indent="0" marL="0">
              <a:buNone/>
            </a:pPr>
            <a:r>
              <a:rPr lang="en-US" sz="1000" dirty="0">
                <a:solidFill>
                  <a:srgbClr val="C9D6F0"/>
                </a:solidFill>
              </a:rPr>
              <a:t>    main.py</a:t>
            </a:r>
            <a:endParaRPr lang="en-US" sz="1000" dirty="0"/>
          </a:p>
          <a:p>
            <a:pPr indent="0" marL="0">
              <a:buNone/>
            </a:pPr>
            <a:r>
              <a:rPr lang="en-US" sz="1000" dirty="0">
                <a:solidFill>
                  <a:srgbClr val="C9D6F0"/>
                </a:solidFill>
              </a:rPr>
              <a:t>    README.md</a:t>
            </a:r>
            <a:endParaRPr lang="en-US" sz="1000" dirty="0"/>
          </a:p>
        </p:txBody>
      </p:sp>
      <p:sp>
        <p:nvSpPr>
          <p:cNvPr id="9" name="Region editor"/>
          <p:cNvSpPr/>
          <p:nvPr/>
        </p:nvSpPr>
        <p:spPr>
          <a:xfrm>
            <a:off x="2651760" y="1554480"/>
            <a:ext cx="4846320" cy="2468880"/>
          </a:xfrm>
          <a:prstGeom prst="rect">
            <a:avLst/>
          </a:prstGeom>
          <a:solidFill>
            <a:srgbClr val="0B1B38"/>
          </a:solidFill>
          <a:ln w="12700">
            <a:solidFill>
              <a:srgbClr val="0B1B38"/>
            </a:solidFill>
            <a:prstDash val="solid"/>
          </a:ln>
        </p:spPr>
      </p:sp>
      <p:sp>
        <p:nvSpPr>
          <p:cNvPr id="10" name="Region text editor"/>
          <p:cNvSpPr txBox="1"/>
          <p:nvPr/>
        </p:nvSpPr>
        <p:spPr>
          <a:xfrm>
            <a:off x="2724912" y="1609344"/>
            <a:ext cx="4700016" cy="2377440"/>
          </a:xfrm>
          <a:prstGeom prst="rect">
            <a:avLst/>
          </a:prstGeom>
          <a:noFill/>
          <a:ln/>
        </p:spPr>
        <p:txBody>
          <a:bodyPr wrap="square" lIns="0" tIns="0" rIns="0" bIns="0" rtlCol="0" anchor="t"/>
          <a:lstStyle/>
          <a:p>
            <a:pPr indent="0" marL="0">
              <a:buNone/>
            </a:pPr>
            <a:r>
              <a:rPr lang="en-US" sz="1200" dirty="0">
                <a:solidFill>
                  <a:srgbClr val="E8EEF9"/>
                </a:solidFill>
                <a:latin typeface="Courier New" pitchFamily="34" charset="0"/>
                <a:ea typeface="Courier New" pitchFamily="34" charset="-122"/>
                <a:cs typeface="Courier New" pitchFamily="34" charset="-120"/>
              </a:rPr>
              <a:t>def calculate_total(price, quantity):</a:t>
            </a:r>
            <a:endParaRPr lang="en-US" sz="1200" dirty="0"/>
          </a:p>
          <a:p>
            <a:pPr indent="0" marL="0">
              <a:buNone/>
            </a:pPr>
            <a:r>
              <a:rPr lang="en-US" sz="1200" dirty="0">
                <a:solidFill>
                  <a:srgbClr val="E8EEF9"/>
                </a:solidFill>
                <a:latin typeface="Courier New" pitchFamily="34" charset="0"/>
                <a:ea typeface="Courier New" pitchFamily="34" charset="-122"/>
                <a:cs typeface="Courier New" pitchFamily="34" charset="-120"/>
              </a:rPr>
              <a:t>    return price * quantity</a:t>
            </a:r>
            <a:endParaRPr lang="en-US" sz="1200" dirty="0"/>
          </a:p>
          <a:p>
            <a:pPr indent="0" marL="0">
              <a:buNone/>
            </a:pPr>
            <a:endParaRPr lang="en-US" sz="1200" dirty="0"/>
          </a:p>
          <a:p>
            <a:pPr indent="0" marL="0">
              <a:buNone/>
            </a:pPr>
            <a:r>
              <a:rPr lang="en-US" sz="1200" dirty="0">
                <a:solidFill>
                  <a:srgbClr val="E8EEF9"/>
                </a:solidFill>
                <a:latin typeface="Courier New" pitchFamily="34" charset="0"/>
                <a:ea typeface="Courier New" pitchFamily="34" charset="-122"/>
                <a:cs typeface="Courier New" pitchFamily="34" charset="-120"/>
              </a:rPr>
              <a:t>price = 100</a:t>
            </a:r>
            <a:endParaRPr lang="en-US" sz="1200" dirty="0"/>
          </a:p>
          <a:p>
            <a:pPr indent="0" marL="0">
              <a:buNone/>
            </a:pPr>
            <a:r>
              <a:rPr lang="en-US" sz="1200" dirty="0">
                <a:solidFill>
                  <a:srgbClr val="E8EEF9"/>
                </a:solidFill>
                <a:latin typeface="Courier New" pitchFamily="34" charset="0"/>
                <a:ea typeface="Courier New" pitchFamily="34" charset="-122"/>
                <a:cs typeface="Courier New" pitchFamily="34" charset="-120"/>
              </a:rPr>
              <a:t>quantity = 3</a:t>
            </a:r>
            <a:endParaRPr lang="en-US" sz="1200" dirty="0"/>
          </a:p>
          <a:p>
            <a:pPr indent="0" marL="0">
              <a:buNone/>
            </a:pPr>
            <a:r>
              <a:rPr lang="en-US" sz="1200" dirty="0">
                <a:solidFill>
                  <a:srgbClr val="E8EEF9"/>
                </a:solidFill>
                <a:latin typeface="Courier New" pitchFamily="34" charset="0"/>
                <a:ea typeface="Courier New" pitchFamily="34" charset="-122"/>
                <a:cs typeface="Courier New" pitchFamily="34" charset="-120"/>
              </a:rPr>
              <a:t>print(calculate_total(price, quantity))</a:t>
            </a:r>
            <a:endParaRPr lang="en-US" sz="1200" dirty="0"/>
          </a:p>
        </p:txBody>
      </p:sp>
      <p:sp>
        <p:nvSpPr>
          <p:cNvPr id="11" name="Region terminal"/>
          <p:cNvSpPr/>
          <p:nvPr/>
        </p:nvSpPr>
        <p:spPr>
          <a:xfrm>
            <a:off x="2651760" y="4023360"/>
            <a:ext cx="4846320" cy="1371600"/>
          </a:xfrm>
          <a:prstGeom prst="rect">
            <a:avLst/>
          </a:prstGeom>
          <a:solidFill>
            <a:srgbClr val="111C36"/>
          </a:solidFill>
          <a:ln w="12700">
            <a:solidFill>
              <a:srgbClr val="0B1B38"/>
            </a:solidFill>
            <a:prstDash val="solid"/>
          </a:ln>
        </p:spPr>
      </p:sp>
      <p:sp>
        <p:nvSpPr>
          <p:cNvPr id="12" name="Region text terminal"/>
          <p:cNvSpPr txBox="1"/>
          <p:nvPr/>
        </p:nvSpPr>
        <p:spPr>
          <a:xfrm>
            <a:off x="2724912" y="4078224"/>
            <a:ext cx="4700016" cy="1280160"/>
          </a:xfrm>
          <a:prstGeom prst="rect">
            <a:avLst/>
          </a:prstGeom>
          <a:noFill/>
          <a:ln/>
        </p:spPr>
        <p:txBody>
          <a:bodyPr wrap="square" lIns="0" tIns="0" rIns="0" bIns="0" rtlCol="0" anchor="t"/>
          <a:lstStyle/>
          <a:p>
            <a:pPr indent="0" marL="0">
              <a:buNone/>
            </a:pPr>
            <a:r>
              <a:rPr lang="en-US" sz="1200" dirty="0">
                <a:solidFill>
                  <a:srgbClr val="7EE0A8"/>
                </a:solidFill>
                <a:latin typeface="Courier New" pitchFamily="34" charset="0"/>
                <a:ea typeface="Courier New" pitchFamily="34" charset="-122"/>
                <a:cs typeface="Courier New" pitchFamily="34" charset="-120"/>
              </a:rPr>
              <a:t>PROBLEMS  OUTPUT  TERMINAL</a:t>
            </a:r>
            <a:endParaRPr lang="en-US" sz="1200" dirty="0"/>
          </a:p>
          <a:p>
            <a:pPr indent="0" marL="0">
              <a:buNone/>
            </a:pPr>
            <a:r>
              <a:rPr lang="en-US" sz="1200" dirty="0">
                <a:solidFill>
                  <a:srgbClr val="7EE0A8"/>
                </a:solidFill>
                <a:latin typeface="Courier New" pitchFamily="34" charset="0"/>
                <a:ea typeface="Courier New" pitchFamily="34" charset="-122"/>
                <a:cs typeface="Courier New" pitchFamily="34" charset="-120"/>
              </a:rPr>
              <a:t>&gt; python main.py</a:t>
            </a:r>
            <a:endParaRPr lang="en-US" sz="1200" dirty="0"/>
          </a:p>
          <a:p>
            <a:pPr indent="0" marL="0">
              <a:buNone/>
            </a:pPr>
            <a:r>
              <a:rPr lang="en-US" sz="1200" dirty="0">
                <a:solidFill>
                  <a:srgbClr val="7EE0A8"/>
                </a:solidFill>
                <a:latin typeface="Courier New" pitchFamily="34" charset="0"/>
                <a:ea typeface="Courier New" pitchFamily="34" charset="-122"/>
                <a:cs typeface="Courier New" pitchFamily="34" charset="-120"/>
              </a:rPr>
              <a:t>Total amount: 300</a:t>
            </a:r>
            <a:endParaRPr lang="en-US" sz="1200" dirty="0"/>
          </a:p>
        </p:txBody>
      </p:sp>
      <p:sp>
        <p:nvSpPr>
          <p:cNvPr id="13" name="Region status"/>
          <p:cNvSpPr/>
          <p:nvPr/>
        </p:nvSpPr>
        <p:spPr>
          <a:xfrm>
            <a:off x="640080" y="5394960"/>
            <a:ext cx="6858000" cy="411480"/>
          </a:xfrm>
          <a:prstGeom prst="rect">
            <a:avLst/>
          </a:prstGeom>
          <a:solidFill>
            <a:srgbClr val="03265E"/>
          </a:solidFill>
          <a:ln w="12700">
            <a:solidFill>
              <a:srgbClr val="0B1B38"/>
            </a:solidFill>
            <a:prstDash val="solid"/>
          </a:ln>
        </p:spPr>
      </p:sp>
      <p:sp>
        <p:nvSpPr>
          <p:cNvPr id="14" name="Region text status"/>
          <p:cNvSpPr txBox="1"/>
          <p:nvPr/>
        </p:nvSpPr>
        <p:spPr>
          <a:xfrm>
            <a:off x="713232" y="5449824"/>
            <a:ext cx="6711696" cy="320040"/>
          </a:xfrm>
          <a:prstGeom prst="rect">
            <a:avLst/>
          </a:prstGeom>
          <a:noFill/>
          <a:ln/>
        </p:spPr>
        <p:txBody>
          <a:bodyPr wrap="square" lIns="0" tIns="0" rIns="0" bIns="0" rtlCol="0" anchor="t"/>
          <a:lstStyle/>
          <a:p>
            <a:pPr indent="0" marL="0">
              <a:buNone/>
            </a:pPr>
            <a:r>
              <a:rPr lang="en-US" sz="1100" dirty="0">
                <a:solidFill>
                  <a:srgbClr val="C9D6F0"/>
                </a:solidFill>
              </a:rPr>
              <a:t>Python 3.12.x   Ln 6, Col 1</a:t>
            </a:r>
            <a:endParaRPr lang="en-US" sz="1100" dirty="0"/>
          </a:p>
        </p:txBody>
      </p:sp>
      <p:sp>
        <p:nvSpPr>
          <p:cNvPr id="15" name="Marker 1"/>
          <p:cNvSpPr/>
          <p:nvPr/>
        </p:nvSpPr>
        <p:spPr>
          <a:xfrm>
            <a:off x="658368" y="3474720"/>
            <a:ext cx="365760" cy="365760"/>
          </a:xfrm>
          <a:prstGeom prst="ellipse">
            <a:avLst/>
          </a:prstGeom>
          <a:solidFill>
            <a:schemeClr val="accent2"/>
          </a:solidFill>
          <a:ln/>
        </p:spPr>
      </p:sp>
      <p:sp>
        <p:nvSpPr>
          <p:cNvPr id="16" name="Marker number"/>
          <p:cNvSpPr txBox="1"/>
          <p:nvPr/>
        </p:nvSpPr>
        <p:spPr>
          <a:xfrm>
            <a:off x="658368" y="3474720"/>
            <a:ext cx="365760" cy="365760"/>
          </a:xfrm>
          <a:prstGeom prst="rect">
            <a:avLst/>
          </a:prstGeom>
          <a:noFill/>
          <a:ln/>
        </p:spPr>
        <p:txBody>
          <a:bodyPr wrap="square" lIns="0" tIns="0" rIns="0" bIns="0" rtlCol="0" anchor="ctr"/>
          <a:lstStyle/>
          <a:p>
            <a:pPr algn="ctr" indent="0" marL="0">
              <a:buNone/>
            </a:pPr>
            <a:r>
              <a:rPr lang="en-US" sz="1400" b="1" dirty="0">
                <a:solidFill>
                  <a:schemeClr val="accent1"/>
                </a:solidFill>
              </a:rPr>
              <a:t>1</a:t>
            </a:r>
            <a:endParaRPr lang="en-US" sz="1400" dirty="0"/>
          </a:p>
        </p:txBody>
      </p:sp>
      <p:sp>
        <p:nvSpPr>
          <p:cNvPr id="17" name="Marker 2"/>
          <p:cNvSpPr/>
          <p:nvPr/>
        </p:nvSpPr>
        <p:spPr>
          <a:xfrm>
            <a:off x="2286000" y="1874520"/>
            <a:ext cx="365760" cy="365760"/>
          </a:xfrm>
          <a:prstGeom prst="ellipse">
            <a:avLst/>
          </a:prstGeom>
          <a:solidFill>
            <a:schemeClr val="accent2"/>
          </a:solidFill>
          <a:ln/>
        </p:spPr>
      </p:sp>
      <p:sp>
        <p:nvSpPr>
          <p:cNvPr id="18" name="Marker number"/>
          <p:cNvSpPr txBox="1"/>
          <p:nvPr/>
        </p:nvSpPr>
        <p:spPr>
          <a:xfrm>
            <a:off x="2286000" y="1874520"/>
            <a:ext cx="365760" cy="365760"/>
          </a:xfrm>
          <a:prstGeom prst="rect">
            <a:avLst/>
          </a:prstGeom>
          <a:noFill/>
          <a:ln/>
        </p:spPr>
        <p:txBody>
          <a:bodyPr wrap="square" lIns="0" tIns="0" rIns="0" bIns="0" rtlCol="0" anchor="ctr"/>
          <a:lstStyle/>
          <a:p>
            <a:pPr algn="ctr" indent="0" marL="0">
              <a:buNone/>
            </a:pPr>
            <a:r>
              <a:rPr lang="en-US" sz="1400" b="1" dirty="0">
                <a:solidFill>
                  <a:schemeClr val="accent1"/>
                </a:solidFill>
              </a:rPr>
              <a:t>2</a:t>
            </a:r>
            <a:endParaRPr lang="en-US" sz="1400" dirty="0"/>
          </a:p>
        </p:txBody>
      </p:sp>
      <p:sp>
        <p:nvSpPr>
          <p:cNvPr id="19" name="Marker 3"/>
          <p:cNvSpPr/>
          <p:nvPr/>
        </p:nvSpPr>
        <p:spPr>
          <a:xfrm>
            <a:off x="7040880" y="1645920"/>
            <a:ext cx="365760" cy="365760"/>
          </a:xfrm>
          <a:prstGeom prst="ellipse">
            <a:avLst/>
          </a:prstGeom>
          <a:solidFill>
            <a:schemeClr val="accent2"/>
          </a:solidFill>
          <a:ln/>
        </p:spPr>
      </p:sp>
      <p:sp>
        <p:nvSpPr>
          <p:cNvPr id="20" name="Marker number"/>
          <p:cNvSpPr txBox="1"/>
          <p:nvPr/>
        </p:nvSpPr>
        <p:spPr>
          <a:xfrm>
            <a:off x="7040880" y="1645920"/>
            <a:ext cx="365760" cy="365760"/>
          </a:xfrm>
          <a:prstGeom prst="rect">
            <a:avLst/>
          </a:prstGeom>
          <a:noFill/>
          <a:ln/>
        </p:spPr>
        <p:txBody>
          <a:bodyPr wrap="square" lIns="0" tIns="0" rIns="0" bIns="0" rtlCol="0" anchor="ctr"/>
          <a:lstStyle/>
          <a:p>
            <a:pPr algn="ctr" indent="0" marL="0">
              <a:buNone/>
            </a:pPr>
            <a:r>
              <a:rPr lang="en-US" sz="1400" b="1" dirty="0">
                <a:solidFill>
                  <a:schemeClr val="accent1"/>
                </a:solidFill>
              </a:rPr>
              <a:t>3</a:t>
            </a:r>
            <a:endParaRPr lang="en-US" sz="1400" dirty="0"/>
          </a:p>
        </p:txBody>
      </p:sp>
      <p:sp>
        <p:nvSpPr>
          <p:cNvPr id="21" name="Marker 4"/>
          <p:cNvSpPr/>
          <p:nvPr/>
        </p:nvSpPr>
        <p:spPr>
          <a:xfrm>
            <a:off x="7040880" y="4206240"/>
            <a:ext cx="365760" cy="365760"/>
          </a:xfrm>
          <a:prstGeom prst="ellipse">
            <a:avLst/>
          </a:prstGeom>
          <a:solidFill>
            <a:schemeClr val="accent2"/>
          </a:solidFill>
          <a:ln/>
        </p:spPr>
      </p:sp>
      <p:sp>
        <p:nvSpPr>
          <p:cNvPr id="22" name="Marker number"/>
          <p:cNvSpPr txBox="1"/>
          <p:nvPr/>
        </p:nvSpPr>
        <p:spPr>
          <a:xfrm>
            <a:off x="7040880" y="4206240"/>
            <a:ext cx="365760" cy="365760"/>
          </a:xfrm>
          <a:prstGeom prst="rect">
            <a:avLst/>
          </a:prstGeom>
          <a:noFill/>
          <a:ln/>
        </p:spPr>
        <p:txBody>
          <a:bodyPr wrap="square" lIns="0" tIns="0" rIns="0" bIns="0" rtlCol="0" anchor="ctr"/>
          <a:lstStyle/>
          <a:p>
            <a:pPr algn="ctr" indent="0" marL="0">
              <a:buNone/>
            </a:pPr>
            <a:r>
              <a:rPr lang="en-US" sz="1400" b="1" dirty="0">
                <a:solidFill>
                  <a:schemeClr val="accent1"/>
                </a:solidFill>
              </a:rPr>
              <a:t>4</a:t>
            </a:r>
            <a:endParaRPr lang="en-US" sz="1400" dirty="0"/>
          </a:p>
        </p:txBody>
      </p:sp>
      <p:sp>
        <p:nvSpPr>
          <p:cNvPr id="23" name="Marker 5"/>
          <p:cNvSpPr/>
          <p:nvPr/>
        </p:nvSpPr>
        <p:spPr>
          <a:xfrm>
            <a:off x="5943600" y="4114800"/>
            <a:ext cx="365760" cy="365760"/>
          </a:xfrm>
          <a:prstGeom prst="ellipse">
            <a:avLst/>
          </a:prstGeom>
          <a:solidFill>
            <a:schemeClr val="accent2"/>
          </a:solidFill>
          <a:ln/>
        </p:spPr>
      </p:sp>
      <p:sp>
        <p:nvSpPr>
          <p:cNvPr id="24" name="Marker number"/>
          <p:cNvSpPr txBox="1"/>
          <p:nvPr/>
        </p:nvSpPr>
        <p:spPr>
          <a:xfrm>
            <a:off x="5943600" y="4114800"/>
            <a:ext cx="365760" cy="365760"/>
          </a:xfrm>
          <a:prstGeom prst="rect">
            <a:avLst/>
          </a:prstGeom>
          <a:noFill/>
          <a:ln/>
        </p:spPr>
        <p:txBody>
          <a:bodyPr wrap="square" lIns="0" tIns="0" rIns="0" bIns="0" rtlCol="0" anchor="ctr"/>
          <a:lstStyle/>
          <a:p>
            <a:pPr algn="ctr" indent="0" marL="0">
              <a:buNone/>
            </a:pPr>
            <a:r>
              <a:rPr lang="en-US" sz="1400" b="1" dirty="0">
                <a:solidFill>
                  <a:schemeClr val="accent1"/>
                </a:solidFill>
              </a:rPr>
              <a:t>5</a:t>
            </a:r>
            <a:endParaRPr lang="en-US" sz="1400" dirty="0"/>
          </a:p>
        </p:txBody>
      </p:sp>
      <p:sp>
        <p:nvSpPr>
          <p:cNvPr id="25" name="Marker 6"/>
          <p:cNvSpPr/>
          <p:nvPr/>
        </p:nvSpPr>
        <p:spPr>
          <a:xfrm>
            <a:off x="6858000" y="5422392"/>
            <a:ext cx="365760" cy="365760"/>
          </a:xfrm>
          <a:prstGeom prst="ellipse">
            <a:avLst/>
          </a:prstGeom>
          <a:solidFill>
            <a:schemeClr val="accent2"/>
          </a:solidFill>
          <a:ln/>
        </p:spPr>
      </p:sp>
      <p:sp>
        <p:nvSpPr>
          <p:cNvPr id="26" name="Marker number"/>
          <p:cNvSpPr txBox="1"/>
          <p:nvPr/>
        </p:nvSpPr>
        <p:spPr>
          <a:xfrm>
            <a:off x="6858000" y="5422392"/>
            <a:ext cx="365760" cy="365760"/>
          </a:xfrm>
          <a:prstGeom prst="rect">
            <a:avLst/>
          </a:prstGeom>
          <a:noFill/>
          <a:ln/>
        </p:spPr>
        <p:txBody>
          <a:bodyPr wrap="square" lIns="0" tIns="0" rIns="0" bIns="0" rtlCol="0" anchor="ctr"/>
          <a:lstStyle/>
          <a:p>
            <a:pPr algn="ctr" indent="0" marL="0">
              <a:buNone/>
            </a:pPr>
            <a:r>
              <a:rPr lang="en-US" sz="1400" b="1" dirty="0">
                <a:solidFill>
                  <a:schemeClr val="accent1"/>
                </a:solidFill>
              </a:rPr>
              <a:t>6</a:t>
            </a:r>
            <a:endParaRPr lang="en-US" sz="1400" dirty="0"/>
          </a:p>
        </p:txBody>
      </p:sp>
      <p:sp>
        <p:nvSpPr>
          <p:cNvPr id="27" name="Legend marker"/>
          <p:cNvSpPr/>
          <p:nvPr/>
        </p:nvSpPr>
        <p:spPr>
          <a:xfrm>
            <a:off x="7909560" y="1661160"/>
            <a:ext cx="365760" cy="365760"/>
          </a:xfrm>
          <a:prstGeom prst="ellipse">
            <a:avLst/>
          </a:prstGeom>
          <a:solidFill>
            <a:schemeClr val="accent2"/>
          </a:solidFill>
          <a:ln/>
        </p:spPr>
      </p:sp>
      <p:sp>
        <p:nvSpPr>
          <p:cNvPr id="28" name="Legend number"/>
          <p:cNvSpPr txBox="1"/>
          <p:nvPr/>
        </p:nvSpPr>
        <p:spPr>
          <a:xfrm>
            <a:off x="7909560" y="1661160"/>
            <a:ext cx="365760" cy="365760"/>
          </a:xfrm>
          <a:prstGeom prst="rect">
            <a:avLst/>
          </a:prstGeom>
          <a:noFill/>
          <a:ln/>
        </p:spPr>
        <p:txBody>
          <a:bodyPr wrap="square" lIns="0" tIns="0" rIns="0" bIns="0" rtlCol="0" anchor="ctr"/>
          <a:lstStyle/>
          <a:p>
            <a:pPr algn="ctr" indent="0" marL="0">
              <a:buNone/>
            </a:pPr>
            <a:r>
              <a:rPr lang="en-US" sz="1400" b="1" dirty="0">
                <a:solidFill>
                  <a:schemeClr val="accent1"/>
                </a:solidFill>
              </a:rPr>
              <a:t>1</a:t>
            </a:r>
            <a:endParaRPr lang="en-US" sz="1400" dirty="0"/>
          </a:p>
        </p:txBody>
      </p:sp>
      <p:sp>
        <p:nvSpPr>
          <p:cNvPr id="29" name="Legend text"/>
          <p:cNvSpPr txBox="1"/>
          <p:nvPr/>
        </p:nvSpPr>
        <p:spPr>
          <a:xfrm>
            <a:off x="8412480" y="1463040"/>
            <a:ext cx="3230575" cy="762000"/>
          </a:xfrm>
          <a:prstGeom prst="rect">
            <a:avLst/>
          </a:prstGeom>
          <a:noFill/>
          <a:ln/>
        </p:spPr>
        <p:txBody>
          <a:bodyPr wrap="square" lIns="0" tIns="0" rIns="0" bIns="0" rtlCol="0" anchor="ctr"/>
          <a:lstStyle/>
          <a:p>
            <a:pPr indent="0" marL="0">
              <a:buNone/>
            </a:pPr>
            <a:r>
              <a:rPr lang="en-US" sz="1400" b="1" dirty="0">
                <a:solidFill>
                  <a:schemeClr val="accent1"/>
                </a:solidFill>
              </a:rPr>
              <a:t>Activity bar</a:t>
            </a:r>
            <a:endParaRPr lang="en-US" sz="1400" dirty="0"/>
          </a:p>
          <a:p>
            <a:pPr indent="0" marL="0">
              <a:buNone/>
            </a:pPr>
            <a:r>
              <a:rPr lang="en-US" sz="1400" dirty="0">
                <a:solidFill>
                  <a:schemeClr val="tx1"/>
                </a:solidFill>
              </a:rPr>
              <a:t>Switch views: files, search, extensions, debugger</a:t>
            </a:r>
            <a:endParaRPr lang="en-US" sz="1400" dirty="0"/>
          </a:p>
        </p:txBody>
      </p:sp>
      <p:sp>
        <p:nvSpPr>
          <p:cNvPr id="30" name="Legend marker"/>
          <p:cNvSpPr/>
          <p:nvPr/>
        </p:nvSpPr>
        <p:spPr>
          <a:xfrm>
            <a:off x="7909560" y="2423160"/>
            <a:ext cx="365760" cy="365760"/>
          </a:xfrm>
          <a:prstGeom prst="ellipse">
            <a:avLst/>
          </a:prstGeom>
          <a:solidFill>
            <a:schemeClr val="accent2"/>
          </a:solidFill>
          <a:ln/>
        </p:spPr>
      </p:sp>
      <p:sp>
        <p:nvSpPr>
          <p:cNvPr id="31" name="Legend number"/>
          <p:cNvSpPr txBox="1"/>
          <p:nvPr/>
        </p:nvSpPr>
        <p:spPr>
          <a:xfrm>
            <a:off x="7909560" y="2423160"/>
            <a:ext cx="365760" cy="365760"/>
          </a:xfrm>
          <a:prstGeom prst="rect">
            <a:avLst/>
          </a:prstGeom>
          <a:noFill/>
          <a:ln/>
        </p:spPr>
        <p:txBody>
          <a:bodyPr wrap="square" lIns="0" tIns="0" rIns="0" bIns="0" rtlCol="0" anchor="ctr"/>
          <a:lstStyle/>
          <a:p>
            <a:pPr algn="ctr" indent="0" marL="0">
              <a:buNone/>
            </a:pPr>
            <a:r>
              <a:rPr lang="en-US" sz="1400" b="1" dirty="0">
                <a:solidFill>
                  <a:schemeClr val="accent1"/>
                </a:solidFill>
              </a:rPr>
              <a:t>2</a:t>
            </a:r>
            <a:endParaRPr lang="en-US" sz="1400" dirty="0"/>
          </a:p>
        </p:txBody>
      </p:sp>
      <p:sp>
        <p:nvSpPr>
          <p:cNvPr id="32" name="Legend text"/>
          <p:cNvSpPr txBox="1"/>
          <p:nvPr/>
        </p:nvSpPr>
        <p:spPr>
          <a:xfrm>
            <a:off x="8412480" y="2225040"/>
            <a:ext cx="3230575" cy="762000"/>
          </a:xfrm>
          <a:prstGeom prst="rect">
            <a:avLst/>
          </a:prstGeom>
          <a:noFill/>
          <a:ln/>
        </p:spPr>
        <p:txBody>
          <a:bodyPr wrap="square" lIns="0" tIns="0" rIns="0" bIns="0" rtlCol="0" anchor="ctr"/>
          <a:lstStyle/>
          <a:p>
            <a:pPr indent="0" marL="0">
              <a:buNone/>
            </a:pPr>
            <a:r>
              <a:rPr lang="en-US" sz="1400" b="1" dirty="0">
                <a:solidFill>
                  <a:schemeClr val="accent1"/>
                </a:solidFill>
              </a:rPr>
              <a:t>File explorer</a:t>
            </a:r>
            <a:endParaRPr lang="en-US" sz="1400" dirty="0"/>
          </a:p>
          <a:p>
            <a:pPr indent="0" marL="0">
              <a:buNone/>
            </a:pPr>
            <a:r>
              <a:rPr lang="en-US" sz="1400" dirty="0">
                <a:solidFill>
                  <a:schemeClr val="tx1"/>
                </a:solidFill>
              </a:rPr>
              <a:t>Project folders and files</a:t>
            </a:r>
            <a:endParaRPr lang="en-US" sz="1400" dirty="0"/>
          </a:p>
        </p:txBody>
      </p:sp>
      <p:sp>
        <p:nvSpPr>
          <p:cNvPr id="33" name="Legend marker"/>
          <p:cNvSpPr/>
          <p:nvPr/>
        </p:nvSpPr>
        <p:spPr>
          <a:xfrm>
            <a:off x="7909560" y="3185160"/>
            <a:ext cx="365760" cy="365760"/>
          </a:xfrm>
          <a:prstGeom prst="ellipse">
            <a:avLst/>
          </a:prstGeom>
          <a:solidFill>
            <a:schemeClr val="accent2"/>
          </a:solidFill>
          <a:ln/>
        </p:spPr>
      </p:sp>
      <p:sp>
        <p:nvSpPr>
          <p:cNvPr id="34" name="Legend number"/>
          <p:cNvSpPr txBox="1"/>
          <p:nvPr/>
        </p:nvSpPr>
        <p:spPr>
          <a:xfrm>
            <a:off x="7909560" y="3185160"/>
            <a:ext cx="365760" cy="365760"/>
          </a:xfrm>
          <a:prstGeom prst="rect">
            <a:avLst/>
          </a:prstGeom>
          <a:noFill/>
          <a:ln/>
        </p:spPr>
        <p:txBody>
          <a:bodyPr wrap="square" lIns="0" tIns="0" rIns="0" bIns="0" rtlCol="0" anchor="ctr"/>
          <a:lstStyle/>
          <a:p>
            <a:pPr algn="ctr" indent="0" marL="0">
              <a:buNone/>
            </a:pPr>
            <a:r>
              <a:rPr lang="en-US" sz="1400" b="1" dirty="0">
                <a:solidFill>
                  <a:schemeClr val="accent1"/>
                </a:solidFill>
              </a:rPr>
              <a:t>3</a:t>
            </a:r>
            <a:endParaRPr lang="en-US" sz="1400" dirty="0"/>
          </a:p>
        </p:txBody>
      </p:sp>
      <p:sp>
        <p:nvSpPr>
          <p:cNvPr id="35" name="Legend text"/>
          <p:cNvSpPr txBox="1"/>
          <p:nvPr/>
        </p:nvSpPr>
        <p:spPr>
          <a:xfrm>
            <a:off x="8412480" y="2987040"/>
            <a:ext cx="3230575" cy="762000"/>
          </a:xfrm>
          <a:prstGeom prst="rect">
            <a:avLst/>
          </a:prstGeom>
          <a:noFill/>
          <a:ln/>
        </p:spPr>
        <p:txBody>
          <a:bodyPr wrap="square" lIns="0" tIns="0" rIns="0" bIns="0" rtlCol="0" anchor="ctr"/>
          <a:lstStyle/>
          <a:p>
            <a:pPr indent="0" marL="0">
              <a:buNone/>
            </a:pPr>
            <a:r>
              <a:rPr lang="en-US" sz="1400" b="1" dirty="0">
                <a:solidFill>
                  <a:schemeClr val="accent1"/>
                </a:solidFill>
              </a:rPr>
              <a:t>Editor</a:t>
            </a:r>
            <a:endParaRPr lang="en-US" sz="1400" dirty="0"/>
          </a:p>
          <a:p>
            <a:pPr indent="0" marL="0">
              <a:buNone/>
            </a:pPr>
            <a:r>
              <a:rPr lang="en-US" sz="1400" dirty="0">
                <a:solidFill>
                  <a:schemeClr val="tx1"/>
                </a:solidFill>
              </a:rPr>
              <a:t>Where source code is written and edited</a:t>
            </a:r>
            <a:endParaRPr lang="en-US" sz="1400" dirty="0"/>
          </a:p>
        </p:txBody>
      </p:sp>
      <p:sp>
        <p:nvSpPr>
          <p:cNvPr id="36" name="Legend marker"/>
          <p:cNvSpPr/>
          <p:nvPr/>
        </p:nvSpPr>
        <p:spPr>
          <a:xfrm>
            <a:off x="7909560" y="3947160"/>
            <a:ext cx="365760" cy="365760"/>
          </a:xfrm>
          <a:prstGeom prst="ellipse">
            <a:avLst/>
          </a:prstGeom>
          <a:solidFill>
            <a:schemeClr val="accent2"/>
          </a:solidFill>
          <a:ln/>
        </p:spPr>
      </p:sp>
      <p:sp>
        <p:nvSpPr>
          <p:cNvPr id="37" name="Legend number"/>
          <p:cNvSpPr txBox="1"/>
          <p:nvPr/>
        </p:nvSpPr>
        <p:spPr>
          <a:xfrm>
            <a:off x="7909560" y="3947160"/>
            <a:ext cx="365760" cy="365760"/>
          </a:xfrm>
          <a:prstGeom prst="rect">
            <a:avLst/>
          </a:prstGeom>
          <a:noFill/>
          <a:ln/>
        </p:spPr>
        <p:txBody>
          <a:bodyPr wrap="square" lIns="0" tIns="0" rIns="0" bIns="0" rtlCol="0" anchor="ctr"/>
          <a:lstStyle/>
          <a:p>
            <a:pPr algn="ctr" indent="0" marL="0">
              <a:buNone/>
            </a:pPr>
            <a:r>
              <a:rPr lang="en-US" sz="1400" b="1" dirty="0">
                <a:solidFill>
                  <a:schemeClr val="accent1"/>
                </a:solidFill>
              </a:rPr>
              <a:t>4</a:t>
            </a:r>
            <a:endParaRPr lang="en-US" sz="1400" dirty="0"/>
          </a:p>
        </p:txBody>
      </p:sp>
      <p:sp>
        <p:nvSpPr>
          <p:cNvPr id="38" name="Legend text"/>
          <p:cNvSpPr txBox="1"/>
          <p:nvPr/>
        </p:nvSpPr>
        <p:spPr>
          <a:xfrm>
            <a:off x="8412480" y="3749040"/>
            <a:ext cx="3230575" cy="762000"/>
          </a:xfrm>
          <a:prstGeom prst="rect">
            <a:avLst/>
          </a:prstGeom>
          <a:noFill/>
          <a:ln/>
        </p:spPr>
        <p:txBody>
          <a:bodyPr wrap="square" lIns="0" tIns="0" rIns="0" bIns="0" rtlCol="0" anchor="ctr"/>
          <a:lstStyle/>
          <a:p>
            <a:pPr indent="0" marL="0">
              <a:buNone/>
            </a:pPr>
            <a:r>
              <a:rPr lang="en-US" sz="1400" b="1" dirty="0">
                <a:solidFill>
                  <a:schemeClr val="accent1"/>
                </a:solidFill>
              </a:rPr>
              <a:t>Terminal</a:t>
            </a:r>
            <a:endParaRPr lang="en-US" sz="1400" dirty="0"/>
          </a:p>
          <a:p>
            <a:pPr indent="0" marL="0">
              <a:buNone/>
            </a:pPr>
            <a:r>
              <a:rPr lang="en-US" sz="1400" dirty="0">
                <a:solidFill>
                  <a:schemeClr val="tx1"/>
                </a:solidFill>
              </a:rPr>
              <a:t>Run commands such as python main.py</a:t>
            </a:r>
            <a:endParaRPr lang="en-US" sz="1400" dirty="0"/>
          </a:p>
        </p:txBody>
      </p:sp>
      <p:sp>
        <p:nvSpPr>
          <p:cNvPr id="39" name="Legend marker"/>
          <p:cNvSpPr/>
          <p:nvPr/>
        </p:nvSpPr>
        <p:spPr>
          <a:xfrm>
            <a:off x="7909560" y="4709160"/>
            <a:ext cx="365760" cy="365760"/>
          </a:xfrm>
          <a:prstGeom prst="ellipse">
            <a:avLst/>
          </a:prstGeom>
          <a:solidFill>
            <a:schemeClr val="accent2"/>
          </a:solidFill>
          <a:ln/>
        </p:spPr>
      </p:sp>
      <p:sp>
        <p:nvSpPr>
          <p:cNvPr id="40" name="Legend number"/>
          <p:cNvSpPr txBox="1"/>
          <p:nvPr/>
        </p:nvSpPr>
        <p:spPr>
          <a:xfrm>
            <a:off x="7909560" y="4709160"/>
            <a:ext cx="365760" cy="365760"/>
          </a:xfrm>
          <a:prstGeom prst="rect">
            <a:avLst/>
          </a:prstGeom>
          <a:noFill/>
          <a:ln/>
        </p:spPr>
        <p:txBody>
          <a:bodyPr wrap="square" lIns="0" tIns="0" rIns="0" bIns="0" rtlCol="0" anchor="ctr"/>
          <a:lstStyle/>
          <a:p>
            <a:pPr algn="ctr" indent="0" marL="0">
              <a:buNone/>
            </a:pPr>
            <a:r>
              <a:rPr lang="en-US" sz="1400" b="1" dirty="0">
                <a:solidFill>
                  <a:schemeClr val="accent1"/>
                </a:solidFill>
              </a:rPr>
              <a:t>5</a:t>
            </a:r>
            <a:endParaRPr lang="en-US" sz="1400" dirty="0"/>
          </a:p>
        </p:txBody>
      </p:sp>
      <p:sp>
        <p:nvSpPr>
          <p:cNvPr id="41" name="Legend text"/>
          <p:cNvSpPr txBox="1"/>
          <p:nvPr/>
        </p:nvSpPr>
        <p:spPr>
          <a:xfrm>
            <a:off x="8412480" y="4511040"/>
            <a:ext cx="3230575" cy="762000"/>
          </a:xfrm>
          <a:prstGeom prst="rect">
            <a:avLst/>
          </a:prstGeom>
          <a:noFill/>
          <a:ln/>
        </p:spPr>
        <p:txBody>
          <a:bodyPr wrap="square" lIns="0" tIns="0" rIns="0" bIns="0" rtlCol="0" anchor="ctr"/>
          <a:lstStyle/>
          <a:p>
            <a:pPr indent="0" marL="0">
              <a:buNone/>
            </a:pPr>
            <a:r>
              <a:rPr lang="en-US" sz="1400" b="1" dirty="0">
                <a:solidFill>
                  <a:schemeClr val="accent1"/>
                </a:solidFill>
              </a:rPr>
              <a:t>Problems and Output</a:t>
            </a:r>
            <a:endParaRPr lang="en-US" sz="1400" dirty="0"/>
          </a:p>
          <a:p>
            <a:pPr indent="0" marL="0">
              <a:buNone/>
            </a:pPr>
            <a:r>
              <a:rPr lang="en-US" sz="1400" dirty="0">
                <a:solidFill>
                  <a:schemeClr val="tx1"/>
                </a:solidFill>
              </a:rPr>
              <a:t>Diagnostic messages and program results</a:t>
            </a:r>
            <a:endParaRPr lang="en-US" sz="1400" dirty="0"/>
          </a:p>
        </p:txBody>
      </p:sp>
      <p:sp>
        <p:nvSpPr>
          <p:cNvPr id="42" name="Legend marker"/>
          <p:cNvSpPr/>
          <p:nvPr/>
        </p:nvSpPr>
        <p:spPr>
          <a:xfrm>
            <a:off x="7909560" y="5471160"/>
            <a:ext cx="365760" cy="365760"/>
          </a:xfrm>
          <a:prstGeom prst="ellipse">
            <a:avLst/>
          </a:prstGeom>
          <a:solidFill>
            <a:schemeClr val="accent2"/>
          </a:solidFill>
          <a:ln/>
        </p:spPr>
      </p:sp>
      <p:sp>
        <p:nvSpPr>
          <p:cNvPr id="43" name="Legend number"/>
          <p:cNvSpPr txBox="1"/>
          <p:nvPr/>
        </p:nvSpPr>
        <p:spPr>
          <a:xfrm>
            <a:off x="7909560" y="5471160"/>
            <a:ext cx="365760" cy="365760"/>
          </a:xfrm>
          <a:prstGeom prst="rect">
            <a:avLst/>
          </a:prstGeom>
          <a:noFill/>
          <a:ln/>
        </p:spPr>
        <p:txBody>
          <a:bodyPr wrap="square" lIns="0" tIns="0" rIns="0" bIns="0" rtlCol="0" anchor="ctr"/>
          <a:lstStyle/>
          <a:p>
            <a:pPr algn="ctr" indent="0" marL="0">
              <a:buNone/>
            </a:pPr>
            <a:r>
              <a:rPr lang="en-US" sz="1400" b="1" dirty="0">
                <a:solidFill>
                  <a:schemeClr val="accent1"/>
                </a:solidFill>
              </a:rPr>
              <a:t>6</a:t>
            </a:r>
            <a:endParaRPr lang="en-US" sz="1400" dirty="0"/>
          </a:p>
        </p:txBody>
      </p:sp>
      <p:sp>
        <p:nvSpPr>
          <p:cNvPr id="44" name="Legend text"/>
          <p:cNvSpPr txBox="1"/>
          <p:nvPr/>
        </p:nvSpPr>
        <p:spPr>
          <a:xfrm>
            <a:off x="8412480" y="5273040"/>
            <a:ext cx="3230575" cy="762000"/>
          </a:xfrm>
          <a:prstGeom prst="rect">
            <a:avLst/>
          </a:prstGeom>
          <a:noFill/>
          <a:ln/>
        </p:spPr>
        <p:txBody>
          <a:bodyPr wrap="square" lIns="0" tIns="0" rIns="0" bIns="0" rtlCol="0" anchor="ctr"/>
          <a:lstStyle/>
          <a:p>
            <a:pPr indent="0" marL="0">
              <a:buNone/>
            </a:pPr>
            <a:r>
              <a:rPr lang="en-US" sz="1400" b="1" dirty="0">
                <a:solidFill>
                  <a:schemeClr val="accent1"/>
                </a:solidFill>
              </a:rPr>
              <a:t>Status bar</a:t>
            </a:r>
            <a:endParaRPr lang="en-US" sz="1400" dirty="0"/>
          </a:p>
          <a:p>
            <a:pPr indent="0" marL="0">
              <a:buNone/>
            </a:pPr>
            <a:r>
              <a:rPr lang="en-US" sz="1400" dirty="0">
                <a:solidFill>
                  <a:schemeClr val="tx1"/>
                </a:solidFill>
              </a:rPr>
              <a:t>Shows and selects the Python interpreter</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Live demo: the development workflow</a:t>
            </a:r>
            <a:endParaRPr lang="en-US" sz="3000" dirty="0"/>
          </a:p>
        </p:txBody>
      </p:sp>
      <p:sp>
        <p:nvSpPr>
          <p:cNvPr id="4" name="Flow card 1"/>
          <p:cNvSpPr/>
          <p:nvPr/>
        </p:nvSpPr>
        <p:spPr>
          <a:xfrm>
            <a:off x="548640" y="1645920"/>
            <a:ext cx="1889150" cy="3291840"/>
          </a:xfrm>
          <a:prstGeom prst="roundRect">
            <a:avLst>
              <a:gd name="adj" fmla="val 4840"/>
            </a:avLst>
          </a:prstGeom>
          <a:solidFill>
            <a:schemeClr val="bg2"/>
          </a:solidFill>
          <a:ln/>
        </p:spPr>
      </p:sp>
      <p:sp>
        <p:nvSpPr>
          <p:cNvPr id="5" name="Flow marker"/>
          <p:cNvSpPr/>
          <p:nvPr/>
        </p:nvSpPr>
        <p:spPr>
          <a:xfrm>
            <a:off x="777240" y="1874520"/>
            <a:ext cx="594360" cy="594360"/>
          </a:xfrm>
          <a:prstGeom prst="ellipse">
            <a:avLst/>
          </a:prstGeom>
          <a:solidFill>
            <a:schemeClr val="accent2"/>
          </a:solidFill>
          <a:ln/>
        </p:spPr>
      </p:sp>
      <p:sp>
        <p:nvSpPr>
          <p:cNvPr id="6" name="Flow number"/>
          <p:cNvSpPr txBox="1"/>
          <p:nvPr/>
        </p:nvSpPr>
        <p:spPr>
          <a:xfrm>
            <a:off x="777240" y="1874520"/>
            <a:ext cx="594360" cy="594360"/>
          </a:xfrm>
          <a:prstGeom prst="rect">
            <a:avLst/>
          </a:prstGeom>
          <a:noFill/>
          <a:ln/>
        </p:spPr>
        <p:txBody>
          <a:bodyPr wrap="square" lIns="0" tIns="0" rIns="0" bIns="0" rtlCol="0" anchor="ctr"/>
          <a:lstStyle/>
          <a:p>
            <a:pPr algn="ctr" indent="0" marL="0">
              <a:buNone/>
            </a:pPr>
            <a:r>
              <a:rPr lang="en-US" sz="2000" b="1" dirty="0">
                <a:solidFill>
                  <a:schemeClr val="accent1"/>
                </a:solidFill>
              </a:rPr>
              <a:t>1</a:t>
            </a:r>
            <a:endParaRPr lang="en-US" sz="2000" dirty="0"/>
          </a:p>
        </p:txBody>
      </p:sp>
      <p:sp>
        <p:nvSpPr>
          <p:cNvPr id="7" name="Flow heading"/>
          <p:cNvSpPr txBox="1"/>
          <p:nvPr/>
        </p:nvSpPr>
        <p:spPr>
          <a:xfrm>
            <a:off x="777240" y="2606040"/>
            <a:ext cx="1431950" cy="457200"/>
          </a:xfrm>
          <a:prstGeom prst="rect">
            <a:avLst/>
          </a:prstGeom>
          <a:noFill/>
          <a:ln/>
        </p:spPr>
        <p:txBody>
          <a:bodyPr wrap="square" lIns="0" tIns="0" rIns="0" bIns="0" rtlCol="0" anchor="t"/>
          <a:lstStyle/>
          <a:p>
            <a:pPr indent="0" marL="0">
              <a:buNone/>
            </a:pPr>
            <a:r>
              <a:rPr lang="en-US" sz="2200" b="1" dirty="0">
                <a:solidFill>
                  <a:schemeClr val="accent1"/>
                </a:solidFill>
              </a:rPr>
              <a:t>Create</a:t>
            </a:r>
            <a:endParaRPr lang="en-US" sz="2200" dirty="0"/>
          </a:p>
        </p:txBody>
      </p:sp>
      <p:sp>
        <p:nvSpPr>
          <p:cNvPr id="8" name="Flow text"/>
          <p:cNvSpPr txBox="1"/>
          <p:nvPr/>
        </p:nvSpPr>
        <p:spPr>
          <a:xfrm>
            <a:off x="777240" y="3108960"/>
            <a:ext cx="1431950" cy="1691640"/>
          </a:xfrm>
          <a:prstGeom prst="rect">
            <a:avLst/>
          </a:prstGeom>
          <a:noFill/>
          <a:ln/>
        </p:spPr>
        <p:txBody>
          <a:bodyPr wrap="square" lIns="0" tIns="0" rIns="0" bIns="0" rtlCol="0" anchor="t"/>
          <a:lstStyle/>
          <a:p>
            <a:pPr indent="0" marL="0">
              <a:buNone/>
            </a:pPr>
            <a:r>
              <a:rPr lang="en-US" sz="1600" dirty="0">
                <a:solidFill>
                  <a:schemeClr val="tx1"/>
                </a:solidFill>
              </a:rPr>
              <a:t>Make a folder Unit1_Project with main.py and README.md.</a:t>
            </a:r>
            <a:endParaRPr lang="en-US" sz="1600" dirty="0"/>
          </a:p>
        </p:txBody>
      </p:sp>
      <p:sp>
        <p:nvSpPr>
          <p:cNvPr id="9" name="Flow arrow"/>
          <p:cNvSpPr/>
          <p:nvPr/>
        </p:nvSpPr>
        <p:spPr>
          <a:xfrm>
            <a:off x="2474366" y="3136392"/>
            <a:ext cx="338328" cy="310896"/>
          </a:xfrm>
          <a:prstGeom prst="rightArrow">
            <a:avLst/>
          </a:prstGeom>
          <a:solidFill>
            <a:schemeClr val="accent1"/>
          </a:solidFill>
          <a:ln/>
        </p:spPr>
      </p:sp>
      <p:sp>
        <p:nvSpPr>
          <p:cNvPr id="10" name="Flow card 2"/>
          <p:cNvSpPr/>
          <p:nvPr/>
        </p:nvSpPr>
        <p:spPr>
          <a:xfrm>
            <a:off x="2849270" y="1645920"/>
            <a:ext cx="1889150" cy="3291840"/>
          </a:xfrm>
          <a:prstGeom prst="roundRect">
            <a:avLst>
              <a:gd name="adj" fmla="val 4840"/>
            </a:avLst>
          </a:prstGeom>
          <a:solidFill>
            <a:schemeClr val="bg2"/>
          </a:solidFill>
          <a:ln/>
        </p:spPr>
      </p:sp>
      <p:sp>
        <p:nvSpPr>
          <p:cNvPr id="11" name="Flow marker"/>
          <p:cNvSpPr/>
          <p:nvPr/>
        </p:nvSpPr>
        <p:spPr>
          <a:xfrm>
            <a:off x="3077870" y="1874520"/>
            <a:ext cx="594360" cy="594360"/>
          </a:xfrm>
          <a:prstGeom prst="ellipse">
            <a:avLst/>
          </a:prstGeom>
          <a:solidFill>
            <a:schemeClr val="accent2"/>
          </a:solidFill>
          <a:ln/>
        </p:spPr>
      </p:sp>
      <p:sp>
        <p:nvSpPr>
          <p:cNvPr id="12" name="Flow number"/>
          <p:cNvSpPr txBox="1"/>
          <p:nvPr/>
        </p:nvSpPr>
        <p:spPr>
          <a:xfrm>
            <a:off x="3077870" y="1874520"/>
            <a:ext cx="594360" cy="594360"/>
          </a:xfrm>
          <a:prstGeom prst="rect">
            <a:avLst/>
          </a:prstGeom>
          <a:noFill/>
          <a:ln/>
        </p:spPr>
        <p:txBody>
          <a:bodyPr wrap="square" lIns="0" tIns="0" rIns="0" bIns="0" rtlCol="0" anchor="ctr"/>
          <a:lstStyle/>
          <a:p>
            <a:pPr algn="ctr" indent="0" marL="0">
              <a:buNone/>
            </a:pPr>
            <a:r>
              <a:rPr lang="en-US" sz="2000" b="1" dirty="0">
                <a:solidFill>
                  <a:schemeClr val="accent1"/>
                </a:solidFill>
              </a:rPr>
              <a:t>2</a:t>
            </a:r>
            <a:endParaRPr lang="en-US" sz="2000" dirty="0"/>
          </a:p>
        </p:txBody>
      </p:sp>
      <p:sp>
        <p:nvSpPr>
          <p:cNvPr id="13" name="Flow heading"/>
          <p:cNvSpPr txBox="1"/>
          <p:nvPr/>
        </p:nvSpPr>
        <p:spPr>
          <a:xfrm>
            <a:off x="3077870" y="2606040"/>
            <a:ext cx="1431950" cy="457200"/>
          </a:xfrm>
          <a:prstGeom prst="rect">
            <a:avLst/>
          </a:prstGeom>
          <a:noFill/>
          <a:ln/>
        </p:spPr>
        <p:txBody>
          <a:bodyPr wrap="square" lIns="0" tIns="0" rIns="0" bIns="0" rtlCol="0" anchor="t"/>
          <a:lstStyle/>
          <a:p>
            <a:pPr indent="0" marL="0">
              <a:buNone/>
            </a:pPr>
            <a:r>
              <a:rPr lang="en-US" sz="2200" b="1" dirty="0">
                <a:solidFill>
                  <a:schemeClr val="accent1"/>
                </a:solidFill>
              </a:rPr>
              <a:t>Write</a:t>
            </a:r>
            <a:endParaRPr lang="en-US" sz="2200" dirty="0"/>
          </a:p>
        </p:txBody>
      </p:sp>
      <p:sp>
        <p:nvSpPr>
          <p:cNvPr id="14" name="Flow text"/>
          <p:cNvSpPr txBox="1"/>
          <p:nvPr/>
        </p:nvSpPr>
        <p:spPr>
          <a:xfrm>
            <a:off x="3077870" y="3108960"/>
            <a:ext cx="1431950" cy="1691640"/>
          </a:xfrm>
          <a:prstGeom prst="rect">
            <a:avLst/>
          </a:prstGeom>
          <a:noFill/>
          <a:ln/>
        </p:spPr>
        <p:txBody>
          <a:bodyPr wrap="square" lIns="0" tIns="0" rIns="0" bIns="0" rtlCol="0" anchor="t"/>
          <a:lstStyle/>
          <a:p>
            <a:pPr indent="0" marL="0">
              <a:buNone/>
            </a:pPr>
            <a:r>
              <a:rPr lang="en-US" sz="1600" dirty="0">
                <a:solidFill>
                  <a:schemeClr val="tx1"/>
                </a:solidFill>
              </a:rPr>
              <a:t>Type the calculate_total program into main.py.</a:t>
            </a:r>
            <a:endParaRPr lang="en-US" sz="1600" dirty="0"/>
          </a:p>
        </p:txBody>
      </p:sp>
      <p:sp>
        <p:nvSpPr>
          <p:cNvPr id="15" name="Flow arrow"/>
          <p:cNvSpPr/>
          <p:nvPr/>
        </p:nvSpPr>
        <p:spPr>
          <a:xfrm>
            <a:off x="4774997" y="3136392"/>
            <a:ext cx="338328" cy="310896"/>
          </a:xfrm>
          <a:prstGeom prst="rightArrow">
            <a:avLst/>
          </a:prstGeom>
          <a:solidFill>
            <a:schemeClr val="accent1"/>
          </a:solidFill>
          <a:ln/>
        </p:spPr>
      </p:sp>
      <p:sp>
        <p:nvSpPr>
          <p:cNvPr id="16" name="Flow card 3"/>
          <p:cNvSpPr/>
          <p:nvPr/>
        </p:nvSpPr>
        <p:spPr>
          <a:xfrm>
            <a:off x="5149901" y="1645920"/>
            <a:ext cx="1889150" cy="3291840"/>
          </a:xfrm>
          <a:prstGeom prst="roundRect">
            <a:avLst>
              <a:gd name="adj" fmla="val 4840"/>
            </a:avLst>
          </a:prstGeom>
          <a:solidFill>
            <a:schemeClr val="bg2"/>
          </a:solidFill>
          <a:ln/>
        </p:spPr>
      </p:sp>
      <p:sp>
        <p:nvSpPr>
          <p:cNvPr id="17" name="Flow marker"/>
          <p:cNvSpPr/>
          <p:nvPr/>
        </p:nvSpPr>
        <p:spPr>
          <a:xfrm>
            <a:off x="5378501" y="1874520"/>
            <a:ext cx="594360" cy="594360"/>
          </a:xfrm>
          <a:prstGeom prst="ellipse">
            <a:avLst/>
          </a:prstGeom>
          <a:solidFill>
            <a:schemeClr val="accent2"/>
          </a:solidFill>
          <a:ln/>
        </p:spPr>
      </p:sp>
      <p:sp>
        <p:nvSpPr>
          <p:cNvPr id="18" name="Flow number"/>
          <p:cNvSpPr txBox="1"/>
          <p:nvPr/>
        </p:nvSpPr>
        <p:spPr>
          <a:xfrm>
            <a:off x="5378501" y="1874520"/>
            <a:ext cx="594360" cy="594360"/>
          </a:xfrm>
          <a:prstGeom prst="rect">
            <a:avLst/>
          </a:prstGeom>
          <a:noFill/>
          <a:ln/>
        </p:spPr>
        <p:txBody>
          <a:bodyPr wrap="square" lIns="0" tIns="0" rIns="0" bIns="0" rtlCol="0" anchor="ctr"/>
          <a:lstStyle/>
          <a:p>
            <a:pPr algn="ctr" indent="0" marL="0">
              <a:buNone/>
            </a:pPr>
            <a:r>
              <a:rPr lang="en-US" sz="2000" b="1" dirty="0">
                <a:solidFill>
                  <a:schemeClr val="accent1"/>
                </a:solidFill>
              </a:rPr>
              <a:t>3</a:t>
            </a:r>
            <a:endParaRPr lang="en-US" sz="2000" dirty="0"/>
          </a:p>
        </p:txBody>
      </p:sp>
      <p:sp>
        <p:nvSpPr>
          <p:cNvPr id="19" name="Flow heading"/>
          <p:cNvSpPr txBox="1"/>
          <p:nvPr/>
        </p:nvSpPr>
        <p:spPr>
          <a:xfrm>
            <a:off x="5378501" y="2606040"/>
            <a:ext cx="1431950" cy="457200"/>
          </a:xfrm>
          <a:prstGeom prst="rect">
            <a:avLst/>
          </a:prstGeom>
          <a:noFill/>
          <a:ln/>
        </p:spPr>
        <p:txBody>
          <a:bodyPr wrap="square" lIns="0" tIns="0" rIns="0" bIns="0" rtlCol="0" anchor="t"/>
          <a:lstStyle/>
          <a:p>
            <a:pPr indent="0" marL="0">
              <a:buNone/>
            </a:pPr>
            <a:r>
              <a:rPr lang="en-US" sz="2200" b="1" dirty="0">
                <a:solidFill>
                  <a:schemeClr val="accent1"/>
                </a:solidFill>
              </a:rPr>
              <a:t>Run</a:t>
            </a:r>
            <a:endParaRPr lang="en-US" sz="2200" dirty="0"/>
          </a:p>
        </p:txBody>
      </p:sp>
      <p:sp>
        <p:nvSpPr>
          <p:cNvPr id="20" name="Flow text"/>
          <p:cNvSpPr txBox="1"/>
          <p:nvPr/>
        </p:nvSpPr>
        <p:spPr>
          <a:xfrm>
            <a:off x="5378501" y="3108960"/>
            <a:ext cx="1431950" cy="1691640"/>
          </a:xfrm>
          <a:prstGeom prst="rect">
            <a:avLst/>
          </a:prstGeom>
          <a:noFill/>
          <a:ln/>
        </p:spPr>
        <p:txBody>
          <a:bodyPr wrap="square" lIns="0" tIns="0" rIns="0" bIns="0" rtlCol="0" anchor="t"/>
          <a:lstStyle/>
          <a:p>
            <a:pPr indent="0" marL="0">
              <a:buNone/>
            </a:pPr>
            <a:r>
              <a:rPr lang="en-US" sz="1600" dirty="0">
                <a:solidFill>
                  <a:schemeClr val="tx1"/>
                </a:solidFill>
              </a:rPr>
              <a:t>Save with Ctrl+S, then run python main.py in the terminal.</a:t>
            </a:r>
            <a:endParaRPr lang="en-US" sz="1600" dirty="0"/>
          </a:p>
        </p:txBody>
      </p:sp>
      <p:sp>
        <p:nvSpPr>
          <p:cNvPr id="21" name="Flow arrow"/>
          <p:cNvSpPr/>
          <p:nvPr/>
        </p:nvSpPr>
        <p:spPr>
          <a:xfrm>
            <a:off x="7075627" y="3136392"/>
            <a:ext cx="338328" cy="310896"/>
          </a:xfrm>
          <a:prstGeom prst="rightArrow">
            <a:avLst/>
          </a:prstGeom>
          <a:solidFill>
            <a:schemeClr val="accent1"/>
          </a:solidFill>
          <a:ln/>
        </p:spPr>
      </p:sp>
      <p:sp>
        <p:nvSpPr>
          <p:cNvPr id="22" name="Flow card 4"/>
          <p:cNvSpPr/>
          <p:nvPr/>
        </p:nvSpPr>
        <p:spPr>
          <a:xfrm>
            <a:off x="7450531" y="1645920"/>
            <a:ext cx="1889150" cy="3291840"/>
          </a:xfrm>
          <a:prstGeom prst="roundRect">
            <a:avLst>
              <a:gd name="adj" fmla="val 4840"/>
            </a:avLst>
          </a:prstGeom>
          <a:solidFill>
            <a:schemeClr val="bg2"/>
          </a:solidFill>
          <a:ln/>
        </p:spPr>
      </p:sp>
      <p:sp>
        <p:nvSpPr>
          <p:cNvPr id="23" name="Flow marker"/>
          <p:cNvSpPr/>
          <p:nvPr/>
        </p:nvSpPr>
        <p:spPr>
          <a:xfrm>
            <a:off x="7679131" y="1874520"/>
            <a:ext cx="594360" cy="594360"/>
          </a:xfrm>
          <a:prstGeom prst="ellipse">
            <a:avLst/>
          </a:prstGeom>
          <a:solidFill>
            <a:schemeClr val="accent2"/>
          </a:solidFill>
          <a:ln/>
        </p:spPr>
      </p:sp>
      <p:sp>
        <p:nvSpPr>
          <p:cNvPr id="24" name="Flow number"/>
          <p:cNvSpPr txBox="1"/>
          <p:nvPr/>
        </p:nvSpPr>
        <p:spPr>
          <a:xfrm>
            <a:off x="7679131" y="1874520"/>
            <a:ext cx="594360" cy="594360"/>
          </a:xfrm>
          <a:prstGeom prst="rect">
            <a:avLst/>
          </a:prstGeom>
          <a:noFill/>
          <a:ln/>
        </p:spPr>
        <p:txBody>
          <a:bodyPr wrap="square" lIns="0" tIns="0" rIns="0" bIns="0" rtlCol="0" anchor="ctr"/>
          <a:lstStyle/>
          <a:p>
            <a:pPr algn="ctr" indent="0" marL="0">
              <a:buNone/>
            </a:pPr>
            <a:r>
              <a:rPr lang="en-US" sz="2000" b="1" dirty="0">
                <a:solidFill>
                  <a:schemeClr val="accent1"/>
                </a:solidFill>
              </a:rPr>
              <a:t>4</a:t>
            </a:r>
            <a:endParaRPr lang="en-US" sz="2000" dirty="0"/>
          </a:p>
        </p:txBody>
      </p:sp>
      <p:sp>
        <p:nvSpPr>
          <p:cNvPr id="25" name="Flow heading"/>
          <p:cNvSpPr txBox="1"/>
          <p:nvPr/>
        </p:nvSpPr>
        <p:spPr>
          <a:xfrm>
            <a:off x="7679131" y="2606040"/>
            <a:ext cx="1431950" cy="457200"/>
          </a:xfrm>
          <a:prstGeom prst="rect">
            <a:avLst/>
          </a:prstGeom>
          <a:noFill/>
          <a:ln/>
        </p:spPr>
        <p:txBody>
          <a:bodyPr wrap="square" lIns="0" tIns="0" rIns="0" bIns="0" rtlCol="0" anchor="t"/>
          <a:lstStyle/>
          <a:p>
            <a:pPr indent="0" marL="0">
              <a:buNone/>
            </a:pPr>
            <a:r>
              <a:rPr lang="en-US" sz="2200" b="1" dirty="0">
                <a:solidFill>
                  <a:schemeClr val="accent1"/>
                </a:solidFill>
              </a:rPr>
              <a:t>Change</a:t>
            </a:r>
            <a:endParaRPr lang="en-US" sz="2200" dirty="0"/>
          </a:p>
        </p:txBody>
      </p:sp>
      <p:sp>
        <p:nvSpPr>
          <p:cNvPr id="26" name="Flow text"/>
          <p:cNvSpPr txBox="1"/>
          <p:nvPr/>
        </p:nvSpPr>
        <p:spPr>
          <a:xfrm>
            <a:off x="7679131" y="3108960"/>
            <a:ext cx="1431950" cy="1691640"/>
          </a:xfrm>
          <a:prstGeom prst="rect">
            <a:avLst/>
          </a:prstGeom>
          <a:noFill/>
          <a:ln/>
        </p:spPr>
        <p:txBody>
          <a:bodyPr wrap="square" lIns="0" tIns="0" rIns="0" bIns="0" rtlCol="0" anchor="t"/>
          <a:lstStyle/>
          <a:p>
            <a:pPr indent="0" marL="0">
              <a:buNone/>
            </a:pPr>
            <a:r>
              <a:rPr lang="en-US" sz="1600" dirty="0">
                <a:solidFill>
                  <a:schemeClr val="tx1"/>
                </a:solidFill>
              </a:rPr>
              <a:t>Edit the price or quantity value in the editor.</a:t>
            </a:r>
            <a:endParaRPr lang="en-US" sz="1600" dirty="0"/>
          </a:p>
        </p:txBody>
      </p:sp>
      <p:sp>
        <p:nvSpPr>
          <p:cNvPr id="27" name="Flow arrow"/>
          <p:cNvSpPr/>
          <p:nvPr/>
        </p:nvSpPr>
        <p:spPr>
          <a:xfrm>
            <a:off x="9376258" y="3136392"/>
            <a:ext cx="338328" cy="310896"/>
          </a:xfrm>
          <a:prstGeom prst="rightArrow">
            <a:avLst/>
          </a:prstGeom>
          <a:solidFill>
            <a:schemeClr val="accent1"/>
          </a:solidFill>
          <a:ln/>
        </p:spPr>
      </p:sp>
      <p:sp>
        <p:nvSpPr>
          <p:cNvPr id="28" name="Flow card 5"/>
          <p:cNvSpPr/>
          <p:nvPr/>
        </p:nvSpPr>
        <p:spPr>
          <a:xfrm>
            <a:off x="9751162" y="1645920"/>
            <a:ext cx="1889150" cy="3291840"/>
          </a:xfrm>
          <a:prstGeom prst="roundRect">
            <a:avLst>
              <a:gd name="adj" fmla="val 4840"/>
            </a:avLst>
          </a:prstGeom>
          <a:solidFill>
            <a:schemeClr val="bg2"/>
          </a:solidFill>
          <a:ln/>
        </p:spPr>
      </p:sp>
      <p:sp>
        <p:nvSpPr>
          <p:cNvPr id="29" name="Flow marker"/>
          <p:cNvSpPr/>
          <p:nvPr/>
        </p:nvSpPr>
        <p:spPr>
          <a:xfrm>
            <a:off x="9979762" y="1874520"/>
            <a:ext cx="594360" cy="594360"/>
          </a:xfrm>
          <a:prstGeom prst="ellipse">
            <a:avLst/>
          </a:prstGeom>
          <a:solidFill>
            <a:schemeClr val="accent2"/>
          </a:solidFill>
          <a:ln/>
        </p:spPr>
      </p:sp>
      <p:sp>
        <p:nvSpPr>
          <p:cNvPr id="30" name="Flow number"/>
          <p:cNvSpPr txBox="1"/>
          <p:nvPr/>
        </p:nvSpPr>
        <p:spPr>
          <a:xfrm>
            <a:off x="9979762" y="1874520"/>
            <a:ext cx="594360" cy="594360"/>
          </a:xfrm>
          <a:prstGeom prst="rect">
            <a:avLst/>
          </a:prstGeom>
          <a:noFill/>
          <a:ln/>
        </p:spPr>
        <p:txBody>
          <a:bodyPr wrap="square" lIns="0" tIns="0" rIns="0" bIns="0" rtlCol="0" anchor="ctr"/>
          <a:lstStyle/>
          <a:p>
            <a:pPr algn="ctr" indent="0" marL="0">
              <a:buNone/>
            </a:pPr>
            <a:r>
              <a:rPr lang="en-US" sz="2000" b="1" dirty="0">
                <a:solidFill>
                  <a:schemeClr val="accent1"/>
                </a:solidFill>
              </a:rPr>
              <a:t>5</a:t>
            </a:r>
            <a:endParaRPr lang="en-US" sz="2000" dirty="0"/>
          </a:p>
        </p:txBody>
      </p:sp>
      <p:sp>
        <p:nvSpPr>
          <p:cNvPr id="31" name="Flow heading"/>
          <p:cNvSpPr txBox="1"/>
          <p:nvPr/>
        </p:nvSpPr>
        <p:spPr>
          <a:xfrm>
            <a:off x="9979762" y="2606040"/>
            <a:ext cx="1431950" cy="457200"/>
          </a:xfrm>
          <a:prstGeom prst="rect">
            <a:avLst/>
          </a:prstGeom>
          <a:noFill/>
          <a:ln/>
        </p:spPr>
        <p:txBody>
          <a:bodyPr wrap="square" lIns="0" tIns="0" rIns="0" bIns="0" rtlCol="0" anchor="t"/>
          <a:lstStyle/>
          <a:p>
            <a:pPr indent="0" marL="0">
              <a:buNone/>
            </a:pPr>
            <a:r>
              <a:rPr lang="en-US" sz="2200" b="1" dirty="0">
                <a:solidFill>
                  <a:schemeClr val="accent1"/>
                </a:solidFill>
              </a:rPr>
              <a:t>Rerun</a:t>
            </a:r>
            <a:endParaRPr lang="en-US" sz="2200" dirty="0"/>
          </a:p>
        </p:txBody>
      </p:sp>
      <p:sp>
        <p:nvSpPr>
          <p:cNvPr id="32" name="Flow text"/>
          <p:cNvSpPr txBox="1"/>
          <p:nvPr/>
        </p:nvSpPr>
        <p:spPr>
          <a:xfrm>
            <a:off x="9979762" y="3108960"/>
            <a:ext cx="1431950" cy="1691640"/>
          </a:xfrm>
          <a:prstGeom prst="rect">
            <a:avLst/>
          </a:prstGeom>
          <a:noFill/>
          <a:ln/>
        </p:spPr>
        <p:txBody>
          <a:bodyPr wrap="square" lIns="0" tIns="0" rIns="0" bIns="0" rtlCol="0" anchor="t"/>
          <a:lstStyle/>
          <a:p>
            <a:pPr indent="0" marL="0">
              <a:buNone/>
            </a:pPr>
            <a:r>
              <a:rPr lang="en-US" sz="1600" dirty="0">
                <a:solidFill>
                  <a:schemeClr val="tx1"/>
                </a:solidFill>
              </a:rPr>
              <a:t>Run again and compare the new output with the old.</a:t>
            </a:r>
            <a:endParaRPr lang="en-US" sz="1600" dirty="0"/>
          </a:p>
        </p:txBody>
      </p:sp>
      <p:sp>
        <p:nvSpPr>
          <p:cNvPr id="33" name="Footer panel"/>
          <p:cNvSpPr/>
          <p:nvPr/>
        </p:nvSpPr>
        <p:spPr>
          <a:xfrm>
            <a:off x="548640" y="5212080"/>
            <a:ext cx="11091672" cy="777240"/>
          </a:xfrm>
          <a:prstGeom prst="roundRect">
            <a:avLst>
              <a:gd name="adj" fmla="val 11765"/>
            </a:avLst>
          </a:prstGeom>
          <a:solidFill>
            <a:schemeClr val="accent1"/>
          </a:solidFill>
          <a:ln/>
        </p:spPr>
      </p:sp>
      <p:sp>
        <p:nvSpPr>
          <p:cNvPr id="34" name="Footer text"/>
          <p:cNvSpPr txBox="1"/>
          <p:nvPr/>
        </p:nvSpPr>
        <p:spPr>
          <a:xfrm>
            <a:off x="822960" y="5212080"/>
            <a:ext cx="10515600" cy="777240"/>
          </a:xfrm>
          <a:prstGeom prst="rect">
            <a:avLst/>
          </a:prstGeom>
          <a:noFill/>
          <a:ln/>
        </p:spPr>
        <p:txBody>
          <a:bodyPr wrap="square" lIns="0" tIns="0" rIns="0" bIns="0" rtlCol="0" anchor="ctr"/>
          <a:lstStyle/>
          <a:p>
            <a:pPr indent="0" marL="0">
              <a:buNone/>
            </a:pPr>
            <a:r>
              <a:rPr lang="en-US" sz="1800" dirty="0">
                <a:solidFill>
                  <a:schemeClr val="bg1"/>
                </a:solidFill>
              </a:rPr>
              <a:t>Narrate which component you are using at every step: editor, explorer, terminal.</a:t>
            </a:r>
            <a:endParaRPr lang="en-US" sz="18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Demo code: main.py</a:t>
            </a:r>
            <a:endParaRPr lang="en-US" sz="3000" dirty="0"/>
          </a:p>
        </p:txBody>
      </p:sp>
      <p:sp>
        <p:nvSpPr>
          <p:cNvPr id="4" name="Code block"/>
          <p:cNvSpPr/>
          <p:nvPr/>
        </p:nvSpPr>
        <p:spPr>
          <a:xfrm>
            <a:off x="548640" y="1463040"/>
            <a:ext cx="6583680" cy="2395728"/>
          </a:xfrm>
          <a:prstGeom prst="roundRect">
            <a:avLst>
              <a:gd name="adj" fmla="val 3053"/>
            </a:avLst>
          </a:prstGeom>
          <a:solidFill>
            <a:srgbClr val="0B1B38"/>
          </a:solidFill>
          <a:ln/>
        </p:spPr>
      </p:sp>
      <p:sp>
        <p:nvSpPr>
          <p:cNvPr id="5" name="Code text"/>
          <p:cNvSpPr txBox="1"/>
          <p:nvPr/>
        </p:nvSpPr>
        <p:spPr>
          <a:xfrm>
            <a:off x="777240" y="1645920"/>
            <a:ext cx="6126480" cy="2029968"/>
          </a:xfrm>
          <a:prstGeom prst="rect">
            <a:avLst/>
          </a:prstGeom>
          <a:noFill/>
          <a:ln/>
        </p:spPr>
        <p:txBody>
          <a:bodyPr wrap="square" lIns="0" tIns="0" rIns="0" bIns="0" rtlCol="0" anchor="t"/>
          <a:lstStyle/>
          <a:p>
            <a:pPr indent="0" marL="0">
              <a:buNone/>
            </a:pPr>
            <a:r>
              <a:rPr lang="en-US" sz="1600" dirty="0">
                <a:solidFill>
                  <a:srgbClr val="E8EEF9"/>
                </a:solidFill>
                <a:latin typeface="Courier New" pitchFamily="34" charset="0"/>
                <a:ea typeface="Courier New" pitchFamily="34" charset="-122"/>
                <a:cs typeface="Courier New" pitchFamily="34" charset="-120"/>
              </a:rPr>
              <a:t>def calculate_total(price, quantity):</a:t>
            </a:r>
            <a:endParaRPr lang="en-US" sz="1600" dirty="0"/>
          </a:p>
          <a:p>
            <a:pPr indent="0" marL="0">
              <a:buNone/>
            </a:pPr>
            <a:r>
              <a:rPr lang="en-US" sz="1600" dirty="0">
                <a:solidFill>
                  <a:srgbClr val="E8EEF9"/>
                </a:solidFill>
                <a:latin typeface="Courier New" pitchFamily="34" charset="0"/>
                <a:ea typeface="Courier New" pitchFamily="34" charset="-122"/>
                <a:cs typeface="Courier New" pitchFamily="34" charset="-120"/>
              </a:rPr>
              <a:t>    return price * quantity</a:t>
            </a:r>
            <a:endParaRPr lang="en-US" sz="1600" dirty="0"/>
          </a:p>
          <a:p>
            <a:pPr indent="0" marL="0">
              <a:buNone/>
            </a:pPr>
            <a:r>
              <a:rPr lang="en-US" sz="1600" dirty="0">
                <a:solidFill>
                  <a:srgbClr val="E8EEF9"/>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8EEF9"/>
                </a:solidFill>
                <a:latin typeface="Courier New" pitchFamily="34" charset="0"/>
                <a:ea typeface="Courier New" pitchFamily="34" charset="-122"/>
                <a:cs typeface="Courier New" pitchFamily="34" charset="-120"/>
              </a:rPr>
              <a:t>price = 100</a:t>
            </a:r>
            <a:endParaRPr lang="en-US" sz="1600" dirty="0"/>
          </a:p>
          <a:p>
            <a:pPr indent="0" marL="0">
              <a:buNone/>
            </a:pPr>
            <a:r>
              <a:rPr lang="en-US" sz="1600" dirty="0">
                <a:solidFill>
                  <a:srgbClr val="E8EEF9"/>
                </a:solidFill>
                <a:latin typeface="Courier New" pitchFamily="34" charset="0"/>
                <a:ea typeface="Courier New" pitchFamily="34" charset="-122"/>
                <a:cs typeface="Courier New" pitchFamily="34" charset="-120"/>
              </a:rPr>
              <a:t>quantity = 3</a:t>
            </a:r>
            <a:endParaRPr lang="en-US" sz="1600" dirty="0"/>
          </a:p>
          <a:p>
            <a:pPr indent="0" marL="0">
              <a:buNone/>
            </a:pPr>
            <a:r>
              <a:rPr lang="en-US" sz="1600" dirty="0">
                <a:solidFill>
                  <a:srgbClr val="E8EEF9"/>
                </a:solidFill>
                <a:latin typeface="Courier New" pitchFamily="34" charset="0"/>
                <a:ea typeface="Courier New" pitchFamily="34" charset="-122"/>
                <a:cs typeface="Courier New" pitchFamily="34" charset="-120"/>
              </a:rPr>
              <a:t>total = calculate_total(price, quantity)</a:t>
            </a:r>
            <a:endParaRPr lang="en-US" sz="1600" dirty="0"/>
          </a:p>
          <a:p>
            <a:pPr indent="0" marL="0">
              <a:buNone/>
            </a:pPr>
            <a:r>
              <a:rPr lang="en-US" sz="1600" dirty="0">
                <a:solidFill>
                  <a:srgbClr val="E8EEF9"/>
                </a:solidFill>
                <a:latin typeface="Courier New" pitchFamily="34" charset="0"/>
                <a:ea typeface="Courier New" pitchFamily="34" charset="-122"/>
                <a:cs typeface="Courier New" pitchFamily="34" charset="-120"/>
              </a:rPr>
              <a:t>print("Total amount:", total)</a:t>
            </a:r>
            <a:endParaRPr lang="en-US" sz="1600" dirty="0"/>
          </a:p>
        </p:txBody>
      </p:sp>
      <p:sp>
        <p:nvSpPr>
          <p:cNvPr id="6" name="Label"/>
          <p:cNvSpPr txBox="1"/>
          <p:nvPr/>
        </p:nvSpPr>
        <p:spPr>
          <a:xfrm>
            <a:off x="548640" y="4069080"/>
            <a:ext cx="6583680" cy="274320"/>
          </a:xfrm>
          <a:prstGeom prst="rect">
            <a:avLst/>
          </a:prstGeom>
          <a:noFill/>
          <a:ln/>
        </p:spPr>
        <p:txBody>
          <a:bodyPr wrap="square" lIns="0" tIns="0" rIns="0" bIns="0" rtlCol="0" anchor="ctr"/>
          <a:lstStyle/>
          <a:p>
            <a:pPr indent="0" marL="0">
              <a:buNone/>
            </a:pPr>
            <a:r>
              <a:rPr lang="en-US" sz="1200" b="1" spc="100" kern="0" dirty="0">
                <a:solidFill>
                  <a:schemeClr val="accent6"/>
                </a:solidFill>
              </a:rPr>
              <a:t>OUTPUT</a:t>
            </a:r>
            <a:endParaRPr lang="en-US" sz="1200" dirty="0"/>
          </a:p>
        </p:txBody>
      </p:sp>
      <p:sp>
        <p:nvSpPr>
          <p:cNvPr id="7" name="Output block"/>
          <p:cNvSpPr/>
          <p:nvPr/>
        </p:nvSpPr>
        <p:spPr>
          <a:xfrm>
            <a:off x="548640" y="4343400"/>
            <a:ext cx="6583680" cy="694944"/>
          </a:xfrm>
          <a:prstGeom prst="roundRect">
            <a:avLst>
              <a:gd name="adj" fmla="val 10526"/>
            </a:avLst>
          </a:prstGeom>
          <a:solidFill>
            <a:srgbClr val="0B1B38"/>
          </a:solidFill>
          <a:ln/>
        </p:spPr>
      </p:sp>
      <p:sp>
        <p:nvSpPr>
          <p:cNvPr id="8" name="Code text"/>
          <p:cNvSpPr txBox="1"/>
          <p:nvPr/>
        </p:nvSpPr>
        <p:spPr>
          <a:xfrm>
            <a:off x="777240" y="4526280"/>
            <a:ext cx="6126480" cy="329184"/>
          </a:xfrm>
          <a:prstGeom prst="rect">
            <a:avLst/>
          </a:prstGeom>
          <a:noFill/>
          <a:ln/>
        </p:spPr>
        <p:txBody>
          <a:bodyPr wrap="square" lIns="0" tIns="0" rIns="0" bIns="0" rtlCol="0" anchor="t"/>
          <a:lstStyle/>
          <a:p>
            <a:pPr indent="0" marL="0">
              <a:buNone/>
            </a:pPr>
            <a:r>
              <a:rPr lang="en-US" sz="1600" dirty="0">
                <a:solidFill>
                  <a:srgbClr val="E8EEF9"/>
                </a:solidFill>
                <a:latin typeface="Courier New" pitchFamily="34" charset="0"/>
                <a:ea typeface="Courier New" pitchFamily="34" charset="-122"/>
                <a:cs typeface="Courier New" pitchFamily="34" charset="-120"/>
              </a:rPr>
              <a:t>Total amount: 300</a:t>
            </a:r>
            <a:endParaRPr lang="en-US" sz="1600" dirty="0"/>
          </a:p>
        </p:txBody>
      </p:sp>
      <p:sp>
        <p:nvSpPr>
          <p:cNvPr id="9" name="Points heading"/>
          <p:cNvSpPr txBox="1"/>
          <p:nvPr/>
        </p:nvSpPr>
        <p:spPr>
          <a:xfrm>
            <a:off x="7498080" y="1463040"/>
            <a:ext cx="4144975" cy="411480"/>
          </a:xfrm>
          <a:prstGeom prst="rect">
            <a:avLst/>
          </a:prstGeom>
          <a:noFill/>
          <a:ln/>
        </p:spPr>
        <p:txBody>
          <a:bodyPr wrap="square" lIns="0" tIns="0" rIns="0" bIns="0" rtlCol="0" anchor="ctr"/>
          <a:lstStyle/>
          <a:p>
            <a:pPr indent="0" marL="0">
              <a:buNone/>
            </a:pPr>
            <a:r>
              <a:rPr lang="en-US" sz="2200" b="1" dirty="0">
                <a:solidFill>
                  <a:schemeClr val="accent1"/>
                </a:solidFill>
              </a:rPr>
              <a:t>What to show</a:t>
            </a:r>
            <a:endParaRPr lang="en-US" sz="2200" dirty="0"/>
          </a:p>
        </p:txBody>
      </p:sp>
      <p:sp>
        <p:nvSpPr>
          <p:cNvPr id="10" name="Key points"/>
          <p:cNvSpPr txBox="1"/>
          <p:nvPr/>
        </p:nvSpPr>
        <p:spPr>
          <a:xfrm>
            <a:off x="7498080" y="2011680"/>
            <a:ext cx="4144975" cy="43891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Folder: Unit1_Project/ with main.py and README.md</a:t>
            </a:r>
            <a:endParaRPr lang="en-US" sz="1800" dirty="0"/>
          </a:p>
          <a:p>
            <a:pPr marL="342900" indent="-342900">
              <a:spcAft>
                <a:spcPts val="1000"/>
              </a:spcAft>
              <a:buSzPct val="100000"/>
              <a:buChar char="•"/>
            </a:pPr>
            <a:r>
              <a:rPr lang="en-US" sz="1800" dirty="0">
                <a:solidFill>
                  <a:schemeClr val="tx1"/>
                </a:solidFill>
              </a:rPr>
              <a:t>Save the file before every run</a:t>
            </a:r>
            <a:endParaRPr lang="en-US" sz="1800" dirty="0"/>
          </a:p>
          <a:p>
            <a:pPr marL="342900" indent="-342900">
              <a:spcAft>
                <a:spcPts val="1000"/>
              </a:spcAft>
              <a:buSzPct val="100000"/>
              <a:buChar char="•"/>
            </a:pPr>
            <a:r>
              <a:rPr lang="en-US" sz="1800" dirty="0">
                <a:solidFill>
                  <a:schemeClr val="tx1"/>
                </a:solidFill>
              </a:rPr>
              <a:t>Run it from the terminal: python main.py</a:t>
            </a:r>
            <a:endParaRPr lang="en-US" sz="1800" dirty="0"/>
          </a:p>
          <a:p>
            <a:pPr marL="342900" indent="-342900">
              <a:spcAft>
                <a:spcPts val="1000"/>
              </a:spcAft>
              <a:buSzPct val="100000"/>
              <a:buChar char="•"/>
            </a:pPr>
            <a:r>
              <a:rPr lang="en-US" sz="1800" dirty="0">
                <a:solidFill>
                  <a:schemeClr val="tx1"/>
                </a:solidFill>
              </a:rPr>
              <a:t>Change quantity to 5 and rerun</a:t>
            </a:r>
            <a:endParaRPr lang="en-US" sz="1800" dirty="0"/>
          </a:p>
          <a:p>
            <a:pPr marL="342900" indent="-342900">
              <a:spcAft>
                <a:spcPts val="1000"/>
              </a:spcAft>
              <a:buSzPct val="100000"/>
              <a:buChar char="•"/>
            </a:pPr>
            <a:r>
              <a:rPr lang="en-US" sz="1800" dirty="0">
                <a:solidFill>
                  <a:schemeClr val="tx1"/>
                </a:solidFill>
              </a:rPr>
              <a:t>Expected output: Total amount: 300</a:t>
            </a:r>
            <a:endParaRPr lang="en-US" sz="18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Practice: build your own project</a:t>
            </a:r>
            <a:endParaRPr lang="en-US" sz="3000" dirty="0"/>
          </a:p>
        </p:txBody>
      </p:sp>
      <p:sp>
        <p:nvSpPr>
          <p:cNvPr id="4" name="Activity panel"/>
          <p:cNvSpPr/>
          <p:nvPr/>
        </p:nvSpPr>
        <p:spPr>
          <a:xfrm>
            <a:off x="548640" y="1463040"/>
            <a:ext cx="3291840" cy="4480560"/>
          </a:xfrm>
          <a:prstGeom prst="roundRect">
            <a:avLst>
              <a:gd name="adj" fmla="val 2778"/>
            </a:avLst>
          </a:prstGeom>
          <a:solidFill>
            <a:schemeClr val="accent1"/>
          </a:solidFill>
          <a:ln/>
        </p:spPr>
      </p:sp>
      <p:sp>
        <p:nvSpPr>
          <p:cNvPr id="5" name="Icon circle"/>
          <p:cNvSpPr/>
          <p:nvPr/>
        </p:nvSpPr>
        <p:spPr>
          <a:xfrm>
            <a:off x="868680" y="1828800"/>
            <a:ext cx="822960" cy="822960"/>
          </a:xfrm>
          <a:prstGeom prst="ellipse">
            <a:avLst/>
          </a:prstGeom>
          <a:solidFill>
            <a:schemeClr val="accent2"/>
          </a:solidFill>
          <a:ln/>
        </p:spPr>
      </p:sp>
      <p:pic>
        <p:nvPicPr>
          <p:cNvPr id="6" name="Icon FaHandsHelping" descr="HandsHelping icon">    </p:cNvPr>
          <p:cNvPicPr>
            <a:picLocks noChangeAspect="1"/>
          </p:cNvPicPr>
          <p:nvPr/>
        </p:nvPicPr>
        <p:blipFill>
          <a:blip r:embed="rId1"/>
          <a:stretch>
            <a:fillRect/>
          </a:stretch>
        </p:blipFill>
        <p:spPr>
          <a:xfrm>
            <a:off x="1082650" y="2042770"/>
            <a:ext cx="395021" cy="395021"/>
          </a:xfrm>
          <a:prstGeom prst="rect">
            <a:avLst/>
          </a:prstGeom>
        </p:spPr>
      </p:pic>
      <p:sp>
        <p:nvSpPr>
          <p:cNvPr id="7" name="Your turn label"/>
          <p:cNvSpPr txBox="1"/>
          <p:nvPr/>
        </p:nvSpPr>
        <p:spPr>
          <a:xfrm>
            <a:off x="868680" y="2926080"/>
            <a:ext cx="2651760" cy="457200"/>
          </a:xfrm>
          <a:prstGeom prst="rect">
            <a:avLst/>
          </a:prstGeom>
          <a:noFill/>
          <a:ln/>
        </p:spPr>
        <p:txBody>
          <a:bodyPr wrap="square" lIns="0" tIns="0" rIns="0" bIns="0" rtlCol="0" anchor="ctr"/>
          <a:lstStyle/>
          <a:p>
            <a:pPr indent="0" marL="0">
              <a:buNone/>
            </a:pPr>
            <a:r>
              <a:rPr lang="en-US" sz="2600" b="1" dirty="0">
                <a:solidFill>
                  <a:schemeClr val="bg1"/>
                </a:solidFill>
                <a:latin typeface="Cambria" pitchFamily="34" charset="0"/>
                <a:ea typeface="Cambria" pitchFamily="34" charset="-122"/>
                <a:cs typeface="Cambria" pitchFamily="34" charset="-120"/>
              </a:rPr>
              <a:t>YOUR TURN</a:t>
            </a:r>
            <a:endParaRPr lang="en-US" sz="2600" dirty="0"/>
          </a:p>
        </p:txBody>
      </p:sp>
      <p:sp>
        <p:nvSpPr>
          <p:cNvPr id="8" name="Time"/>
          <p:cNvSpPr txBox="1"/>
          <p:nvPr/>
        </p:nvSpPr>
        <p:spPr>
          <a:xfrm>
            <a:off x="868680" y="3474720"/>
            <a:ext cx="2651760" cy="457200"/>
          </a:xfrm>
          <a:prstGeom prst="rect">
            <a:avLst/>
          </a:prstGeom>
          <a:noFill/>
          <a:ln/>
        </p:spPr>
        <p:txBody>
          <a:bodyPr wrap="square" lIns="0" tIns="0" rIns="0" bIns="0" rtlCol="0" anchor="ctr"/>
          <a:lstStyle/>
          <a:p>
            <a:pPr indent="0" marL="0">
              <a:buNone/>
            </a:pPr>
            <a:r>
              <a:rPr lang="en-US" sz="2000" b="1" dirty="0">
                <a:solidFill>
                  <a:schemeClr val="accent2"/>
                </a:solidFill>
              </a:rPr>
              <a:t>15 minutes (45-60)</a:t>
            </a:r>
            <a:endParaRPr lang="en-US" sz="2000" dirty="0"/>
          </a:p>
        </p:txBody>
      </p:sp>
      <p:sp>
        <p:nvSpPr>
          <p:cNvPr id="9" name="Evidence"/>
          <p:cNvSpPr txBox="1"/>
          <p:nvPr/>
        </p:nvSpPr>
        <p:spPr>
          <a:xfrm>
            <a:off x="868680" y="4206240"/>
            <a:ext cx="2651760" cy="155448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Evidence to keep</a:t>
            </a:r>
            <a:endParaRPr lang="en-US" sz="1600" dirty="0"/>
          </a:p>
          <a:p>
            <a:pPr indent="0" marL="0">
              <a:spcAft>
                <a:spcPts val="400"/>
              </a:spcAft>
              <a:buNone/>
            </a:pPr>
            <a:r>
              <a:rPr lang="en-US" sz="1600" dirty="0">
                <a:solidFill>
                  <a:schemeClr val="bg2"/>
                </a:solidFill>
              </a:rPr>
              <a:t>Working main.py and a completed IDE component checklist.</a:t>
            </a:r>
            <a:endParaRPr lang="en-US" sz="1600" dirty="0"/>
          </a:p>
        </p:txBody>
      </p:sp>
      <p:sp>
        <p:nvSpPr>
          <p:cNvPr id="10" name="Task marker 1"/>
          <p:cNvSpPr/>
          <p:nvPr/>
        </p:nvSpPr>
        <p:spPr>
          <a:xfrm>
            <a:off x="4206240" y="1641348"/>
            <a:ext cx="420624" cy="420624"/>
          </a:xfrm>
          <a:prstGeom prst="ellipse">
            <a:avLst/>
          </a:prstGeom>
          <a:solidFill>
            <a:schemeClr val="accent2"/>
          </a:solidFill>
          <a:ln/>
        </p:spPr>
      </p:sp>
      <p:sp>
        <p:nvSpPr>
          <p:cNvPr id="11" name="Task number"/>
          <p:cNvSpPr txBox="1"/>
          <p:nvPr/>
        </p:nvSpPr>
        <p:spPr>
          <a:xfrm>
            <a:off x="4206240" y="1641348"/>
            <a:ext cx="420624" cy="420624"/>
          </a:xfrm>
          <a:prstGeom prst="rect">
            <a:avLst/>
          </a:prstGeom>
          <a:noFill/>
          <a:ln/>
        </p:spPr>
        <p:txBody>
          <a:bodyPr wrap="square" lIns="0" tIns="0" rIns="0" bIns="0" rtlCol="0" anchor="ctr"/>
          <a:lstStyle/>
          <a:p>
            <a:pPr algn="ctr" indent="0" marL="0">
              <a:buNone/>
            </a:pPr>
            <a:r>
              <a:rPr lang="en-US" sz="1500" b="1" dirty="0">
                <a:solidFill>
                  <a:schemeClr val="accent1"/>
                </a:solidFill>
              </a:rPr>
              <a:t>1</a:t>
            </a:r>
            <a:endParaRPr lang="en-US" sz="1500" dirty="0"/>
          </a:p>
        </p:txBody>
      </p:sp>
      <p:sp>
        <p:nvSpPr>
          <p:cNvPr id="12" name="Task text"/>
          <p:cNvSpPr txBox="1"/>
          <p:nvPr/>
        </p:nvSpPr>
        <p:spPr>
          <a:xfrm>
            <a:off x="4846320" y="1463040"/>
            <a:ext cx="6766560" cy="777240"/>
          </a:xfrm>
          <a:prstGeom prst="rect">
            <a:avLst/>
          </a:prstGeom>
          <a:noFill/>
          <a:ln/>
        </p:spPr>
        <p:txBody>
          <a:bodyPr wrap="square" lIns="0" tIns="0" rIns="0" bIns="0" rtlCol="0" anchor="ctr"/>
          <a:lstStyle/>
          <a:p>
            <a:pPr indent="0" marL="0">
              <a:buNone/>
            </a:pPr>
            <a:r>
              <a:rPr lang="en-US" sz="1900" dirty="0">
                <a:solidFill>
                  <a:schemeClr val="tx1"/>
                </a:solidFill>
              </a:rPr>
              <a:t>Create a new folder called Unit1_Project and open it in VS Code.</a:t>
            </a:r>
            <a:endParaRPr lang="en-US" sz="1900" dirty="0"/>
          </a:p>
        </p:txBody>
      </p:sp>
      <p:sp>
        <p:nvSpPr>
          <p:cNvPr id="13" name="Task marker 2"/>
          <p:cNvSpPr/>
          <p:nvPr/>
        </p:nvSpPr>
        <p:spPr>
          <a:xfrm>
            <a:off x="4206240" y="2418588"/>
            <a:ext cx="420624" cy="420624"/>
          </a:xfrm>
          <a:prstGeom prst="ellipse">
            <a:avLst/>
          </a:prstGeom>
          <a:solidFill>
            <a:schemeClr val="accent2"/>
          </a:solidFill>
          <a:ln/>
        </p:spPr>
      </p:sp>
      <p:sp>
        <p:nvSpPr>
          <p:cNvPr id="14" name="Task number"/>
          <p:cNvSpPr txBox="1"/>
          <p:nvPr/>
        </p:nvSpPr>
        <p:spPr>
          <a:xfrm>
            <a:off x="4206240" y="2418588"/>
            <a:ext cx="420624" cy="420624"/>
          </a:xfrm>
          <a:prstGeom prst="rect">
            <a:avLst/>
          </a:prstGeom>
          <a:noFill/>
          <a:ln/>
        </p:spPr>
        <p:txBody>
          <a:bodyPr wrap="square" lIns="0" tIns="0" rIns="0" bIns="0" rtlCol="0" anchor="ctr"/>
          <a:lstStyle/>
          <a:p>
            <a:pPr algn="ctr" indent="0" marL="0">
              <a:buNone/>
            </a:pPr>
            <a:r>
              <a:rPr lang="en-US" sz="1500" b="1" dirty="0">
                <a:solidFill>
                  <a:schemeClr val="accent1"/>
                </a:solidFill>
              </a:rPr>
              <a:t>2</a:t>
            </a:r>
            <a:endParaRPr lang="en-US" sz="1500" dirty="0"/>
          </a:p>
        </p:txBody>
      </p:sp>
      <p:sp>
        <p:nvSpPr>
          <p:cNvPr id="15" name="Task text"/>
          <p:cNvSpPr txBox="1"/>
          <p:nvPr/>
        </p:nvSpPr>
        <p:spPr>
          <a:xfrm>
            <a:off x="4846320" y="2240280"/>
            <a:ext cx="6766560" cy="777240"/>
          </a:xfrm>
          <a:prstGeom prst="rect">
            <a:avLst/>
          </a:prstGeom>
          <a:noFill/>
          <a:ln/>
        </p:spPr>
        <p:txBody>
          <a:bodyPr wrap="square" lIns="0" tIns="0" rIns="0" bIns="0" rtlCol="0" anchor="ctr"/>
          <a:lstStyle/>
          <a:p>
            <a:pPr indent="0" marL="0">
              <a:buNone/>
            </a:pPr>
            <a:r>
              <a:rPr lang="en-US" sz="1900" dirty="0">
                <a:solidFill>
                  <a:schemeClr val="tx1"/>
                </a:solidFill>
              </a:rPr>
              <a:t>Add main.py and README.md using the file explorer.</a:t>
            </a:r>
            <a:endParaRPr lang="en-US" sz="1900" dirty="0"/>
          </a:p>
        </p:txBody>
      </p:sp>
      <p:sp>
        <p:nvSpPr>
          <p:cNvPr id="16" name="Task marker 3"/>
          <p:cNvSpPr/>
          <p:nvPr/>
        </p:nvSpPr>
        <p:spPr>
          <a:xfrm>
            <a:off x="4206240" y="3195828"/>
            <a:ext cx="420624" cy="420624"/>
          </a:xfrm>
          <a:prstGeom prst="ellipse">
            <a:avLst/>
          </a:prstGeom>
          <a:solidFill>
            <a:schemeClr val="accent2"/>
          </a:solidFill>
          <a:ln/>
        </p:spPr>
      </p:sp>
      <p:sp>
        <p:nvSpPr>
          <p:cNvPr id="17" name="Task number"/>
          <p:cNvSpPr txBox="1"/>
          <p:nvPr/>
        </p:nvSpPr>
        <p:spPr>
          <a:xfrm>
            <a:off x="4206240" y="3195828"/>
            <a:ext cx="420624" cy="420624"/>
          </a:xfrm>
          <a:prstGeom prst="rect">
            <a:avLst/>
          </a:prstGeom>
          <a:noFill/>
          <a:ln/>
        </p:spPr>
        <p:txBody>
          <a:bodyPr wrap="square" lIns="0" tIns="0" rIns="0" bIns="0" rtlCol="0" anchor="ctr"/>
          <a:lstStyle/>
          <a:p>
            <a:pPr algn="ctr" indent="0" marL="0">
              <a:buNone/>
            </a:pPr>
            <a:r>
              <a:rPr lang="en-US" sz="1500" b="1" dirty="0">
                <a:solidFill>
                  <a:schemeClr val="accent1"/>
                </a:solidFill>
              </a:rPr>
              <a:t>3</a:t>
            </a:r>
            <a:endParaRPr lang="en-US" sz="1500" dirty="0"/>
          </a:p>
        </p:txBody>
      </p:sp>
      <p:sp>
        <p:nvSpPr>
          <p:cNvPr id="18" name="Task text"/>
          <p:cNvSpPr txBox="1"/>
          <p:nvPr/>
        </p:nvSpPr>
        <p:spPr>
          <a:xfrm>
            <a:off x="4846320" y="3017520"/>
            <a:ext cx="6766560" cy="777240"/>
          </a:xfrm>
          <a:prstGeom prst="rect">
            <a:avLst/>
          </a:prstGeom>
          <a:noFill/>
          <a:ln/>
        </p:spPr>
        <p:txBody>
          <a:bodyPr wrap="square" lIns="0" tIns="0" rIns="0" bIns="0" rtlCol="0" anchor="ctr"/>
          <a:lstStyle/>
          <a:p>
            <a:pPr indent="0" marL="0">
              <a:buNone/>
            </a:pPr>
            <a:r>
              <a:rPr lang="en-US" sz="1900" dirty="0">
                <a:solidFill>
                  <a:schemeClr val="tx1"/>
                </a:solidFill>
              </a:rPr>
              <a:t>Write the calculate_total program and run it in the terminal.</a:t>
            </a:r>
            <a:endParaRPr lang="en-US" sz="1900" dirty="0"/>
          </a:p>
        </p:txBody>
      </p:sp>
      <p:sp>
        <p:nvSpPr>
          <p:cNvPr id="19" name="Task marker 4"/>
          <p:cNvSpPr/>
          <p:nvPr/>
        </p:nvSpPr>
        <p:spPr>
          <a:xfrm>
            <a:off x="4206240" y="3973068"/>
            <a:ext cx="420624" cy="420624"/>
          </a:xfrm>
          <a:prstGeom prst="ellipse">
            <a:avLst/>
          </a:prstGeom>
          <a:solidFill>
            <a:schemeClr val="accent2"/>
          </a:solidFill>
          <a:ln/>
        </p:spPr>
      </p:sp>
      <p:sp>
        <p:nvSpPr>
          <p:cNvPr id="20" name="Task number"/>
          <p:cNvSpPr txBox="1"/>
          <p:nvPr/>
        </p:nvSpPr>
        <p:spPr>
          <a:xfrm>
            <a:off x="4206240" y="3973068"/>
            <a:ext cx="420624" cy="420624"/>
          </a:xfrm>
          <a:prstGeom prst="rect">
            <a:avLst/>
          </a:prstGeom>
          <a:noFill/>
          <a:ln/>
        </p:spPr>
        <p:txBody>
          <a:bodyPr wrap="square" lIns="0" tIns="0" rIns="0" bIns="0" rtlCol="0" anchor="ctr"/>
          <a:lstStyle/>
          <a:p>
            <a:pPr algn="ctr" indent="0" marL="0">
              <a:buNone/>
            </a:pPr>
            <a:r>
              <a:rPr lang="en-US" sz="1500" b="1" dirty="0">
                <a:solidFill>
                  <a:schemeClr val="accent1"/>
                </a:solidFill>
              </a:rPr>
              <a:t>4</a:t>
            </a:r>
            <a:endParaRPr lang="en-US" sz="1500" dirty="0"/>
          </a:p>
        </p:txBody>
      </p:sp>
      <p:sp>
        <p:nvSpPr>
          <p:cNvPr id="21" name="Task text"/>
          <p:cNvSpPr txBox="1"/>
          <p:nvPr/>
        </p:nvSpPr>
        <p:spPr>
          <a:xfrm>
            <a:off x="4846320" y="3794760"/>
            <a:ext cx="6766560" cy="777240"/>
          </a:xfrm>
          <a:prstGeom prst="rect">
            <a:avLst/>
          </a:prstGeom>
          <a:noFill/>
          <a:ln/>
        </p:spPr>
        <p:txBody>
          <a:bodyPr wrap="square" lIns="0" tIns="0" rIns="0" bIns="0" rtlCol="0" anchor="ctr"/>
          <a:lstStyle/>
          <a:p>
            <a:pPr indent="0" marL="0">
              <a:buNone/>
            </a:pPr>
            <a:r>
              <a:rPr lang="en-US" sz="1900" dirty="0">
                <a:solidFill>
                  <a:schemeClr val="tx1"/>
                </a:solidFill>
              </a:rPr>
              <a:t>Change the price and quantity and check the output is correct.</a:t>
            </a:r>
            <a:endParaRPr lang="en-US" sz="1900" dirty="0"/>
          </a:p>
        </p:txBody>
      </p:sp>
      <p:sp>
        <p:nvSpPr>
          <p:cNvPr id="22" name="Task marker 5"/>
          <p:cNvSpPr/>
          <p:nvPr/>
        </p:nvSpPr>
        <p:spPr>
          <a:xfrm>
            <a:off x="4206240" y="4750308"/>
            <a:ext cx="420624" cy="420624"/>
          </a:xfrm>
          <a:prstGeom prst="ellipse">
            <a:avLst/>
          </a:prstGeom>
          <a:solidFill>
            <a:schemeClr val="accent2"/>
          </a:solidFill>
          <a:ln/>
        </p:spPr>
      </p:sp>
      <p:sp>
        <p:nvSpPr>
          <p:cNvPr id="23" name="Task number"/>
          <p:cNvSpPr txBox="1"/>
          <p:nvPr/>
        </p:nvSpPr>
        <p:spPr>
          <a:xfrm>
            <a:off x="4206240" y="4750308"/>
            <a:ext cx="420624" cy="420624"/>
          </a:xfrm>
          <a:prstGeom prst="rect">
            <a:avLst/>
          </a:prstGeom>
          <a:noFill/>
          <a:ln/>
        </p:spPr>
        <p:txBody>
          <a:bodyPr wrap="square" lIns="0" tIns="0" rIns="0" bIns="0" rtlCol="0" anchor="ctr"/>
          <a:lstStyle/>
          <a:p>
            <a:pPr algn="ctr" indent="0" marL="0">
              <a:buNone/>
            </a:pPr>
            <a:r>
              <a:rPr lang="en-US" sz="1500" b="1" dirty="0">
                <a:solidFill>
                  <a:schemeClr val="accent1"/>
                </a:solidFill>
              </a:rPr>
              <a:t>5</a:t>
            </a:r>
            <a:endParaRPr lang="en-US" sz="1500" dirty="0"/>
          </a:p>
        </p:txBody>
      </p:sp>
      <p:sp>
        <p:nvSpPr>
          <p:cNvPr id="24" name="Task text"/>
          <p:cNvSpPr txBox="1"/>
          <p:nvPr/>
        </p:nvSpPr>
        <p:spPr>
          <a:xfrm>
            <a:off x="4846320" y="4572000"/>
            <a:ext cx="6766560" cy="777240"/>
          </a:xfrm>
          <a:prstGeom prst="rect">
            <a:avLst/>
          </a:prstGeom>
          <a:noFill/>
          <a:ln/>
        </p:spPr>
        <p:txBody>
          <a:bodyPr wrap="square" lIns="0" tIns="0" rIns="0" bIns="0" rtlCol="0" anchor="ctr"/>
          <a:lstStyle/>
          <a:p>
            <a:pPr indent="0" marL="0">
              <a:buNone/>
            </a:pPr>
            <a:r>
              <a:rPr lang="en-US" sz="1900" dirty="0">
                <a:solidFill>
                  <a:schemeClr val="tx1"/>
                </a:solidFill>
              </a:rPr>
              <a:t>Explore the editor, explorer, terminal, Problems and Output panels.</a:t>
            </a:r>
            <a:endParaRPr lang="en-US" sz="19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Challenge: find it on your screen</a:t>
            </a:r>
            <a:endParaRPr lang="en-US" sz="3000" dirty="0"/>
          </a:p>
        </p:txBody>
      </p:sp>
      <p:sp>
        <p:nvSpPr>
          <p:cNvPr id="4" name="Card 1"/>
          <p:cNvSpPr/>
          <p:nvPr/>
        </p:nvSpPr>
        <p:spPr>
          <a:xfrm>
            <a:off x="548640" y="1463040"/>
            <a:ext cx="3520440" cy="2103120"/>
          </a:xfrm>
          <a:prstGeom prst="roundRect">
            <a:avLst>
              <a:gd name="adj" fmla="val 4348"/>
            </a:avLst>
          </a:prstGeom>
          <a:solidFill>
            <a:schemeClr val="bg2"/>
          </a:solidFill>
          <a:ln/>
        </p:spPr>
      </p:sp>
      <p:sp>
        <p:nvSpPr>
          <p:cNvPr id="5" name="Icon circle"/>
          <p:cNvSpPr/>
          <p:nvPr/>
        </p:nvSpPr>
        <p:spPr>
          <a:xfrm>
            <a:off x="777240" y="1691640"/>
            <a:ext cx="594360" cy="594360"/>
          </a:xfrm>
          <a:prstGeom prst="ellipse">
            <a:avLst/>
          </a:prstGeom>
          <a:solidFill>
            <a:schemeClr val="accent1"/>
          </a:solidFill>
          <a:ln/>
        </p:spPr>
      </p:sp>
      <p:pic>
        <p:nvPicPr>
          <p:cNvPr id="6" name="Icon FaFileCode" descr="FileCode icon">    </p:cNvPr>
          <p:cNvPicPr>
            <a:picLocks noChangeAspect="1"/>
          </p:cNvPicPr>
          <p:nvPr/>
        </p:nvPicPr>
        <p:blipFill>
          <a:blip r:embed="rId1"/>
          <a:stretch>
            <a:fillRect/>
          </a:stretch>
        </p:blipFill>
        <p:spPr>
          <a:xfrm>
            <a:off x="931774" y="1846174"/>
            <a:ext cx="285293" cy="285293"/>
          </a:xfrm>
          <a:prstGeom prst="rect">
            <a:avLst/>
          </a:prstGeom>
        </p:spPr>
      </p:pic>
      <p:sp>
        <p:nvSpPr>
          <p:cNvPr id="7" name="Text 13"/>
          <p:cNvSpPr txBox="1"/>
          <p:nvPr/>
        </p:nvSpPr>
        <p:spPr>
          <a:xfrm>
            <a:off x="1554480" y="1691640"/>
            <a:ext cx="2331720" cy="594360"/>
          </a:xfrm>
          <a:prstGeom prst="rect">
            <a:avLst/>
          </a:prstGeom>
          <a:noFill/>
          <a:ln/>
        </p:spPr>
        <p:txBody>
          <a:bodyPr wrap="square" lIns="0" tIns="0" rIns="0" bIns="0" rtlCol="0" anchor="ctr"/>
          <a:lstStyle/>
          <a:p>
            <a:pPr indent="0" marL="0">
              <a:buNone/>
            </a:pPr>
            <a:r>
              <a:rPr lang="en-US" sz="2000" b="1" dirty="0">
                <a:solidFill>
                  <a:schemeClr val="accent1"/>
                </a:solidFill>
              </a:rPr>
              <a:t>Editor</a:t>
            </a:r>
            <a:endParaRPr lang="en-US" sz="2000" dirty="0"/>
          </a:p>
        </p:txBody>
      </p:sp>
      <p:sp>
        <p:nvSpPr>
          <p:cNvPr id="8" name="Text 14"/>
          <p:cNvSpPr txBox="1"/>
          <p:nvPr/>
        </p:nvSpPr>
        <p:spPr>
          <a:xfrm>
            <a:off x="777240" y="2468880"/>
            <a:ext cx="3063240" cy="1005840"/>
          </a:xfrm>
          <a:prstGeom prst="rect">
            <a:avLst/>
          </a:prstGeom>
          <a:noFill/>
          <a:ln/>
        </p:spPr>
        <p:txBody>
          <a:bodyPr wrap="square" lIns="0" tIns="0" rIns="0" bIns="0" rtlCol="0" anchor="t"/>
          <a:lstStyle/>
          <a:p>
            <a:pPr indent="0" marL="0">
              <a:buNone/>
            </a:pPr>
            <a:r>
              <a:rPr lang="en-US" sz="1600" dirty="0">
                <a:solidFill>
                  <a:schemeClr val="tx1"/>
                </a:solidFill>
              </a:rPr>
              <a:t>Open main.py and point to where code is written.</a:t>
            </a:r>
            <a:endParaRPr lang="en-US" sz="1600" dirty="0"/>
          </a:p>
        </p:txBody>
      </p:sp>
      <p:sp>
        <p:nvSpPr>
          <p:cNvPr id="9" name="Card 2"/>
          <p:cNvSpPr/>
          <p:nvPr/>
        </p:nvSpPr>
        <p:spPr>
          <a:xfrm>
            <a:off x="4334256" y="1463040"/>
            <a:ext cx="3520440" cy="2103120"/>
          </a:xfrm>
          <a:prstGeom prst="roundRect">
            <a:avLst>
              <a:gd name="adj" fmla="val 4348"/>
            </a:avLst>
          </a:prstGeom>
          <a:solidFill>
            <a:schemeClr val="bg2"/>
          </a:solidFill>
          <a:ln/>
        </p:spPr>
      </p:sp>
      <p:sp>
        <p:nvSpPr>
          <p:cNvPr id="10" name="Icon circle"/>
          <p:cNvSpPr/>
          <p:nvPr/>
        </p:nvSpPr>
        <p:spPr>
          <a:xfrm>
            <a:off x="4562856" y="1691640"/>
            <a:ext cx="594360" cy="594360"/>
          </a:xfrm>
          <a:prstGeom prst="ellipse">
            <a:avLst/>
          </a:prstGeom>
          <a:solidFill>
            <a:schemeClr val="accent1"/>
          </a:solidFill>
          <a:ln/>
        </p:spPr>
      </p:sp>
      <p:pic>
        <p:nvPicPr>
          <p:cNvPr id="11" name="Icon FaFolderOpen" descr="FolderOpen icon">    </p:cNvPr>
          <p:cNvPicPr>
            <a:picLocks noChangeAspect="1"/>
          </p:cNvPicPr>
          <p:nvPr/>
        </p:nvPicPr>
        <p:blipFill>
          <a:blip r:embed="rId2"/>
          <a:stretch>
            <a:fillRect/>
          </a:stretch>
        </p:blipFill>
        <p:spPr>
          <a:xfrm>
            <a:off x="4717390" y="1846174"/>
            <a:ext cx="285293" cy="285293"/>
          </a:xfrm>
          <a:prstGeom prst="rect">
            <a:avLst/>
          </a:prstGeom>
        </p:spPr>
      </p:pic>
      <p:sp>
        <p:nvSpPr>
          <p:cNvPr id="12" name="Text 15"/>
          <p:cNvSpPr txBox="1"/>
          <p:nvPr/>
        </p:nvSpPr>
        <p:spPr>
          <a:xfrm>
            <a:off x="5340096" y="1691640"/>
            <a:ext cx="2331720" cy="594360"/>
          </a:xfrm>
          <a:prstGeom prst="rect">
            <a:avLst/>
          </a:prstGeom>
          <a:noFill/>
          <a:ln/>
        </p:spPr>
        <p:txBody>
          <a:bodyPr wrap="square" lIns="0" tIns="0" rIns="0" bIns="0" rtlCol="0" anchor="ctr"/>
          <a:lstStyle/>
          <a:p>
            <a:pPr indent="0" marL="0">
              <a:buNone/>
            </a:pPr>
            <a:r>
              <a:rPr lang="en-US" sz="2000" b="1" dirty="0">
                <a:solidFill>
                  <a:schemeClr val="accent1"/>
                </a:solidFill>
              </a:rPr>
              <a:t>File explorer</a:t>
            </a:r>
            <a:endParaRPr lang="en-US" sz="2000" dirty="0"/>
          </a:p>
        </p:txBody>
      </p:sp>
      <p:sp>
        <p:nvSpPr>
          <p:cNvPr id="13" name="Text 16"/>
          <p:cNvSpPr txBox="1"/>
          <p:nvPr/>
        </p:nvSpPr>
        <p:spPr>
          <a:xfrm>
            <a:off x="4562856" y="2468880"/>
            <a:ext cx="3063240" cy="1005840"/>
          </a:xfrm>
          <a:prstGeom prst="rect">
            <a:avLst/>
          </a:prstGeom>
          <a:noFill/>
          <a:ln/>
        </p:spPr>
        <p:txBody>
          <a:bodyPr wrap="square" lIns="0" tIns="0" rIns="0" bIns="0" rtlCol="0" anchor="t"/>
          <a:lstStyle/>
          <a:p>
            <a:pPr indent="0" marL="0">
              <a:buNone/>
            </a:pPr>
            <a:r>
              <a:rPr lang="en-US" sz="1600" dirty="0">
                <a:solidFill>
                  <a:schemeClr val="tx1"/>
                </a:solidFill>
              </a:rPr>
              <a:t>Show your project files and folders.</a:t>
            </a:r>
            <a:endParaRPr lang="en-US" sz="1600" dirty="0"/>
          </a:p>
        </p:txBody>
      </p:sp>
      <p:sp>
        <p:nvSpPr>
          <p:cNvPr id="14" name="Card 3"/>
          <p:cNvSpPr/>
          <p:nvPr/>
        </p:nvSpPr>
        <p:spPr>
          <a:xfrm>
            <a:off x="8119872" y="1463040"/>
            <a:ext cx="3520440" cy="2103120"/>
          </a:xfrm>
          <a:prstGeom prst="roundRect">
            <a:avLst>
              <a:gd name="adj" fmla="val 4348"/>
            </a:avLst>
          </a:prstGeom>
          <a:solidFill>
            <a:schemeClr val="bg2"/>
          </a:solidFill>
          <a:ln/>
        </p:spPr>
      </p:sp>
      <p:sp>
        <p:nvSpPr>
          <p:cNvPr id="15" name="Icon circle"/>
          <p:cNvSpPr/>
          <p:nvPr/>
        </p:nvSpPr>
        <p:spPr>
          <a:xfrm>
            <a:off x="8348472" y="1691640"/>
            <a:ext cx="594360" cy="594360"/>
          </a:xfrm>
          <a:prstGeom prst="ellipse">
            <a:avLst/>
          </a:prstGeom>
          <a:solidFill>
            <a:schemeClr val="accent1"/>
          </a:solidFill>
          <a:ln/>
        </p:spPr>
      </p:sp>
      <p:pic>
        <p:nvPicPr>
          <p:cNvPr id="16" name="Icon FaTerminal" descr="Terminal icon">    </p:cNvPr>
          <p:cNvPicPr>
            <a:picLocks noChangeAspect="1"/>
          </p:cNvPicPr>
          <p:nvPr/>
        </p:nvPicPr>
        <p:blipFill>
          <a:blip r:embed="rId3"/>
          <a:stretch>
            <a:fillRect/>
          </a:stretch>
        </p:blipFill>
        <p:spPr>
          <a:xfrm>
            <a:off x="8503006" y="1846174"/>
            <a:ext cx="285293" cy="285293"/>
          </a:xfrm>
          <a:prstGeom prst="rect">
            <a:avLst/>
          </a:prstGeom>
        </p:spPr>
      </p:pic>
      <p:sp>
        <p:nvSpPr>
          <p:cNvPr id="17" name="Text 17"/>
          <p:cNvSpPr txBox="1"/>
          <p:nvPr/>
        </p:nvSpPr>
        <p:spPr>
          <a:xfrm>
            <a:off x="9125712" y="1691640"/>
            <a:ext cx="2331720" cy="594360"/>
          </a:xfrm>
          <a:prstGeom prst="rect">
            <a:avLst/>
          </a:prstGeom>
          <a:noFill/>
          <a:ln/>
        </p:spPr>
        <p:txBody>
          <a:bodyPr wrap="square" lIns="0" tIns="0" rIns="0" bIns="0" rtlCol="0" anchor="ctr"/>
          <a:lstStyle/>
          <a:p>
            <a:pPr indent="0" marL="0">
              <a:buNone/>
            </a:pPr>
            <a:r>
              <a:rPr lang="en-US" sz="2000" b="1" dirty="0">
                <a:solidFill>
                  <a:schemeClr val="accent1"/>
                </a:solidFill>
              </a:rPr>
              <a:t>Terminal</a:t>
            </a:r>
            <a:endParaRPr lang="en-US" sz="2000" dirty="0"/>
          </a:p>
        </p:txBody>
      </p:sp>
      <p:sp>
        <p:nvSpPr>
          <p:cNvPr id="18" name="Text 18"/>
          <p:cNvSpPr txBox="1"/>
          <p:nvPr/>
        </p:nvSpPr>
        <p:spPr>
          <a:xfrm>
            <a:off x="8348472" y="2468880"/>
            <a:ext cx="3063240" cy="1005840"/>
          </a:xfrm>
          <a:prstGeom prst="rect">
            <a:avLst/>
          </a:prstGeom>
          <a:noFill/>
          <a:ln/>
        </p:spPr>
        <p:txBody>
          <a:bodyPr wrap="square" lIns="0" tIns="0" rIns="0" bIns="0" rtlCol="0" anchor="t"/>
          <a:lstStyle/>
          <a:p>
            <a:pPr indent="0" marL="0">
              <a:buNone/>
            </a:pPr>
            <a:r>
              <a:rPr lang="en-US" sz="1600" dirty="0">
                <a:solidFill>
                  <a:schemeClr val="tx1"/>
                </a:solidFill>
              </a:rPr>
              <a:t>Open it and run your program.</a:t>
            </a:r>
            <a:endParaRPr lang="en-US" sz="1600" dirty="0"/>
          </a:p>
        </p:txBody>
      </p:sp>
      <p:sp>
        <p:nvSpPr>
          <p:cNvPr id="19" name="Card 4"/>
          <p:cNvSpPr/>
          <p:nvPr/>
        </p:nvSpPr>
        <p:spPr>
          <a:xfrm>
            <a:off x="548640" y="3749040"/>
            <a:ext cx="3520440" cy="2103120"/>
          </a:xfrm>
          <a:prstGeom prst="roundRect">
            <a:avLst>
              <a:gd name="adj" fmla="val 4348"/>
            </a:avLst>
          </a:prstGeom>
          <a:solidFill>
            <a:schemeClr val="bg2"/>
          </a:solidFill>
          <a:ln/>
        </p:spPr>
      </p:sp>
      <p:sp>
        <p:nvSpPr>
          <p:cNvPr id="20" name="Icon circle"/>
          <p:cNvSpPr/>
          <p:nvPr/>
        </p:nvSpPr>
        <p:spPr>
          <a:xfrm>
            <a:off x="777240" y="3977640"/>
            <a:ext cx="594360" cy="594360"/>
          </a:xfrm>
          <a:prstGeom prst="ellipse">
            <a:avLst/>
          </a:prstGeom>
          <a:solidFill>
            <a:schemeClr val="accent1"/>
          </a:solidFill>
          <a:ln/>
        </p:spPr>
      </p:sp>
      <p:pic>
        <p:nvPicPr>
          <p:cNvPr id="21" name="Icon FaExclamationTriangle" descr="ExclamationTriangle icon">    </p:cNvPr>
          <p:cNvPicPr>
            <a:picLocks noChangeAspect="1"/>
          </p:cNvPicPr>
          <p:nvPr/>
        </p:nvPicPr>
        <p:blipFill>
          <a:blip r:embed="rId4"/>
          <a:stretch>
            <a:fillRect/>
          </a:stretch>
        </p:blipFill>
        <p:spPr>
          <a:xfrm>
            <a:off x="931774" y="4132174"/>
            <a:ext cx="285293" cy="285293"/>
          </a:xfrm>
          <a:prstGeom prst="rect">
            <a:avLst/>
          </a:prstGeom>
        </p:spPr>
      </p:pic>
      <p:sp>
        <p:nvSpPr>
          <p:cNvPr id="22" name="Text 19"/>
          <p:cNvSpPr txBox="1"/>
          <p:nvPr/>
        </p:nvSpPr>
        <p:spPr>
          <a:xfrm>
            <a:off x="1554480" y="3977640"/>
            <a:ext cx="2331720" cy="594360"/>
          </a:xfrm>
          <a:prstGeom prst="rect">
            <a:avLst/>
          </a:prstGeom>
          <a:noFill/>
          <a:ln/>
        </p:spPr>
        <p:txBody>
          <a:bodyPr wrap="square" lIns="0" tIns="0" rIns="0" bIns="0" rtlCol="0" anchor="ctr"/>
          <a:lstStyle/>
          <a:p>
            <a:pPr indent="0" marL="0">
              <a:buNone/>
            </a:pPr>
            <a:r>
              <a:rPr lang="en-US" sz="2000" b="1" dirty="0">
                <a:solidFill>
                  <a:schemeClr val="accent1"/>
                </a:solidFill>
              </a:rPr>
              <a:t>Problems / Output</a:t>
            </a:r>
            <a:endParaRPr lang="en-US" sz="2000" dirty="0"/>
          </a:p>
        </p:txBody>
      </p:sp>
      <p:sp>
        <p:nvSpPr>
          <p:cNvPr id="23" name="Text 20"/>
          <p:cNvSpPr txBox="1"/>
          <p:nvPr/>
        </p:nvSpPr>
        <p:spPr>
          <a:xfrm>
            <a:off x="777240" y="4754880"/>
            <a:ext cx="3063240" cy="1005840"/>
          </a:xfrm>
          <a:prstGeom prst="rect">
            <a:avLst/>
          </a:prstGeom>
          <a:noFill/>
          <a:ln/>
        </p:spPr>
        <p:txBody>
          <a:bodyPr wrap="square" lIns="0" tIns="0" rIns="0" bIns="0" rtlCol="0" anchor="t"/>
          <a:lstStyle/>
          <a:p>
            <a:pPr indent="0" marL="0">
              <a:buNone/>
            </a:pPr>
            <a:r>
              <a:rPr lang="en-US" sz="1600" dirty="0">
                <a:solidFill>
                  <a:schemeClr val="tx1"/>
                </a:solidFill>
              </a:rPr>
              <a:t>Find where results and messages appear.</a:t>
            </a:r>
            <a:endParaRPr lang="en-US" sz="1600" dirty="0"/>
          </a:p>
        </p:txBody>
      </p:sp>
      <p:sp>
        <p:nvSpPr>
          <p:cNvPr id="24" name="Card 5"/>
          <p:cNvSpPr/>
          <p:nvPr/>
        </p:nvSpPr>
        <p:spPr>
          <a:xfrm>
            <a:off x="4334256" y="3749040"/>
            <a:ext cx="3520440" cy="2103120"/>
          </a:xfrm>
          <a:prstGeom prst="roundRect">
            <a:avLst>
              <a:gd name="adj" fmla="val 4348"/>
            </a:avLst>
          </a:prstGeom>
          <a:solidFill>
            <a:schemeClr val="bg2"/>
          </a:solidFill>
          <a:ln/>
        </p:spPr>
      </p:sp>
      <p:sp>
        <p:nvSpPr>
          <p:cNvPr id="25" name="Icon circle"/>
          <p:cNvSpPr/>
          <p:nvPr/>
        </p:nvSpPr>
        <p:spPr>
          <a:xfrm>
            <a:off x="4562856" y="3977640"/>
            <a:ext cx="594360" cy="594360"/>
          </a:xfrm>
          <a:prstGeom prst="ellipse">
            <a:avLst/>
          </a:prstGeom>
          <a:solidFill>
            <a:schemeClr val="accent1"/>
          </a:solidFill>
          <a:ln/>
        </p:spPr>
      </p:sp>
      <p:pic>
        <p:nvPicPr>
          <p:cNvPr id="26" name="Icon FaPlug" descr="Plug icon">    </p:cNvPr>
          <p:cNvPicPr>
            <a:picLocks noChangeAspect="1"/>
          </p:cNvPicPr>
          <p:nvPr/>
        </p:nvPicPr>
        <p:blipFill>
          <a:blip r:embed="rId5"/>
          <a:stretch>
            <a:fillRect/>
          </a:stretch>
        </p:blipFill>
        <p:spPr>
          <a:xfrm>
            <a:off x="4717390" y="4132174"/>
            <a:ext cx="285293" cy="285293"/>
          </a:xfrm>
          <a:prstGeom prst="rect">
            <a:avLst/>
          </a:prstGeom>
        </p:spPr>
      </p:pic>
      <p:sp>
        <p:nvSpPr>
          <p:cNvPr id="27" name="Text 21"/>
          <p:cNvSpPr txBox="1"/>
          <p:nvPr/>
        </p:nvSpPr>
        <p:spPr>
          <a:xfrm>
            <a:off x="5340096" y="3977640"/>
            <a:ext cx="2331720" cy="594360"/>
          </a:xfrm>
          <a:prstGeom prst="rect">
            <a:avLst/>
          </a:prstGeom>
          <a:noFill/>
          <a:ln/>
        </p:spPr>
        <p:txBody>
          <a:bodyPr wrap="square" lIns="0" tIns="0" rIns="0" bIns="0" rtlCol="0" anchor="ctr"/>
          <a:lstStyle/>
          <a:p>
            <a:pPr indent="0" marL="0">
              <a:buNone/>
            </a:pPr>
            <a:r>
              <a:rPr lang="en-US" sz="2000" b="1" dirty="0">
                <a:solidFill>
                  <a:schemeClr val="accent1"/>
                </a:solidFill>
              </a:rPr>
              <a:t>Extensions</a:t>
            </a:r>
            <a:endParaRPr lang="en-US" sz="2000" dirty="0"/>
          </a:p>
        </p:txBody>
      </p:sp>
      <p:sp>
        <p:nvSpPr>
          <p:cNvPr id="28" name="Text 22"/>
          <p:cNvSpPr txBox="1"/>
          <p:nvPr/>
        </p:nvSpPr>
        <p:spPr>
          <a:xfrm>
            <a:off x="4562856" y="4754880"/>
            <a:ext cx="3063240" cy="1005840"/>
          </a:xfrm>
          <a:prstGeom prst="rect">
            <a:avLst/>
          </a:prstGeom>
          <a:noFill/>
          <a:ln/>
        </p:spPr>
        <p:txBody>
          <a:bodyPr wrap="square" lIns="0" tIns="0" rIns="0" bIns="0" rtlCol="0" anchor="t"/>
          <a:lstStyle/>
          <a:p>
            <a:pPr indent="0" marL="0">
              <a:buNone/>
            </a:pPr>
            <a:r>
              <a:rPr lang="en-US" sz="1600" dirty="0">
                <a:solidFill>
                  <a:schemeClr val="tx1"/>
                </a:solidFill>
              </a:rPr>
              <a:t>Open the Python extension page.</a:t>
            </a:r>
            <a:endParaRPr lang="en-US" sz="1600" dirty="0"/>
          </a:p>
        </p:txBody>
      </p:sp>
      <p:sp>
        <p:nvSpPr>
          <p:cNvPr id="29" name="Card 6"/>
          <p:cNvSpPr/>
          <p:nvPr/>
        </p:nvSpPr>
        <p:spPr>
          <a:xfrm>
            <a:off x="8119872" y="3749040"/>
            <a:ext cx="3520440" cy="2103120"/>
          </a:xfrm>
          <a:prstGeom prst="roundRect">
            <a:avLst>
              <a:gd name="adj" fmla="val 4348"/>
            </a:avLst>
          </a:prstGeom>
          <a:solidFill>
            <a:schemeClr val="bg2"/>
          </a:solidFill>
          <a:ln/>
        </p:spPr>
      </p:sp>
      <p:sp>
        <p:nvSpPr>
          <p:cNvPr id="30" name="Icon circle"/>
          <p:cNvSpPr/>
          <p:nvPr/>
        </p:nvSpPr>
        <p:spPr>
          <a:xfrm>
            <a:off x="8348472" y="3977640"/>
            <a:ext cx="594360" cy="594360"/>
          </a:xfrm>
          <a:prstGeom prst="ellipse">
            <a:avLst/>
          </a:prstGeom>
          <a:solidFill>
            <a:schemeClr val="accent1"/>
          </a:solidFill>
          <a:ln/>
        </p:spPr>
      </p:sp>
      <p:pic>
        <p:nvPicPr>
          <p:cNvPr id="31" name="Icon FaBug" descr="Bug icon">    </p:cNvPr>
          <p:cNvPicPr>
            <a:picLocks noChangeAspect="1"/>
          </p:cNvPicPr>
          <p:nvPr/>
        </p:nvPicPr>
        <p:blipFill>
          <a:blip r:embed="rId6"/>
          <a:stretch>
            <a:fillRect/>
          </a:stretch>
        </p:blipFill>
        <p:spPr>
          <a:xfrm>
            <a:off x="8503006" y="4132174"/>
            <a:ext cx="285293" cy="285293"/>
          </a:xfrm>
          <a:prstGeom prst="rect">
            <a:avLst/>
          </a:prstGeom>
        </p:spPr>
      </p:pic>
      <p:sp>
        <p:nvSpPr>
          <p:cNvPr id="32" name="Text 23"/>
          <p:cNvSpPr txBox="1"/>
          <p:nvPr/>
        </p:nvSpPr>
        <p:spPr>
          <a:xfrm>
            <a:off x="9125712" y="3977640"/>
            <a:ext cx="2331720" cy="594360"/>
          </a:xfrm>
          <a:prstGeom prst="rect">
            <a:avLst/>
          </a:prstGeom>
          <a:noFill/>
          <a:ln/>
        </p:spPr>
        <p:txBody>
          <a:bodyPr wrap="square" lIns="0" tIns="0" rIns="0" bIns="0" rtlCol="0" anchor="ctr"/>
          <a:lstStyle/>
          <a:p>
            <a:pPr indent="0" marL="0">
              <a:buNone/>
            </a:pPr>
            <a:r>
              <a:rPr lang="en-US" sz="2000" b="1" dirty="0">
                <a:solidFill>
                  <a:schemeClr val="accent1"/>
                </a:solidFill>
              </a:rPr>
              <a:t>Debugger</a:t>
            </a:r>
            <a:endParaRPr lang="en-US" sz="2000" dirty="0"/>
          </a:p>
        </p:txBody>
      </p:sp>
      <p:sp>
        <p:nvSpPr>
          <p:cNvPr id="33" name="Text 24"/>
          <p:cNvSpPr txBox="1"/>
          <p:nvPr/>
        </p:nvSpPr>
        <p:spPr>
          <a:xfrm>
            <a:off x="8348472" y="4754880"/>
            <a:ext cx="3063240" cy="1005840"/>
          </a:xfrm>
          <a:prstGeom prst="rect">
            <a:avLst/>
          </a:prstGeom>
          <a:noFill/>
          <a:ln/>
        </p:spPr>
        <p:txBody>
          <a:bodyPr wrap="square" lIns="0" tIns="0" rIns="0" bIns="0" rtlCol="0" anchor="t"/>
          <a:lstStyle/>
          <a:p>
            <a:pPr indent="0" marL="0">
              <a:buNone/>
            </a:pPr>
            <a:r>
              <a:rPr lang="en-US" sz="1600" dirty="0">
                <a:solidFill>
                  <a:schemeClr val="tx1"/>
                </a:solidFill>
              </a:rPr>
              <a:t>Open the Run and Debug view. Do not use it yet.</a:t>
            </a:r>
            <a:endParaRPr lang="en-US" sz="16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Exit ticket: Session 1</a:t>
            </a:r>
            <a:endParaRPr lang="en-US" sz="3000" dirty="0"/>
          </a:p>
        </p:txBody>
      </p:sp>
      <p:sp>
        <p:nvSpPr>
          <p:cNvPr id="4" name="Question card 1"/>
          <p:cNvSpPr/>
          <p:nvPr/>
        </p:nvSpPr>
        <p:spPr>
          <a:xfrm>
            <a:off x="548640" y="1463040"/>
            <a:ext cx="5413248" cy="2103120"/>
          </a:xfrm>
          <a:prstGeom prst="roundRect">
            <a:avLst>
              <a:gd name="adj" fmla="val 4348"/>
            </a:avLst>
          </a:prstGeom>
          <a:solidFill>
            <a:schemeClr val="bg2"/>
          </a:solidFill>
          <a:ln/>
        </p:spPr>
      </p:sp>
      <p:sp>
        <p:nvSpPr>
          <p:cNvPr id="5" name="Question marker"/>
          <p:cNvSpPr/>
          <p:nvPr/>
        </p:nvSpPr>
        <p:spPr>
          <a:xfrm>
            <a:off x="777240" y="1691640"/>
            <a:ext cx="502920" cy="502920"/>
          </a:xfrm>
          <a:prstGeom prst="ellipse">
            <a:avLst/>
          </a:prstGeom>
          <a:solidFill>
            <a:schemeClr val="accent1"/>
          </a:solidFill>
          <a:ln/>
        </p:spPr>
      </p:sp>
      <p:sp>
        <p:nvSpPr>
          <p:cNvPr id="6" name="Question number"/>
          <p:cNvSpPr txBox="1"/>
          <p:nvPr/>
        </p:nvSpPr>
        <p:spPr>
          <a:xfrm>
            <a:off x="777240" y="169164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Q1</a:t>
            </a:r>
            <a:endParaRPr lang="en-US" sz="1400" dirty="0"/>
          </a:p>
        </p:txBody>
      </p:sp>
      <p:sp>
        <p:nvSpPr>
          <p:cNvPr id="7" name="Question text"/>
          <p:cNvSpPr txBox="1"/>
          <p:nvPr/>
        </p:nvSpPr>
        <p:spPr>
          <a:xfrm>
            <a:off x="1463040" y="1600200"/>
            <a:ext cx="4270248" cy="1828800"/>
          </a:xfrm>
          <a:prstGeom prst="rect">
            <a:avLst/>
          </a:prstGeom>
          <a:noFill/>
          <a:ln/>
        </p:spPr>
        <p:txBody>
          <a:bodyPr wrap="square" lIns="0" tIns="0" rIns="0" bIns="0" rtlCol="0" anchor="ctr"/>
          <a:lstStyle/>
          <a:p>
            <a:pPr indent="0" marL="0">
              <a:buNone/>
            </a:pPr>
            <a:r>
              <a:rPr lang="en-US" sz="1900" dirty="0">
                <a:solidFill>
                  <a:schemeClr val="tx1"/>
                </a:solidFill>
              </a:rPr>
              <a:t>Name two things an IDE provides that a basic text editor usually does not.</a:t>
            </a:r>
            <a:endParaRPr lang="en-US" sz="1900" dirty="0"/>
          </a:p>
        </p:txBody>
      </p:sp>
      <p:sp>
        <p:nvSpPr>
          <p:cNvPr id="8" name="Question card 2"/>
          <p:cNvSpPr/>
          <p:nvPr/>
        </p:nvSpPr>
        <p:spPr>
          <a:xfrm>
            <a:off x="6227064" y="1463040"/>
            <a:ext cx="5413248" cy="2103120"/>
          </a:xfrm>
          <a:prstGeom prst="roundRect">
            <a:avLst>
              <a:gd name="adj" fmla="val 4348"/>
            </a:avLst>
          </a:prstGeom>
          <a:solidFill>
            <a:schemeClr val="bg2"/>
          </a:solidFill>
          <a:ln/>
        </p:spPr>
      </p:sp>
      <p:sp>
        <p:nvSpPr>
          <p:cNvPr id="9" name="Question marker"/>
          <p:cNvSpPr/>
          <p:nvPr/>
        </p:nvSpPr>
        <p:spPr>
          <a:xfrm>
            <a:off x="6455664" y="1691640"/>
            <a:ext cx="502920" cy="502920"/>
          </a:xfrm>
          <a:prstGeom prst="ellipse">
            <a:avLst/>
          </a:prstGeom>
          <a:solidFill>
            <a:schemeClr val="accent1"/>
          </a:solidFill>
          <a:ln/>
        </p:spPr>
      </p:sp>
      <p:sp>
        <p:nvSpPr>
          <p:cNvPr id="10" name="Question number"/>
          <p:cNvSpPr txBox="1"/>
          <p:nvPr/>
        </p:nvSpPr>
        <p:spPr>
          <a:xfrm>
            <a:off x="6455664" y="169164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Q2</a:t>
            </a:r>
            <a:endParaRPr lang="en-US" sz="1400" dirty="0"/>
          </a:p>
        </p:txBody>
      </p:sp>
      <p:sp>
        <p:nvSpPr>
          <p:cNvPr id="11" name="Question text"/>
          <p:cNvSpPr txBox="1"/>
          <p:nvPr/>
        </p:nvSpPr>
        <p:spPr>
          <a:xfrm>
            <a:off x="7141464" y="1600200"/>
            <a:ext cx="4270248" cy="1828800"/>
          </a:xfrm>
          <a:prstGeom prst="rect">
            <a:avLst/>
          </a:prstGeom>
          <a:noFill/>
          <a:ln/>
        </p:spPr>
        <p:txBody>
          <a:bodyPr wrap="square" lIns="0" tIns="0" rIns="0" bIns="0" rtlCol="0" anchor="ctr"/>
          <a:lstStyle/>
          <a:p>
            <a:pPr indent="0" marL="0">
              <a:buNone/>
            </a:pPr>
            <a:r>
              <a:rPr lang="en-US" sz="1900" dirty="0">
                <a:solidFill>
                  <a:schemeClr val="tx1"/>
                </a:solidFill>
              </a:rPr>
              <a:t>Which component do you use to run python main.py?</a:t>
            </a:r>
            <a:endParaRPr lang="en-US" sz="1900" dirty="0"/>
          </a:p>
        </p:txBody>
      </p:sp>
      <p:sp>
        <p:nvSpPr>
          <p:cNvPr id="12" name="Question card 3"/>
          <p:cNvSpPr/>
          <p:nvPr/>
        </p:nvSpPr>
        <p:spPr>
          <a:xfrm>
            <a:off x="548640" y="3794760"/>
            <a:ext cx="5413248" cy="2103120"/>
          </a:xfrm>
          <a:prstGeom prst="roundRect">
            <a:avLst>
              <a:gd name="adj" fmla="val 4348"/>
            </a:avLst>
          </a:prstGeom>
          <a:solidFill>
            <a:schemeClr val="bg2"/>
          </a:solidFill>
          <a:ln/>
        </p:spPr>
      </p:sp>
      <p:sp>
        <p:nvSpPr>
          <p:cNvPr id="13" name="Question marker"/>
          <p:cNvSpPr/>
          <p:nvPr/>
        </p:nvSpPr>
        <p:spPr>
          <a:xfrm>
            <a:off x="777240" y="4023360"/>
            <a:ext cx="502920" cy="502920"/>
          </a:xfrm>
          <a:prstGeom prst="ellipse">
            <a:avLst/>
          </a:prstGeom>
          <a:solidFill>
            <a:schemeClr val="accent1"/>
          </a:solidFill>
          <a:ln/>
        </p:spPr>
      </p:sp>
      <p:sp>
        <p:nvSpPr>
          <p:cNvPr id="14" name="Question number"/>
          <p:cNvSpPr txBox="1"/>
          <p:nvPr/>
        </p:nvSpPr>
        <p:spPr>
          <a:xfrm>
            <a:off x="777240" y="402336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Q3</a:t>
            </a:r>
            <a:endParaRPr lang="en-US" sz="1400" dirty="0"/>
          </a:p>
        </p:txBody>
      </p:sp>
      <p:sp>
        <p:nvSpPr>
          <p:cNvPr id="15" name="Question text"/>
          <p:cNvSpPr txBox="1"/>
          <p:nvPr/>
        </p:nvSpPr>
        <p:spPr>
          <a:xfrm>
            <a:off x="1463040" y="3931920"/>
            <a:ext cx="4270248" cy="1828800"/>
          </a:xfrm>
          <a:prstGeom prst="rect">
            <a:avLst/>
          </a:prstGeom>
          <a:noFill/>
          <a:ln/>
        </p:spPr>
        <p:txBody>
          <a:bodyPr wrap="square" lIns="0" tIns="0" rIns="0" bIns="0" rtlCol="0" anchor="ctr"/>
          <a:lstStyle/>
          <a:p>
            <a:pPr indent="0" marL="0">
              <a:buNone/>
            </a:pPr>
            <a:r>
              <a:rPr lang="en-US" sz="1900" dirty="0">
                <a:solidFill>
                  <a:schemeClr val="tx1"/>
                </a:solidFill>
              </a:rPr>
              <a:t>Where do problems and diagnostic messages about your code appear?</a:t>
            </a:r>
            <a:endParaRPr lang="en-US" sz="1900" dirty="0"/>
          </a:p>
        </p:txBody>
      </p:sp>
      <p:sp>
        <p:nvSpPr>
          <p:cNvPr id="16" name="Question card 4"/>
          <p:cNvSpPr/>
          <p:nvPr/>
        </p:nvSpPr>
        <p:spPr>
          <a:xfrm>
            <a:off x="6227064" y="3794760"/>
            <a:ext cx="5413248" cy="2103120"/>
          </a:xfrm>
          <a:prstGeom prst="roundRect">
            <a:avLst>
              <a:gd name="adj" fmla="val 4348"/>
            </a:avLst>
          </a:prstGeom>
          <a:solidFill>
            <a:schemeClr val="bg2"/>
          </a:solidFill>
          <a:ln/>
        </p:spPr>
      </p:sp>
      <p:sp>
        <p:nvSpPr>
          <p:cNvPr id="17" name="Question marker"/>
          <p:cNvSpPr/>
          <p:nvPr/>
        </p:nvSpPr>
        <p:spPr>
          <a:xfrm>
            <a:off x="6455664" y="4023360"/>
            <a:ext cx="502920" cy="502920"/>
          </a:xfrm>
          <a:prstGeom prst="ellipse">
            <a:avLst/>
          </a:prstGeom>
          <a:solidFill>
            <a:schemeClr val="accent1"/>
          </a:solidFill>
          <a:ln/>
        </p:spPr>
      </p:sp>
      <p:sp>
        <p:nvSpPr>
          <p:cNvPr id="18" name="Question number"/>
          <p:cNvSpPr txBox="1"/>
          <p:nvPr/>
        </p:nvSpPr>
        <p:spPr>
          <a:xfrm>
            <a:off x="6455664" y="402336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Q4</a:t>
            </a:r>
            <a:endParaRPr lang="en-US" sz="1400" dirty="0"/>
          </a:p>
        </p:txBody>
      </p:sp>
      <p:sp>
        <p:nvSpPr>
          <p:cNvPr id="19" name="Question text"/>
          <p:cNvSpPr txBox="1"/>
          <p:nvPr/>
        </p:nvSpPr>
        <p:spPr>
          <a:xfrm>
            <a:off x="7141464" y="3931920"/>
            <a:ext cx="4270248" cy="1828800"/>
          </a:xfrm>
          <a:prstGeom prst="rect">
            <a:avLst/>
          </a:prstGeom>
          <a:noFill/>
          <a:ln/>
        </p:spPr>
        <p:txBody>
          <a:bodyPr wrap="square" lIns="0" tIns="0" rIns="0" bIns="0" rtlCol="0" anchor="ctr"/>
          <a:lstStyle/>
          <a:p>
            <a:pPr indent="0" marL="0">
              <a:buNone/>
            </a:pPr>
            <a:r>
              <a:rPr lang="en-US" sz="1900" dirty="0">
                <a:solidFill>
                  <a:schemeClr val="tx1"/>
                </a:solidFill>
              </a:rPr>
              <a:t>How do you check or change the Python interpreter in VS Code?</a:t>
            </a:r>
            <a:endParaRPr lang="en-US" sz="19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ession badge"/>
          <p:cNvSpPr/>
          <p:nvPr/>
        </p:nvSpPr>
        <p:spPr>
          <a:xfrm>
            <a:off x="822960" y="2514600"/>
            <a:ext cx="1737360" cy="1737360"/>
          </a:xfrm>
          <a:prstGeom prst="ellipse">
            <a:avLst/>
          </a:prstGeom>
          <a:solidFill>
            <a:schemeClr val="accent2"/>
          </a:solidFill>
          <a:ln/>
        </p:spPr>
      </p:sp>
      <p:sp>
        <p:nvSpPr>
          <p:cNvPr id="3" name="Session number"/>
          <p:cNvSpPr txBox="1"/>
          <p:nvPr/>
        </p:nvSpPr>
        <p:spPr>
          <a:xfrm>
            <a:off x="822960" y="2514600"/>
            <a:ext cx="1737360" cy="1737360"/>
          </a:xfrm>
          <a:prstGeom prst="rect">
            <a:avLst/>
          </a:prstGeom>
          <a:noFill/>
          <a:ln/>
        </p:spPr>
        <p:txBody>
          <a:bodyPr wrap="square" lIns="0" tIns="0" rIns="0" bIns="0" rtlCol="0" anchor="ctr"/>
          <a:lstStyle/>
          <a:p>
            <a:pPr algn="ctr" indent="0" marL="0">
              <a:buNone/>
            </a:pPr>
            <a:r>
              <a:rPr lang="en-US" sz="8000" b="1" dirty="0">
                <a:solidFill>
                  <a:schemeClr val="accent1"/>
                </a:solidFill>
                <a:latin typeface="Cambria" pitchFamily="34" charset="0"/>
                <a:ea typeface="Cambria" pitchFamily="34" charset="-122"/>
                <a:cs typeface="Cambria" pitchFamily="34" charset="-120"/>
              </a:rPr>
              <a:t>2</a:t>
            </a:r>
            <a:endParaRPr lang="en-US" sz="8000" dirty="0"/>
          </a:p>
        </p:txBody>
      </p:sp>
      <p:sp>
        <p:nvSpPr>
          <p:cNvPr id="4" name="Text 0"/>
          <p:cNvSpPr/>
          <p:nvPr>
            <p:ph idx="102" type="title" hasCustomPrompt="1"/>
          </p:nvPr>
        </p:nvSpPr>
        <p:spPr>
          <a:xfrm>
            <a:off x="3017520" y="2377440"/>
            <a:ext cx="8229600" cy="1371600"/>
          </a:xfrm>
          <a:prstGeom prst="rect">
            <a:avLst/>
          </a:prstGeom>
          <a:noFill/>
          <a:ln/>
        </p:spPr>
        <p:txBody>
          <a:bodyPr wrap="square" lIns="0" tIns="0" rIns="0" bIns="0" rtlCol="0" anchor="ctr"/>
          <a:lstStyle/>
          <a:p>
            <a:pPr algn="l" indent="0" marL="0">
              <a:buNone/>
            </a:pPr>
            <a:r>
              <a:rPr lang="en-US" sz="4200" b="1" dirty="0">
                <a:solidFill>
                  <a:schemeClr val="bg1"/>
                </a:solidFill>
              </a:rPr>
              <a:t>Types of Errors and the Debugging Process</a:t>
            </a:r>
            <a:endParaRPr lang="en-US" sz="4200" dirty="0"/>
          </a:p>
        </p:txBody>
      </p:sp>
      <p:sp>
        <p:nvSpPr>
          <p:cNvPr id="5" name="Text 0"/>
          <p:cNvSpPr/>
          <p:nvPr>
            <p:ph idx="103" type="body" hasCustomPrompt="1"/>
          </p:nvPr>
        </p:nvSpPr>
        <p:spPr>
          <a:xfrm>
            <a:off x="3017520" y="3840480"/>
            <a:ext cx="8229600" cy="1188720"/>
          </a:xfrm>
          <a:prstGeom prst="rect">
            <a:avLst/>
          </a:prstGeom>
          <a:noFill/>
          <a:ln/>
        </p:spPr>
        <p:txBody>
          <a:bodyPr wrap="square" lIns="0" tIns="0" rIns="0" bIns="0" rtlCol="0" anchor="t"/>
          <a:lstStyle/>
          <a:p>
            <a:pPr algn="l" indent="0" marL="0">
              <a:buNone/>
            </a:pPr>
            <a:r>
              <a:rPr lang="en-US" sz="2000" dirty="0">
                <a:solidFill>
                  <a:schemeClr val="bg2"/>
                </a:solidFill>
              </a:rPr>
              <a:t>Pearson alignment: LO4  |  75 minutes</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Starter: what went wrong?</a:t>
            </a:r>
            <a:endParaRPr lang="en-US" sz="3000" dirty="0"/>
          </a:p>
        </p:txBody>
      </p:sp>
      <p:sp>
        <p:nvSpPr>
          <p:cNvPr id="4" name="Code block"/>
          <p:cNvSpPr/>
          <p:nvPr/>
        </p:nvSpPr>
        <p:spPr>
          <a:xfrm>
            <a:off x="548640" y="1463040"/>
            <a:ext cx="6583680" cy="1545336"/>
          </a:xfrm>
          <a:prstGeom prst="roundRect">
            <a:avLst>
              <a:gd name="adj" fmla="val 4734"/>
            </a:avLst>
          </a:prstGeom>
          <a:solidFill>
            <a:srgbClr val="0B1B38"/>
          </a:solidFill>
          <a:ln/>
        </p:spPr>
      </p:sp>
      <p:sp>
        <p:nvSpPr>
          <p:cNvPr id="5" name="Code text"/>
          <p:cNvSpPr txBox="1"/>
          <p:nvPr/>
        </p:nvSpPr>
        <p:spPr>
          <a:xfrm>
            <a:off x="777240" y="1645920"/>
            <a:ext cx="6126480" cy="1179576"/>
          </a:xfrm>
          <a:prstGeom prst="rect">
            <a:avLst/>
          </a:prstGeom>
          <a:noFill/>
          <a:ln/>
        </p:spPr>
        <p:txBody>
          <a:bodyPr wrap="square" lIns="0" tIns="0" rIns="0" bIns="0" rtlCol="0" anchor="t"/>
          <a:lstStyle/>
          <a:p>
            <a:pPr indent="0" marL="0">
              <a:buNone/>
            </a:pPr>
            <a:r>
              <a:rPr lang="en-US" sz="1600" dirty="0">
                <a:solidFill>
                  <a:srgbClr val="E8EEF9"/>
                </a:solidFill>
                <a:latin typeface="Courier New" pitchFamily="34" charset="0"/>
                <a:ea typeface="Courier New" pitchFamily="34" charset="-122"/>
                <a:cs typeface="Courier New" pitchFamily="34" charset="-120"/>
              </a:rPr>
              <a:t>price = 100</a:t>
            </a:r>
            <a:endParaRPr lang="en-US" sz="1600" dirty="0"/>
          </a:p>
          <a:p>
            <a:pPr indent="0" marL="0">
              <a:buNone/>
            </a:pPr>
            <a:r>
              <a:rPr lang="en-US" sz="1600" dirty="0">
                <a:solidFill>
                  <a:srgbClr val="E8EEF9"/>
                </a:solidFill>
                <a:latin typeface="Courier New" pitchFamily="34" charset="0"/>
                <a:ea typeface="Courier New" pitchFamily="34" charset="-122"/>
                <a:cs typeface="Courier New" pitchFamily="34" charset="-120"/>
              </a:rPr>
              <a:t>quantity = 3</a:t>
            </a:r>
            <a:endParaRPr lang="en-US" sz="1600" dirty="0"/>
          </a:p>
          <a:p>
            <a:pPr indent="0" marL="0">
              <a:buNone/>
            </a:pPr>
            <a:r>
              <a:rPr lang="en-US" sz="1600" dirty="0">
                <a:solidFill>
                  <a:srgbClr val="E8EEF9"/>
                </a:solidFill>
                <a:latin typeface="Courier New" pitchFamily="34" charset="0"/>
                <a:ea typeface="Courier New" pitchFamily="34" charset="-122"/>
                <a:cs typeface="Courier New" pitchFamily="34" charset="-120"/>
              </a:rPr>
              <a:t>total = price + quantity  # intended: total cost</a:t>
            </a:r>
            <a:endParaRPr lang="en-US" sz="1600" dirty="0"/>
          </a:p>
          <a:p>
            <a:pPr indent="0" marL="0">
              <a:buNone/>
            </a:pPr>
            <a:r>
              <a:rPr lang="en-US" sz="1600" dirty="0">
                <a:solidFill>
                  <a:srgbClr val="E8EEF9"/>
                </a:solidFill>
                <a:latin typeface="Courier New" pitchFamily="34" charset="0"/>
                <a:ea typeface="Courier New" pitchFamily="34" charset="-122"/>
                <a:cs typeface="Courier New" pitchFamily="34" charset="-120"/>
              </a:rPr>
              <a:t>print(total)</a:t>
            </a:r>
            <a:endParaRPr lang="en-US" sz="1600" dirty="0"/>
          </a:p>
        </p:txBody>
      </p:sp>
      <p:sp>
        <p:nvSpPr>
          <p:cNvPr id="6" name="Label"/>
          <p:cNvSpPr txBox="1"/>
          <p:nvPr/>
        </p:nvSpPr>
        <p:spPr>
          <a:xfrm>
            <a:off x="548640" y="3218688"/>
            <a:ext cx="6583680" cy="274320"/>
          </a:xfrm>
          <a:prstGeom prst="rect">
            <a:avLst/>
          </a:prstGeom>
          <a:noFill/>
          <a:ln/>
        </p:spPr>
        <p:txBody>
          <a:bodyPr wrap="square" lIns="0" tIns="0" rIns="0" bIns="0" rtlCol="0" anchor="ctr"/>
          <a:lstStyle/>
          <a:p>
            <a:pPr indent="0" marL="0">
              <a:buNone/>
            </a:pPr>
            <a:r>
              <a:rPr lang="en-US" sz="1200" b="1" spc="100" kern="0" dirty="0">
                <a:solidFill>
                  <a:schemeClr val="accent6"/>
                </a:solidFill>
              </a:rPr>
              <a:t>OUTPUT (expected 300)</a:t>
            </a:r>
            <a:endParaRPr lang="en-US" sz="1200" dirty="0"/>
          </a:p>
        </p:txBody>
      </p:sp>
      <p:sp>
        <p:nvSpPr>
          <p:cNvPr id="7" name="Output block"/>
          <p:cNvSpPr/>
          <p:nvPr/>
        </p:nvSpPr>
        <p:spPr>
          <a:xfrm>
            <a:off x="548640" y="3493008"/>
            <a:ext cx="6583680" cy="694944"/>
          </a:xfrm>
          <a:prstGeom prst="roundRect">
            <a:avLst>
              <a:gd name="adj" fmla="val 10526"/>
            </a:avLst>
          </a:prstGeom>
          <a:solidFill>
            <a:srgbClr val="0B1B38"/>
          </a:solidFill>
          <a:ln/>
        </p:spPr>
      </p:sp>
      <p:sp>
        <p:nvSpPr>
          <p:cNvPr id="8" name="Code text"/>
          <p:cNvSpPr txBox="1"/>
          <p:nvPr/>
        </p:nvSpPr>
        <p:spPr>
          <a:xfrm>
            <a:off x="777240" y="3675888"/>
            <a:ext cx="6126480" cy="329184"/>
          </a:xfrm>
          <a:prstGeom prst="rect">
            <a:avLst/>
          </a:prstGeom>
          <a:noFill/>
          <a:ln/>
        </p:spPr>
        <p:txBody>
          <a:bodyPr wrap="square" lIns="0" tIns="0" rIns="0" bIns="0" rtlCol="0" anchor="t"/>
          <a:lstStyle/>
          <a:p>
            <a:pPr indent="0" marL="0">
              <a:buNone/>
            </a:pPr>
            <a:r>
              <a:rPr lang="en-US" sz="1600" dirty="0">
                <a:solidFill>
                  <a:srgbClr val="E8EEF9"/>
                </a:solidFill>
                <a:latin typeface="Courier New" pitchFamily="34" charset="0"/>
                <a:ea typeface="Courier New" pitchFamily="34" charset="-122"/>
                <a:cs typeface="Courier New" pitchFamily="34" charset="-120"/>
              </a:rPr>
              <a:t>103</a:t>
            </a:r>
            <a:endParaRPr lang="en-US" sz="1600" dirty="0"/>
          </a:p>
        </p:txBody>
      </p:sp>
      <p:sp>
        <p:nvSpPr>
          <p:cNvPr id="9" name="Points heading"/>
          <p:cNvSpPr txBox="1"/>
          <p:nvPr/>
        </p:nvSpPr>
        <p:spPr>
          <a:xfrm>
            <a:off x="7498080" y="1463040"/>
            <a:ext cx="4144975" cy="411480"/>
          </a:xfrm>
          <a:prstGeom prst="rect">
            <a:avLst/>
          </a:prstGeom>
          <a:noFill/>
          <a:ln/>
        </p:spPr>
        <p:txBody>
          <a:bodyPr wrap="square" lIns="0" tIns="0" rIns="0" bIns="0" rtlCol="0" anchor="ctr"/>
          <a:lstStyle/>
          <a:p>
            <a:pPr indent="0" marL="0">
              <a:buNone/>
            </a:pPr>
            <a:r>
              <a:rPr lang="en-US" sz="2200" b="1" dirty="0">
                <a:solidFill>
                  <a:schemeClr val="accent1"/>
                </a:solidFill>
              </a:rPr>
              <a:t>Think, pair, share</a:t>
            </a:r>
            <a:endParaRPr lang="en-US" sz="2200" dirty="0"/>
          </a:p>
        </p:txBody>
      </p:sp>
      <p:sp>
        <p:nvSpPr>
          <p:cNvPr id="10" name="Key points"/>
          <p:cNvSpPr txBox="1"/>
          <p:nvPr/>
        </p:nvSpPr>
        <p:spPr>
          <a:xfrm>
            <a:off x="7498080" y="2011680"/>
            <a:ext cx="4144975" cy="43891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The program runs without any error message</a:t>
            </a:r>
            <a:endParaRPr lang="en-US" sz="1800" dirty="0"/>
          </a:p>
          <a:p>
            <a:pPr marL="342900" indent="-342900">
              <a:spcAft>
                <a:spcPts val="1000"/>
              </a:spcAft>
              <a:buSzPct val="100000"/>
              <a:buChar char="•"/>
            </a:pPr>
            <a:r>
              <a:rPr lang="en-US" sz="1800" dirty="0">
                <a:solidFill>
                  <a:schemeClr val="tx1"/>
                </a:solidFill>
              </a:rPr>
              <a:t>Yet the output is wrong</a:t>
            </a:r>
            <a:endParaRPr lang="en-US" sz="1800" dirty="0"/>
          </a:p>
          <a:p>
            <a:pPr marL="342900" indent="-342900">
              <a:spcAft>
                <a:spcPts val="1000"/>
              </a:spcAft>
              <a:buSzPct val="100000"/>
              <a:buChar char="•"/>
            </a:pPr>
            <a:r>
              <a:rPr lang="en-US" sz="1800" dirty="0">
                <a:solidFill>
                  <a:schemeClr val="tx1"/>
                </a:solidFill>
              </a:rPr>
              <a:t>What did you expect? What did you get?</a:t>
            </a:r>
            <a:endParaRPr lang="en-US" sz="1800" dirty="0"/>
          </a:p>
          <a:p>
            <a:pPr marL="342900" indent="-342900">
              <a:spcAft>
                <a:spcPts val="1000"/>
              </a:spcAft>
              <a:buSzPct val="100000"/>
              <a:buChar char="•"/>
            </a:pPr>
            <a:r>
              <a:rPr lang="en-US" sz="1800" dirty="0">
                <a:solidFill>
                  <a:schemeClr val="tx1"/>
                </a:solidFill>
              </a:rPr>
              <a:t>Discuss with a partner for two minutes</a:t>
            </a:r>
            <a:endParaRPr lang="en-US" sz="18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Session 2 plan: 75 minutes</a:t>
            </a:r>
            <a:endParaRPr lang="en-US" sz="3000" dirty="0"/>
          </a:p>
        </p:txBody>
      </p:sp>
      <p:graphicFrame>
        <p:nvGraphicFramePr>
          <p:cNvPr id="17" name="Data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1280160"/>
                <a:gridCol w="7315200"/>
                <a:gridCol w="2468880"/>
              </a:tblGrid>
              <a:tr h="566928">
                <a:tc>
                  <a:txBody>
                    <a:bodyPr/>
                    <a:lstStyle/>
                    <a:p>
                      <a:pPr indent="0" marL="0">
                        <a:buNone/>
                      </a:pPr>
                      <a:r>
                        <a:rPr lang="en-US" sz="1600" b="1" dirty="0">
                          <a:solidFill>
                            <a:schemeClr val="bg1"/>
                          </a:solidFill>
                        </a:rPr>
                        <a:t>Time</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Activity</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Format</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accent1"/>
                    </a:solidFill>
                  </a:tcPr>
                </a:tc>
              </a:tr>
              <a:tr h="566928">
                <a:tc>
                  <a:txBody>
                    <a:bodyPr/>
                    <a:lstStyle/>
                    <a:p>
                      <a:pPr indent="0" marL="0">
                        <a:buNone/>
                      </a:pPr>
                      <a:r>
                        <a:rPr lang="en-US" sz="1600" b="1" dirty="0">
                          <a:solidFill>
                            <a:schemeClr val="tx1"/>
                          </a:solidFill>
                        </a:rPr>
                        <a:t>0-5</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Short program that gives the wrong answer: what went wrong?</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Starter challenge</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r>
              <a:tr h="566928">
                <a:tc>
                  <a:txBody>
                    <a:bodyPr/>
                    <a:lstStyle/>
                    <a:p>
                      <a:pPr indent="0" marL="0">
                        <a:buNone/>
                      </a:pPr>
                      <a:r>
                        <a:rPr lang="en-US" sz="1600" b="1" dirty="0">
                          <a:solidFill>
                            <a:schemeClr val="tx1"/>
                          </a:solidFill>
                        </a:rPr>
                        <a:t>5-15</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Syntax, runtime and logical errors</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Slides</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r>
              <a:tr h="566928">
                <a:tc>
                  <a:txBody>
                    <a:bodyPr/>
                    <a:lstStyle/>
                    <a:p>
                      <a:pPr indent="0" marL="0">
                        <a:buNone/>
                      </a:pPr>
                      <a:r>
                        <a:rPr lang="en-US" sz="1600" b="1" dirty="0">
                          <a:solidFill>
                            <a:schemeClr val="tx1"/>
                          </a:solidFill>
                        </a:rPr>
                        <a:t>15-30</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One example of each error in VS Code</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Live coding</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r>
              <a:tr h="566928">
                <a:tc>
                  <a:txBody>
                    <a:bodyPr/>
                    <a:lstStyle/>
                    <a:p>
                      <a:pPr indent="0" marL="0">
                        <a:buNone/>
                      </a:pPr>
                      <a:r>
                        <a:rPr lang="en-US" sz="1600" b="1" dirty="0">
                          <a:solidFill>
                            <a:schemeClr val="tx1"/>
                          </a:solidFill>
                        </a:rPr>
                        <a:t>30-50</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Diagnose and correct three broken programs</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Practical</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r>
              <a:tr h="566928">
                <a:tc>
                  <a:txBody>
                    <a:bodyPr/>
                    <a:lstStyle/>
                    <a:p>
                      <a:pPr indent="0" marL="0">
                        <a:buNone/>
                      </a:pPr>
                      <a:r>
                        <a:rPr lang="en-US" sz="1600" b="1" dirty="0">
                          <a:solidFill>
                            <a:schemeClr val="tx1"/>
                          </a:solidFill>
                        </a:rPr>
                        <a:t>50-62</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Debugging workflow: reproduce, investigate, correct, retest</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Demonstration</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r>
              <a:tr h="566928">
                <a:tc>
                  <a:txBody>
                    <a:bodyPr/>
                    <a:lstStyle/>
                    <a:p>
                      <a:pPr indent="0" marL="0">
                        <a:buNone/>
                      </a:pPr>
                      <a:r>
                        <a:rPr lang="en-US" sz="1600" b="1" dirty="0">
                          <a:solidFill>
                            <a:schemeClr val="tx1"/>
                          </a:solidFill>
                        </a:rPr>
                        <a:t>62-70</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Complete a short debugging report for one error</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Worksheet</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r>
              <a:tr h="566928">
                <a:tc>
                  <a:txBody>
                    <a:bodyPr/>
                    <a:lstStyle/>
                    <a:p>
                      <a:pPr indent="0" marL="0">
                        <a:buNone/>
                      </a:pPr>
                      <a:r>
                        <a:rPr lang="en-US" sz="1600" b="1" dirty="0">
                          <a:solidFill>
                            <a:schemeClr val="tx1"/>
                          </a:solidFill>
                        </a:rPr>
                        <a:t>70-75</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Common mistakes and exit ticket</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Exit ticket</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Three kinds of error</a:t>
            </a:r>
            <a:endParaRPr lang="en-US" sz="3000" dirty="0"/>
          </a:p>
        </p:txBody>
      </p:sp>
      <p:sp>
        <p:nvSpPr>
          <p:cNvPr id="4" name="Card 1"/>
          <p:cNvSpPr/>
          <p:nvPr/>
        </p:nvSpPr>
        <p:spPr>
          <a:xfrm>
            <a:off x="548640" y="1463040"/>
            <a:ext cx="3520440" cy="4023360"/>
          </a:xfrm>
          <a:prstGeom prst="roundRect">
            <a:avLst>
              <a:gd name="adj" fmla="val 2597"/>
            </a:avLst>
          </a:prstGeom>
          <a:solidFill>
            <a:schemeClr val="bg2"/>
          </a:solidFill>
          <a:ln/>
        </p:spPr>
      </p:sp>
      <p:sp>
        <p:nvSpPr>
          <p:cNvPr id="5" name="Icon circle"/>
          <p:cNvSpPr/>
          <p:nvPr/>
        </p:nvSpPr>
        <p:spPr>
          <a:xfrm>
            <a:off x="822960" y="1737360"/>
            <a:ext cx="777240" cy="777240"/>
          </a:xfrm>
          <a:prstGeom prst="ellipse">
            <a:avLst/>
          </a:prstGeom>
          <a:solidFill>
            <a:schemeClr val="accent1"/>
          </a:solidFill>
          <a:ln/>
        </p:spPr>
      </p:sp>
      <p:pic>
        <p:nvPicPr>
          <p:cNvPr id="6" name="Icon FaPen" descr="Pen icon">    </p:cNvPr>
          <p:cNvPicPr>
            <a:picLocks noChangeAspect="1"/>
          </p:cNvPicPr>
          <p:nvPr/>
        </p:nvPicPr>
        <p:blipFill>
          <a:blip r:embed="rId1"/>
          <a:stretch>
            <a:fillRect/>
          </a:stretch>
        </p:blipFill>
        <p:spPr>
          <a:xfrm>
            <a:off x="1025042" y="1939442"/>
            <a:ext cx="373075" cy="373075"/>
          </a:xfrm>
          <a:prstGeom prst="rect">
            <a:avLst/>
          </a:prstGeom>
        </p:spPr>
      </p:pic>
      <p:sp>
        <p:nvSpPr>
          <p:cNvPr id="7" name="Text 25"/>
          <p:cNvSpPr txBox="1"/>
          <p:nvPr/>
        </p:nvSpPr>
        <p:spPr>
          <a:xfrm>
            <a:off x="822960" y="2697480"/>
            <a:ext cx="2971800" cy="548640"/>
          </a:xfrm>
          <a:prstGeom prst="rect">
            <a:avLst/>
          </a:prstGeom>
          <a:noFill/>
          <a:ln/>
        </p:spPr>
        <p:txBody>
          <a:bodyPr wrap="square" lIns="0" tIns="0" rIns="0" bIns="0" rtlCol="0" anchor="t"/>
          <a:lstStyle/>
          <a:p>
            <a:pPr indent="0" marL="0">
              <a:buNone/>
            </a:pPr>
            <a:r>
              <a:rPr lang="en-US" sz="2400" b="1" dirty="0">
                <a:solidFill>
                  <a:schemeClr val="accent1"/>
                </a:solidFill>
              </a:rPr>
              <a:t>Syntax error</a:t>
            </a:r>
            <a:endParaRPr lang="en-US" sz="2400" dirty="0"/>
          </a:p>
        </p:txBody>
      </p:sp>
      <p:sp>
        <p:nvSpPr>
          <p:cNvPr id="8" name="Text 26"/>
          <p:cNvSpPr txBox="1"/>
          <p:nvPr/>
        </p:nvSpPr>
        <p:spPr>
          <a:xfrm>
            <a:off x="822960" y="3337560"/>
            <a:ext cx="2971800" cy="1920240"/>
          </a:xfrm>
          <a:prstGeom prst="rect">
            <a:avLst/>
          </a:prstGeom>
          <a:noFill/>
          <a:ln/>
        </p:spPr>
        <p:txBody>
          <a:bodyPr wrap="square" lIns="0" tIns="0" rIns="0" bIns="0" rtlCol="0" anchor="t"/>
          <a:lstStyle/>
          <a:p>
            <a:pPr indent="0" marL="0">
              <a:spcAft>
                <a:spcPts val="400"/>
              </a:spcAft>
              <a:buNone/>
            </a:pPr>
            <a:r>
              <a:rPr lang="en-US" sz="1900" dirty="0">
                <a:solidFill>
                  <a:schemeClr val="tx1"/>
                </a:solidFill>
              </a:rPr>
              <a:t>The code breaks Python grammar rules. Python refuses to run it and reports the line.</a:t>
            </a:r>
            <a:endParaRPr lang="en-US" sz="1900" dirty="0"/>
          </a:p>
        </p:txBody>
      </p:sp>
      <p:sp>
        <p:nvSpPr>
          <p:cNvPr id="9" name="Card 2"/>
          <p:cNvSpPr/>
          <p:nvPr/>
        </p:nvSpPr>
        <p:spPr>
          <a:xfrm>
            <a:off x="4334256" y="1463040"/>
            <a:ext cx="3520440" cy="4023360"/>
          </a:xfrm>
          <a:prstGeom prst="roundRect">
            <a:avLst>
              <a:gd name="adj" fmla="val 2597"/>
            </a:avLst>
          </a:prstGeom>
          <a:solidFill>
            <a:schemeClr val="bg2"/>
          </a:solidFill>
          <a:ln/>
        </p:spPr>
      </p:sp>
      <p:sp>
        <p:nvSpPr>
          <p:cNvPr id="10" name="Icon circle"/>
          <p:cNvSpPr/>
          <p:nvPr/>
        </p:nvSpPr>
        <p:spPr>
          <a:xfrm>
            <a:off x="4608576" y="1737360"/>
            <a:ext cx="777240" cy="777240"/>
          </a:xfrm>
          <a:prstGeom prst="ellipse">
            <a:avLst/>
          </a:prstGeom>
          <a:solidFill>
            <a:schemeClr val="accent1"/>
          </a:solidFill>
          <a:ln/>
        </p:spPr>
      </p:sp>
      <p:pic>
        <p:nvPicPr>
          <p:cNvPr id="11" name="Icon FaExclamationTriangle" descr="ExclamationTriangle icon">    </p:cNvPr>
          <p:cNvPicPr>
            <a:picLocks noChangeAspect="1"/>
          </p:cNvPicPr>
          <p:nvPr/>
        </p:nvPicPr>
        <p:blipFill>
          <a:blip r:embed="rId2"/>
          <a:stretch>
            <a:fillRect/>
          </a:stretch>
        </p:blipFill>
        <p:spPr>
          <a:xfrm>
            <a:off x="4810658" y="1939442"/>
            <a:ext cx="373075" cy="373075"/>
          </a:xfrm>
          <a:prstGeom prst="rect">
            <a:avLst/>
          </a:prstGeom>
        </p:spPr>
      </p:pic>
      <p:sp>
        <p:nvSpPr>
          <p:cNvPr id="12" name="Text 27"/>
          <p:cNvSpPr txBox="1"/>
          <p:nvPr/>
        </p:nvSpPr>
        <p:spPr>
          <a:xfrm>
            <a:off x="4608576" y="2697480"/>
            <a:ext cx="2971800" cy="548640"/>
          </a:xfrm>
          <a:prstGeom prst="rect">
            <a:avLst/>
          </a:prstGeom>
          <a:noFill/>
          <a:ln/>
        </p:spPr>
        <p:txBody>
          <a:bodyPr wrap="square" lIns="0" tIns="0" rIns="0" bIns="0" rtlCol="0" anchor="t"/>
          <a:lstStyle/>
          <a:p>
            <a:pPr indent="0" marL="0">
              <a:buNone/>
            </a:pPr>
            <a:r>
              <a:rPr lang="en-US" sz="2400" b="1" dirty="0">
                <a:solidFill>
                  <a:schemeClr val="accent1"/>
                </a:solidFill>
              </a:rPr>
              <a:t>Runtime error</a:t>
            </a:r>
            <a:endParaRPr lang="en-US" sz="2400" dirty="0"/>
          </a:p>
        </p:txBody>
      </p:sp>
      <p:sp>
        <p:nvSpPr>
          <p:cNvPr id="13" name="Text 28"/>
          <p:cNvSpPr txBox="1"/>
          <p:nvPr/>
        </p:nvSpPr>
        <p:spPr>
          <a:xfrm>
            <a:off x="4608576" y="3337560"/>
            <a:ext cx="2971800" cy="1920240"/>
          </a:xfrm>
          <a:prstGeom prst="rect">
            <a:avLst/>
          </a:prstGeom>
          <a:noFill/>
          <a:ln/>
        </p:spPr>
        <p:txBody>
          <a:bodyPr wrap="square" lIns="0" tIns="0" rIns="0" bIns="0" rtlCol="0" anchor="t"/>
          <a:lstStyle/>
          <a:p>
            <a:pPr indent="0" marL="0">
              <a:spcAft>
                <a:spcPts val="400"/>
              </a:spcAft>
              <a:buNone/>
            </a:pPr>
            <a:r>
              <a:rPr lang="en-US" sz="1900" dirty="0">
                <a:solidFill>
                  <a:schemeClr val="tx1"/>
                </a:solidFill>
              </a:rPr>
              <a:t>The program starts, then fails during execution, for example converting text to a number.</a:t>
            </a:r>
            <a:endParaRPr lang="en-US" sz="1900" dirty="0"/>
          </a:p>
        </p:txBody>
      </p:sp>
      <p:sp>
        <p:nvSpPr>
          <p:cNvPr id="14" name="Card 3"/>
          <p:cNvSpPr/>
          <p:nvPr/>
        </p:nvSpPr>
        <p:spPr>
          <a:xfrm>
            <a:off x="8119872" y="1463040"/>
            <a:ext cx="3520440" cy="4023360"/>
          </a:xfrm>
          <a:prstGeom prst="roundRect">
            <a:avLst>
              <a:gd name="adj" fmla="val 2597"/>
            </a:avLst>
          </a:prstGeom>
          <a:solidFill>
            <a:schemeClr val="bg2"/>
          </a:solidFill>
          <a:ln/>
        </p:spPr>
      </p:sp>
      <p:sp>
        <p:nvSpPr>
          <p:cNvPr id="15" name="Icon circle"/>
          <p:cNvSpPr/>
          <p:nvPr/>
        </p:nvSpPr>
        <p:spPr>
          <a:xfrm>
            <a:off x="8394192" y="1737360"/>
            <a:ext cx="777240" cy="777240"/>
          </a:xfrm>
          <a:prstGeom prst="ellipse">
            <a:avLst/>
          </a:prstGeom>
          <a:solidFill>
            <a:schemeClr val="accent1"/>
          </a:solidFill>
          <a:ln/>
        </p:spPr>
      </p:sp>
      <p:pic>
        <p:nvPicPr>
          <p:cNvPr id="16" name="Icon FaBalanceScale" descr="BalanceScale icon">    </p:cNvPr>
          <p:cNvPicPr>
            <a:picLocks noChangeAspect="1"/>
          </p:cNvPicPr>
          <p:nvPr/>
        </p:nvPicPr>
        <p:blipFill>
          <a:blip r:embed="rId3"/>
          <a:stretch>
            <a:fillRect/>
          </a:stretch>
        </p:blipFill>
        <p:spPr>
          <a:xfrm>
            <a:off x="8596274" y="1939442"/>
            <a:ext cx="373075" cy="373075"/>
          </a:xfrm>
          <a:prstGeom prst="rect">
            <a:avLst/>
          </a:prstGeom>
        </p:spPr>
      </p:pic>
      <p:sp>
        <p:nvSpPr>
          <p:cNvPr id="17" name="Text 29"/>
          <p:cNvSpPr txBox="1"/>
          <p:nvPr/>
        </p:nvSpPr>
        <p:spPr>
          <a:xfrm>
            <a:off x="8394192" y="2697480"/>
            <a:ext cx="2971800" cy="548640"/>
          </a:xfrm>
          <a:prstGeom prst="rect">
            <a:avLst/>
          </a:prstGeom>
          <a:noFill/>
          <a:ln/>
        </p:spPr>
        <p:txBody>
          <a:bodyPr wrap="square" lIns="0" tIns="0" rIns="0" bIns="0" rtlCol="0" anchor="t"/>
          <a:lstStyle/>
          <a:p>
            <a:pPr indent="0" marL="0">
              <a:buNone/>
            </a:pPr>
            <a:r>
              <a:rPr lang="en-US" sz="2400" b="1" dirty="0">
                <a:solidFill>
                  <a:schemeClr val="accent1"/>
                </a:solidFill>
              </a:rPr>
              <a:t>Logical error</a:t>
            </a:r>
            <a:endParaRPr lang="en-US" sz="2400" dirty="0"/>
          </a:p>
        </p:txBody>
      </p:sp>
      <p:sp>
        <p:nvSpPr>
          <p:cNvPr id="18" name="Text 30"/>
          <p:cNvSpPr txBox="1"/>
          <p:nvPr/>
        </p:nvSpPr>
        <p:spPr>
          <a:xfrm>
            <a:off x="8394192" y="3337560"/>
            <a:ext cx="2971800" cy="1920240"/>
          </a:xfrm>
          <a:prstGeom prst="rect">
            <a:avLst/>
          </a:prstGeom>
          <a:noFill/>
          <a:ln/>
        </p:spPr>
        <p:txBody>
          <a:bodyPr wrap="square" lIns="0" tIns="0" rIns="0" bIns="0" rtlCol="0" anchor="t"/>
          <a:lstStyle/>
          <a:p>
            <a:pPr indent="0" marL="0">
              <a:spcAft>
                <a:spcPts val="400"/>
              </a:spcAft>
              <a:buNone/>
            </a:pPr>
            <a:r>
              <a:rPr lang="en-US" sz="1900" dirty="0">
                <a:solidFill>
                  <a:schemeClr val="tx1"/>
                </a:solidFill>
              </a:rPr>
              <a:t>The program runs to the end but produces the wrong result. Python gives no warning.</a:t>
            </a:r>
            <a:endParaRPr lang="en-US" sz="19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Error types compared</a:t>
            </a:r>
            <a:endParaRPr lang="en-US" sz="3000" dirty="0"/>
          </a:p>
        </p:txBody>
      </p:sp>
      <p:graphicFrame>
        <p:nvGraphicFramePr>
          <p:cNvPr id="19" name="Data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1645920"/>
                <a:gridCol w="2743200"/>
                <a:gridCol w="3017520"/>
                <a:gridCol w="3657600"/>
              </a:tblGrid>
              <a:tr h="731520">
                <a:tc>
                  <a:txBody>
                    <a:bodyPr/>
                    <a:lstStyle/>
                    <a:p>
                      <a:pPr indent="0" marL="0">
                        <a:buNone/>
                      </a:pPr>
                      <a:r>
                        <a:rPr lang="en-US" sz="1600" b="1" dirty="0">
                          <a:solidFill>
                            <a:schemeClr val="bg1"/>
                          </a:solidFill>
                        </a:rPr>
                        <a:t>Type</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When it appears</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Does Python tell you?</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Example</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accent1"/>
                    </a:solidFill>
                  </a:tcPr>
                </a:tc>
              </a:tr>
              <a:tr h="731520">
                <a:tc>
                  <a:txBody>
                    <a:bodyPr/>
                    <a:lstStyle/>
                    <a:p>
                      <a:pPr indent="0" marL="0">
                        <a:buNone/>
                      </a:pPr>
                      <a:r>
                        <a:rPr lang="en-US" sz="1600" b="1" dirty="0">
                          <a:solidFill>
                            <a:schemeClr val="tx1"/>
                          </a:solidFill>
                        </a:rPr>
                        <a:t>Syntax</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Before the program runs</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Yes: SyntaxError with line</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if age &gt;= 18 (missing colon)</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r>
              <a:tr h="731520">
                <a:tc>
                  <a:txBody>
                    <a:bodyPr/>
                    <a:lstStyle/>
                    <a:p>
                      <a:pPr indent="0" marL="0">
                        <a:buNone/>
                      </a:pPr>
                      <a:r>
                        <a:rPr lang="en-US" sz="1600" b="1" dirty="0">
                          <a:solidFill>
                            <a:schemeClr val="tx1"/>
                          </a:solidFill>
                        </a:rPr>
                        <a:t>Runtime</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While the program runs</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Yes: traceback and exception</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int("hello")</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r>
              <a:tr h="731520">
                <a:tc>
                  <a:txBody>
                    <a:bodyPr/>
                    <a:lstStyle/>
                    <a:p>
                      <a:pPr indent="0" marL="0">
                        <a:buNone/>
                      </a:pPr>
                      <a:r>
                        <a:rPr lang="en-US" sz="1600" b="1" dirty="0">
                          <a:solidFill>
                            <a:schemeClr val="tx1"/>
                          </a:solidFill>
                        </a:rPr>
                        <a:t>Logical</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Only when you check output</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No</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price + quantity instead of price * quantity</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Live coding: syntax error</a:t>
            </a:r>
            <a:endParaRPr lang="en-US" sz="3000" dirty="0"/>
          </a:p>
        </p:txBody>
      </p:sp>
      <p:sp>
        <p:nvSpPr>
          <p:cNvPr id="4" name="Code block"/>
          <p:cNvSpPr/>
          <p:nvPr/>
        </p:nvSpPr>
        <p:spPr>
          <a:xfrm>
            <a:off x="548640" y="1463040"/>
            <a:ext cx="6583680" cy="1261872"/>
          </a:xfrm>
          <a:prstGeom prst="roundRect">
            <a:avLst>
              <a:gd name="adj" fmla="val 5797"/>
            </a:avLst>
          </a:prstGeom>
          <a:solidFill>
            <a:srgbClr val="0B1B38"/>
          </a:solidFill>
          <a:ln/>
        </p:spPr>
      </p:sp>
      <p:sp>
        <p:nvSpPr>
          <p:cNvPr id="5" name="Code text"/>
          <p:cNvSpPr txBox="1"/>
          <p:nvPr/>
        </p:nvSpPr>
        <p:spPr>
          <a:xfrm>
            <a:off x="777240" y="1645920"/>
            <a:ext cx="6126480" cy="896112"/>
          </a:xfrm>
          <a:prstGeom prst="rect">
            <a:avLst/>
          </a:prstGeom>
          <a:noFill/>
          <a:ln/>
        </p:spPr>
        <p:txBody>
          <a:bodyPr wrap="square" lIns="0" tIns="0" rIns="0" bIns="0" rtlCol="0" anchor="t"/>
          <a:lstStyle/>
          <a:p>
            <a:pPr indent="0" marL="0">
              <a:buNone/>
            </a:pPr>
            <a:r>
              <a:rPr lang="en-US" sz="1600" dirty="0">
                <a:solidFill>
                  <a:srgbClr val="E8EEF9"/>
                </a:solidFill>
                <a:latin typeface="Courier New" pitchFamily="34" charset="0"/>
                <a:ea typeface="Courier New" pitchFamily="34" charset="-122"/>
                <a:cs typeface="Courier New" pitchFamily="34" charset="-120"/>
              </a:rPr>
              <a:t>age = 20</a:t>
            </a:r>
            <a:endParaRPr lang="en-US" sz="1600" dirty="0"/>
          </a:p>
          <a:p>
            <a:pPr indent="0" marL="0">
              <a:buNone/>
            </a:pPr>
            <a:r>
              <a:rPr lang="en-US" sz="1600" dirty="0">
                <a:solidFill>
                  <a:srgbClr val="E8EEF9"/>
                </a:solidFill>
                <a:latin typeface="Courier New" pitchFamily="34" charset="0"/>
                <a:ea typeface="Courier New" pitchFamily="34" charset="-122"/>
                <a:cs typeface="Courier New" pitchFamily="34" charset="-120"/>
              </a:rPr>
              <a:t>if age &gt;= 18</a:t>
            </a:r>
            <a:endParaRPr lang="en-US" sz="1600" dirty="0"/>
          </a:p>
          <a:p>
            <a:pPr indent="0" marL="0">
              <a:buNone/>
            </a:pPr>
            <a:r>
              <a:rPr lang="en-US" sz="1600" dirty="0">
                <a:solidFill>
                  <a:srgbClr val="E8EEF9"/>
                </a:solidFill>
                <a:latin typeface="Courier New" pitchFamily="34" charset="0"/>
                <a:ea typeface="Courier New" pitchFamily="34" charset="-122"/>
                <a:cs typeface="Courier New" pitchFamily="34" charset="-120"/>
              </a:rPr>
              <a:t>    print("Adult")</a:t>
            </a:r>
            <a:endParaRPr lang="en-US" sz="1600" dirty="0"/>
          </a:p>
        </p:txBody>
      </p:sp>
      <p:sp>
        <p:nvSpPr>
          <p:cNvPr id="6" name="Label"/>
          <p:cNvSpPr txBox="1"/>
          <p:nvPr/>
        </p:nvSpPr>
        <p:spPr>
          <a:xfrm>
            <a:off x="548640" y="2935224"/>
            <a:ext cx="6583680" cy="274320"/>
          </a:xfrm>
          <a:prstGeom prst="rect">
            <a:avLst/>
          </a:prstGeom>
          <a:noFill/>
          <a:ln/>
        </p:spPr>
        <p:txBody>
          <a:bodyPr wrap="square" lIns="0" tIns="0" rIns="0" bIns="0" rtlCol="0" anchor="ctr"/>
          <a:lstStyle/>
          <a:p>
            <a:pPr indent="0" marL="0">
              <a:buNone/>
            </a:pPr>
            <a:r>
              <a:rPr lang="en-US" sz="1200" b="1" spc="100" kern="0" dirty="0">
                <a:solidFill>
                  <a:schemeClr val="accent6"/>
                </a:solidFill>
              </a:rPr>
              <a:t>OUTPUT</a:t>
            </a:r>
            <a:endParaRPr lang="en-US" sz="1200" dirty="0"/>
          </a:p>
        </p:txBody>
      </p:sp>
      <p:sp>
        <p:nvSpPr>
          <p:cNvPr id="7" name="Output block"/>
          <p:cNvSpPr/>
          <p:nvPr/>
        </p:nvSpPr>
        <p:spPr>
          <a:xfrm>
            <a:off x="548640" y="3209544"/>
            <a:ext cx="6583680" cy="1261872"/>
          </a:xfrm>
          <a:prstGeom prst="roundRect">
            <a:avLst>
              <a:gd name="adj" fmla="val 5797"/>
            </a:avLst>
          </a:prstGeom>
          <a:solidFill>
            <a:srgbClr val="0B1B38"/>
          </a:solidFill>
          <a:ln/>
        </p:spPr>
      </p:sp>
      <p:sp>
        <p:nvSpPr>
          <p:cNvPr id="8" name="Code text"/>
          <p:cNvSpPr txBox="1"/>
          <p:nvPr/>
        </p:nvSpPr>
        <p:spPr>
          <a:xfrm>
            <a:off x="777240" y="3392424"/>
            <a:ext cx="6126480" cy="896112"/>
          </a:xfrm>
          <a:prstGeom prst="rect">
            <a:avLst/>
          </a:prstGeom>
          <a:noFill/>
          <a:ln/>
        </p:spPr>
        <p:txBody>
          <a:bodyPr wrap="square" lIns="0" tIns="0" rIns="0" bIns="0" rtlCol="0" anchor="t"/>
          <a:lstStyle/>
          <a:p>
            <a:pPr indent="0" marL="0">
              <a:buNone/>
            </a:pPr>
            <a:r>
              <a:rPr lang="en-US" sz="1600" dirty="0">
                <a:solidFill>
                  <a:srgbClr val="FF8A80"/>
                </a:solidFill>
                <a:latin typeface="Courier New" pitchFamily="34" charset="0"/>
                <a:ea typeface="Courier New" pitchFamily="34" charset="-122"/>
                <a:cs typeface="Courier New" pitchFamily="34" charset="-120"/>
              </a:rPr>
              <a:t>File "syntax_error.py", line 2</a:t>
            </a:r>
            <a:endParaRPr lang="en-US" sz="1600" dirty="0"/>
          </a:p>
          <a:p>
            <a:pPr indent="0" marL="0">
              <a:buNone/>
            </a:pPr>
            <a:r>
              <a:rPr lang="en-US" sz="1600" dirty="0">
                <a:solidFill>
                  <a:srgbClr val="FF8A80"/>
                </a:solidFill>
                <a:latin typeface="Courier New" pitchFamily="34" charset="0"/>
                <a:ea typeface="Courier New" pitchFamily="34" charset="-122"/>
                <a:cs typeface="Courier New" pitchFamily="34" charset="-120"/>
              </a:rPr>
              <a:t>    if age &gt;= 18</a:t>
            </a:r>
            <a:endParaRPr lang="en-US" sz="1600" dirty="0"/>
          </a:p>
          <a:p>
            <a:pPr indent="0" marL="0">
              <a:buNone/>
            </a:pPr>
            <a:r>
              <a:rPr lang="en-US" sz="1600" dirty="0">
                <a:solidFill>
                  <a:srgbClr val="FF8A80"/>
                </a:solidFill>
                <a:latin typeface="Courier New" pitchFamily="34" charset="0"/>
                <a:ea typeface="Courier New" pitchFamily="34" charset="-122"/>
                <a:cs typeface="Courier New" pitchFamily="34" charset="-120"/>
              </a:rPr>
              <a:t>SyntaxError: expected ':'</a:t>
            </a:r>
            <a:endParaRPr lang="en-US" sz="1600" dirty="0"/>
          </a:p>
        </p:txBody>
      </p:sp>
      <p:sp>
        <p:nvSpPr>
          <p:cNvPr id="9" name="Points heading"/>
          <p:cNvSpPr txBox="1"/>
          <p:nvPr/>
        </p:nvSpPr>
        <p:spPr>
          <a:xfrm>
            <a:off x="7498080" y="1463040"/>
            <a:ext cx="4144975" cy="411480"/>
          </a:xfrm>
          <a:prstGeom prst="rect">
            <a:avLst/>
          </a:prstGeom>
          <a:noFill/>
          <a:ln/>
        </p:spPr>
        <p:txBody>
          <a:bodyPr wrap="square" lIns="0" tIns="0" rIns="0" bIns="0" rtlCol="0" anchor="ctr"/>
          <a:lstStyle/>
          <a:p>
            <a:pPr indent="0" marL="0">
              <a:buNone/>
            </a:pPr>
            <a:r>
              <a:rPr lang="en-US" sz="2200" b="1" dirty="0">
                <a:solidFill>
                  <a:schemeClr val="accent1"/>
                </a:solidFill>
              </a:rPr>
              <a:t>Observe</a:t>
            </a:r>
            <a:endParaRPr lang="en-US" sz="2200" dirty="0"/>
          </a:p>
        </p:txBody>
      </p:sp>
      <p:sp>
        <p:nvSpPr>
          <p:cNvPr id="10" name="Key points"/>
          <p:cNvSpPr txBox="1"/>
          <p:nvPr/>
        </p:nvSpPr>
        <p:spPr>
          <a:xfrm>
            <a:off x="7498080" y="2011680"/>
            <a:ext cx="4144975" cy="43891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The colon after the condition is missing</a:t>
            </a:r>
            <a:endParaRPr lang="en-US" sz="1800" dirty="0"/>
          </a:p>
          <a:p>
            <a:pPr marL="342900" indent="-342900">
              <a:spcAft>
                <a:spcPts val="1000"/>
              </a:spcAft>
              <a:buSzPct val="100000"/>
              <a:buChar char="•"/>
            </a:pPr>
            <a:r>
              <a:rPr lang="en-US" sz="1800" dirty="0">
                <a:solidFill>
                  <a:schemeClr val="tx1"/>
                </a:solidFill>
              </a:rPr>
              <a:t>Python stops before running anything</a:t>
            </a:r>
            <a:endParaRPr lang="en-US" sz="1800" dirty="0"/>
          </a:p>
          <a:p>
            <a:pPr marL="342900" indent="-342900">
              <a:spcAft>
                <a:spcPts val="1000"/>
              </a:spcAft>
              <a:buSzPct val="100000"/>
              <a:buChar char="•"/>
            </a:pPr>
            <a:r>
              <a:rPr lang="en-US" sz="1800" dirty="0">
                <a:solidFill>
                  <a:schemeClr val="tx1"/>
                </a:solidFill>
              </a:rPr>
              <a:t>Read the message: it names the line and the problem</a:t>
            </a:r>
            <a:endParaRPr lang="en-US" sz="1800" dirty="0"/>
          </a:p>
          <a:p>
            <a:pPr marL="342900" indent="-342900">
              <a:spcAft>
                <a:spcPts val="1000"/>
              </a:spcAft>
              <a:buSzPct val="100000"/>
              <a:buChar char="•"/>
            </a:pPr>
            <a:r>
              <a:rPr lang="en-US" sz="1800" dirty="0">
                <a:solidFill>
                  <a:schemeClr val="tx1"/>
                </a:solidFill>
              </a:rPr>
              <a:t>Fix: if age &gt;= 18:</a:t>
            </a:r>
            <a:endParaRPr lang="en-US" sz="18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Live coding: runtime error</a:t>
            </a:r>
            <a:endParaRPr lang="en-US" sz="3000" dirty="0"/>
          </a:p>
        </p:txBody>
      </p:sp>
      <p:sp>
        <p:nvSpPr>
          <p:cNvPr id="4" name="Code block"/>
          <p:cNvSpPr/>
          <p:nvPr/>
        </p:nvSpPr>
        <p:spPr>
          <a:xfrm>
            <a:off x="548640" y="1463040"/>
            <a:ext cx="6583680" cy="1261872"/>
          </a:xfrm>
          <a:prstGeom prst="roundRect">
            <a:avLst>
              <a:gd name="adj" fmla="val 5797"/>
            </a:avLst>
          </a:prstGeom>
          <a:solidFill>
            <a:srgbClr val="0B1B38"/>
          </a:solidFill>
          <a:ln/>
        </p:spPr>
      </p:sp>
      <p:sp>
        <p:nvSpPr>
          <p:cNvPr id="5" name="Code text"/>
          <p:cNvSpPr txBox="1"/>
          <p:nvPr/>
        </p:nvSpPr>
        <p:spPr>
          <a:xfrm>
            <a:off x="777240" y="1645920"/>
            <a:ext cx="6126480" cy="896112"/>
          </a:xfrm>
          <a:prstGeom prst="rect">
            <a:avLst/>
          </a:prstGeom>
          <a:noFill/>
          <a:ln/>
        </p:spPr>
        <p:txBody>
          <a:bodyPr wrap="square" lIns="0" tIns="0" rIns="0" bIns="0" rtlCol="0" anchor="t"/>
          <a:lstStyle/>
          <a:p>
            <a:pPr indent="0" marL="0">
              <a:buNone/>
            </a:pPr>
            <a:r>
              <a:rPr lang="en-US" sz="1600" dirty="0">
                <a:solidFill>
                  <a:srgbClr val="E8EEF9"/>
                </a:solidFill>
                <a:latin typeface="Courier New" pitchFamily="34" charset="0"/>
                <a:ea typeface="Courier New" pitchFamily="34" charset="-122"/>
                <a:cs typeface="Courier New" pitchFamily="34" charset="-120"/>
              </a:rPr>
              <a:t>text = "hello"</a:t>
            </a:r>
            <a:endParaRPr lang="en-US" sz="1600" dirty="0"/>
          </a:p>
          <a:p>
            <a:pPr indent="0" marL="0">
              <a:buNone/>
            </a:pPr>
            <a:r>
              <a:rPr lang="en-US" sz="1600" dirty="0">
                <a:solidFill>
                  <a:srgbClr val="E8EEF9"/>
                </a:solidFill>
                <a:latin typeface="Courier New" pitchFamily="34" charset="0"/>
                <a:ea typeface="Courier New" pitchFamily="34" charset="-122"/>
                <a:cs typeface="Courier New" pitchFamily="34" charset="-120"/>
              </a:rPr>
              <a:t>number = int(text)</a:t>
            </a:r>
            <a:endParaRPr lang="en-US" sz="1600" dirty="0"/>
          </a:p>
          <a:p>
            <a:pPr indent="0" marL="0">
              <a:buNone/>
            </a:pPr>
            <a:r>
              <a:rPr lang="en-US" sz="1600" dirty="0">
                <a:solidFill>
                  <a:srgbClr val="E8EEF9"/>
                </a:solidFill>
                <a:latin typeface="Courier New" pitchFamily="34" charset="0"/>
                <a:ea typeface="Courier New" pitchFamily="34" charset="-122"/>
                <a:cs typeface="Courier New" pitchFamily="34" charset="-120"/>
              </a:rPr>
              <a:t>print(number)</a:t>
            </a:r>
            <a:endParaRPr lang="en-US" sz="1600" dirty="0"/>
          </a:p>
        </p:txBody>
      </p:sp>
      <p:sp>
        <p:nvSpPr>
          <p:cNvPr id="6" name="Label"/>
          <p:cNvSpPr txBox="1"/>
          <p:nvPr/>
        </p:nvSpPr>
        <p:spPr>
          <a:xfrm>
            <a:off x="548640" y="2935224"/>
            <a:ext cx="6583680" cy="274320"/>
          </a:xfrm>
          <a:prstGeom prst="rect">
            <a:avLst/>
          </a:prstGeom>
          <a:noFill/>
          <a:ln/>
        </p:spPr>
        <p:txBody>
          <a:bodyPr wrap="square" lIns="0" tIns="0" rIns="0" bIns="0" rtlCol="0" anchor="ctr"/>
          <a:lstStyle/>
          <a:p>
            <a:pPr indent="0" marL="0">
              <a:buNone/>
            </a:pPr>
            <a:r>
              <a:rPr lang="en-US" sz="1200" b="1" spc="100" kern="0" dirty="0">
                <a:solidFill>
                  <a:schemeClr val="accent6"/>
                </a:solidFill>
              </a:rPr>
              <a:t>OUTPUT</a:t>
            </a:r>
            <a:endParaRPr lang="en-US" sz="1200" dirty="0"/>
          </a:p>
        </p:txBody>
      </p:sp>
      <p:sp>
        <p:nvSpPr>
          <p:cNvPr id="7" name="Output block"/>
          <p:cNvSpPr/>
          <p:nvPr/>
        </p:nvSpPr>
        <p:spPr>
          <a:xfrm>
            <a:off x="548640" y="3209544"/>
            <a:ext cx="6583680" cy="1545336"/>
          </a:xfrm>
          <a:prstGeom prst="roundRect">
            <a:avLst>
              <a:gd name="adj" fmla="val 4734"/>
            </a:avLst>
          </a:prstGeom>
          <a:solidFill>
            <a:srgbClr val="0B1B38"/>
          </a:solidFill>
          <a:ln/>
        </p:spPr>
      </p:sp>
      <p:sp>
        <p:nvSpPr>
          <p:cNvPr id="8" name="Code text"/>
          <p:cNvSpPr txBox="1"/>
          <p:nvPr/>
        </p:nvSpPr>
        <p:spPr>
          <a:xfrm>
            <a:off x="777240" y="3392424"/>
            <a:ext cx="6126480" cy="1179576"/>
          </a:xfrm>
          <a:prstGeom prst="rect">
            <a:avLst/>
          </a:prstGeom>
          <a:noFill/>
          <a:ln/>
        </p:spPr>
        <p:txBody>
          <a:bodyPr wrap="square" lIns="0" tIns="0" rIns="0" bIns="0" rtlCol="0" anchor="t"/>
          <a:lstStyle/>
          <a:p>
            <a:pPr indent="0" marL="0">
              <a:buNone/>
            </a:pPr>
            <a:r>
              <a:rPr lang="en-US" sz="1600" dirty="0">
                <a:solidFill>
                  <a:srgbClr val="FF8A80"/>
                </a:solidFill>
                <a:latin typeface="Courier New" pitchFamily="34" charset="0"/>
                <a:ea typeface="Courier New" pitchFamily="34" charset="-122"/>
                <a:cs typeface="Courier New" pitchFamily="34" charset="-120"/>
              </a:rPr>
              <a:t>Traceback (most recent call last):</a:t>
            </a:r>
            <a:endParaRPr lang="en-US" sz="1600" dirty="0"/>
          </a:p>
          <a:p>
            <a:pPr indent="0" marL="0">
              <a:buNone/>
            </a:pPr>
            <a:r>
              <a:rPr lang="en-US" sz="1600" dirty="0">
                <a:solidFill>
                  <a:srgbClr val="FF8A80"/>
                </a:solidFill>
                <a:latin typeface="Courier New" pitchFamily="34" charset="0"/>
                <a:ea typeface="Courier New" pitchFamily="34" charset="-122"/>
                <a:cs typeface="Courier New" pitchFamily="34" charset="-120"/>
              </a:rPr>
              <a:t>  File "runtime_error.py", line 2</a:t>
            </a:r>
            <a:endParaRPr lang="en-US" sz="1600" dirty="0"/>
          </a:p>
          <a:p>
            <a:pPr indent="0" marL="0">
              <a:buNone/>
            </a:pPr>
            <a:r>
              <a:rPr lang="en-US" sz="1600" dirty="0">
                <a:solidFill>
                  <a:srgbClr val="FF8A80"/>
                </a:solidFill>
                <a:latin typeface="Courier New" pitchFamily="34" charset="0"/>
                <a:ea typeface="Courier New" pitchFamily="34" charset="-122"/>
                <a:cs typeface="Courier New" pitchFamily="34" charset="-120"/>
              </a:rPr>
              <a:t>ValueError: invalid literal for int()</a:t>
            </a:r>
            <a:endParaRPr lang="en-US" sz="1600" dirty="0"/>
          </a:p>
          <a:p>
            <a:pPr indent="0" marL="0">
              <a:buNone/>
            </a:pPr>
            <a:r>
              <a:rPr lang="en-US" sz="1600" dirty="0">
                <a:solidFill>
                  <a:srgbClr val="FF8A80"/>
                </a:solidFill>
                <a:latin typeface="Courier New" pitchFamily="34" charset="0"/>
                <a:ea typeface="Courier New" pitchFamily="34" charset="-122"/>
                <a:cs typeface="Courier New" pitchFamily="34" charset="-120"/>
              </a:rPr>
              <a:t>with base 10: 'hello'</a:t>
            </a:r>
            <a:endParaRPr lang="en-US" sz="1600" dirty="0"/>
          </a:p>
        </p:txBody>
      </p:sp>
      <p:sp>
        <p:nvSpPr>
          <p:cNvPr id="9" name="Points heading"/>
          <p:cNvSpPr txBox="1"/>
          <p:nvPr/>
        </p:nvSpPr>
        <p:spPr>
          <a:xfrm>
            <a:off x="7498080" y="1463040"/>
            <a:ext cx="4144975" cy="411480"/>
          </a:xfrm>
          <a:prstGeom prst="rect">
            <a:avLst/>
          </a:prstGeom>
          <a:noFill/>
          <a:ln/>
        </p:spPr>
        <p:txBody>
          <a:bodyPr wrap="square" lIns="0" tIns="0" rIns="0" bIns="0" rtlCol="0" anchor="ctr"/>
          <a:lstStyle/>
          <a:p>
            <a:pPr indent="0" marL="0">
              <a:buNone/>
            </a:pPr>
            <a:r>
              <a:rPr lang="en-US" sz="2200" b="1" dirty="0">
                <a:solidFill>
                  <a:schemeClr val="accent1"/>
                </a:solidFill>
              </a:rPr>
              <a:t>Observe</a:t>
            </a:r>
            <a:endParaRPr lang="en-US" sz="2200" dirty="0"/>
          </a:p>
        </p:txBody>
      </p:sp>
      <p:sp>
        <p:nvSpPr>
          <p:cNvPr id="10" name="Key points"/>
          <p:cNvSpPr txBox="1"/>
          <p:nvPr/>
        </p:nvSpPr>
        <p:spPr>
          <a:xfrm>
            <a:off x="7498080" y="2011680"/>
            <a:ext cx="4144975" cy="43891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The syntax is valid, so the program starts</a:t>
            </a:r>
            <a:endParaRPr lang="en-US" sz="1800" dirty="0"/>
          </a:p>
          <a:p>
            <a:pPr marL="342900" indent="-342900">
              <a:spcAft>
                <a:spcPts val="1000"/>
              </a:spcAft>
              <a:buSzPct val="100000"/>
              <a:buChar char="•"/>
            </a:pPr>
            <a:r>
              <a:rPr lang="en-US" sz="1800" dirty="0">
                <a:solidFill>
                  <a:schemeClr val="tx1"/>
                </a:solidFill>
              </a:rPr>
              <a:t>It fails when the conversion line is reached</a:t>
            </a:r>
            <a:endParaRPr lang="en-US" sz="1800" dirty="0"/>
          </a:p>
          <a:p>
            <a:pPr marL="342900" indent="-342900">
              <a:spcAft>
                <a:spcPts val="1000"/>
              </a:spcAft>
              <a:buSzPct val="100000"/>
              <a:buChar char="•"/>
            </a:pPr>
            <a:r>
              <a:rPr lang="en-US" sz="1800" dirty="0">
                <a:solidFill>
                  <a:schemeClr val="tx1"/>
                </a:solidFill>
              </a:rPr>
              <a:t>Read the traceback from the bottom: error type and message</a:t>
            </a:r>
            <a:endParaRPr lang="en-US" sz="1800" dirty="0"/>
          </a:p>
          <a:p>
            <a:pPr marL="342900" indent="-342900">
              <a:spcAft>
                <a:spcPts val="1000"/>
              </a:spcAft>
              <a:buSzPct val="100000"/>
              <a:buChar char="•"/>
            </a:pPr>
            <a:r>
              <a:rPr lang="en-US" sz="1800" dirty="0">
                <a:solidFill>
                  <a:schemeClr val="tx1"/>
                </a:solidFill>
              </a:rPr>
              <a:t>Cause: "hello" cannot become an integer</a:t>
            </a:r>
            <a:endParaRPr lang="en-US" sz="18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Live coding: logical error</a:t>
            </a:r>
            <a:endParaRPr lang="en-US" sz="3000" dirty="0"/>
          </a:p>
        </p:txBody>
      </p:sp>
      <p:sp>
        <p:nvSpPr>
          <p:cNvPr id="4" name="Code block"/>
          <p:cNvSpPr/>
          <p:nvPr/>
        </p:nvSpPr>
        <p:spPr>
          <a:xfrm>
            <a:off x="548640" y="1463040"/>
            <a:ext cx="6583680" cy="1545336"/>
          </a:xfrm>
          <a:prstGeom prst="roundRect">
            <a:avLst>
              <a:gd name="adj" fmla="val 4734"/>
            </a:avLst>
          </a:prstGeom>
          <a:solidFill>
            <a:srgbClr val="0B1B38"/>
          </a:solidFill>
          <a:ln/>
        </p:spPr>
      </p:sp>
      <p:sp>
        <p:nvSpPr>
          <p:cNvPr id="5" name="Code text"/>
          <p:cNvSpPr txBox="1"/>
          <p:nvPr/>
        </p:nvSpPr>
        <p:spPr>
          <a:xfrm>
            <a:off x="777240" y="1645920"/>
            <a:ext cx="6126480" cy="1179576"/>
          </a:xfrm>
          <a:prstGeom prst="rect">
            <a:avLst/>
          </a:prstGeom>
          <a:noFill/>
          <a:ln/>
        </p:spPr>
        <p:txBody>
          <a:bodyPr wrap="square" lIns="0" tIns="0" rIns="0" bIns="0" rtlCol="0" anchor="t"/>
          <a:lstStyle/>
          <a:p>
            <a:pPr indent="0" marL="0">
              <a:buNone/>
            </a:pPr>
            <a:r>
              <a:rPr lang="en-US" sz="1600" dirty="0">
                <a:solidFill>
                  <a:srgbClr val="E8EEF9"/>
                </a:solidFill>
                <a:latin typeface="Courier New" pitchFamily="34" charset="0"/>
                <a:ea typeface="Courier New" pitchFamily="34" charset="-122"/>
                <a:cs typeface="Courier New" pitchFamily="34" charset="-120"/>
              </a:rPr>
              <a:t>price = 100</a:t>
            </a:r>
            <a:endParaRPr lang="en-US" sz="1600" dirty="0"/>
          </a:p>
          <a:p>
            <a:pPr indent="0" marL="0">
              <a:buNone/>
            </a:pPr>
            <a:r>
              <a:rPr lang="en-US" sz="1600" dirty="0">
                <a:solidFill>
                  <a:srgbClr val="E8EEF9"/>
                </a:solidFill>
                <a:latin typeface="Courier New" pitchFamily="34" charset="0"/>
                <a:ea typeface="Courier New" pitchFamily="34" charset="-122"/>
                <a:cs typeface="Courier New" pitchFamily="34" charset="-120"/>
              </a:rPr>
              <a:t>quantity = 3</a:t>
            </a:r>
            <a:endParaRPr lang="en-US" sz="1600" dirty="0"/>
          </a:p>
          <a:p>
            <a:pPr indent="0" marL="0">
              <a:buNone/>
            </a:pPr>
            <a:r>
              <a:rPr lang="en-US" sz="1600" dirty="0">
                <a:solidFill>
                  <a:srgbClr val="E8EEF9"/>
                </a:solidFill>
                <a:latin typeface="Courier New" pitchFamily="34" charset="0"/>
                <a:ea typeface="Courier New" pitchFamily="34" charset="-122"/>
                <a:cs typeface="Courier New" pitchFamily="34" charset="-120"/>
              </a:rPr>
              <a:t>total = price + quantity  # wrong operator</a:t>
            </a:r>
            <a:endParaRPr lang="en-US" sz="1600" dirty="0"/>
          </a:p>
          <a:p>
            <a:pPr indent="0" marL="0">
              <a:buNone/>
            </a:pPr>
            <a:r>
              <a:rPr lang="en-US" sz="1600" dirty="0">
                <a:solidFill>
                  <a:srgbClr val="E8EEF9"/>
                </a:solidFill>
                <a:latin typeface="Courier New" pitchFamily="34" charset="0"/>
                <a:ea typeface="Courier New" pitchFamily="34" charset="-122"/>
                <a:cs typeface="Courier New" pitchFamily="34" charset="-120"/>
              </a:rPr>
              <a:t>print("Total:", total)</a:t>
            </a:r>
            <a:endParaRPr lang="en-US" sz="1600" dirty="0"/>
          </a:p>
        </p:txBody>
      </p:sp>
      <p:sp>
        <p:nvSpPr>
          <p:cNvPr id="6" name="Label"/>
          <p:cNvSpPr txBox="1"/>
          <p:nvPr/>
        </p:nvSpPr>
        <p:spPr>
          <a:xfrm>
            <a:off x="548640" y="3218688"/>
            <a:ext cx="6583680" cy="274320"/>
          </a:xfrm>
          <a:prstGeom prst="rect">
            <a:avLst/>
          </a:prstGeom>
          <a:noFill/>
          <a:ln/>
        </p:spPr>
        <p:txBody>
          <a:bodyPr wrap="square" lIns="0" tIns="0" rIns="0" bIns="0" rtlCol="0" anchor="ctr"/>
          <a:lstStyle/>
          <a:p>
            <a:pPr indent="0" marL="0">
              <a:buNone/>
            </a:pPr>
            <a:r>
              <a:rPr lang="en-US" sz="1200" b="1" spc="100" kern="0" dirty="0">
                <a:solidFill>
                  <a:schemeClr val="accent6"/>
                </a:solidFill>
              </a:rPr>
              <a:t>OUTPUT (expected 300)</a:t>
            </a:r>
            <a:endParaRPr lang="en-US" sz="1200" dirty="0"/>
          </a:p>
        </p:txBody>
      </p:sp>
      <p:sp>
        <p:nvSpPr>
          <p:cNvPr id="7" name="Output block"/>
          <p:cNvSpPr/>
          <p:nvPr/>
        </p:nvSpPr>
        <p:spPr>
          <a:xfrm>
            <a:off x="548640" y="3493008"/>
            <a:ext cx="6583680" cy="694944"/>
          </a:xfrm>
          <a:prstGeom prst="roundRect">
            <a:avLst>
              <a:gd name="adj" fmla="val 10526"/>
            </a:avLst>
          </a:prstGeom>
          <a:solidFill>
            <a:srgbClr val="0B1B38"/>
          </a:solidFill>
          <a:ln/>
        </p:spPr>
      </p:sp>
      <p:sp>
        <p:nvSpPr>
          <p:cNvPr id="8" name="Code text"/>
          <p:cNvSpPr txBox="1"/>
          <p:nvPr/>
        </p:nvSpPr>
        <p:spPr>
          <a:xfrm>
            <a:off x="777240" y="3675888"/>
            <a:ext cx="6126480" cy="329184"/>
          </a:xfrm>
          <a:prstGeom prst="rect">
            <a:avLst/>
          </a:prstGeom>
          <a:noFill/>
          <a:ln/>
        </p:spPr>
        <p:txBody>
          <a:bodyPr wrap="square" lIns="0" tIns="0" rIns="0" bIns="0" rtlCol="0" anchor="t"/>
          <a:lstStyle/>
          <a:p>
            <a:pPr indent="0" marL="0">
              <a:buNone/>
            </a:pPr>
            <a:r>
              <a:rPr lang="en-US" sz="1600" dirty="0">
                <a:solidFill>
                  <a:srgbClr val="E8EEF9"/>
                </a:solidFill>
                <a:latin typeface="Courier New" pitchFamily="34" charset="0"/>
                <a:ea typeface="Courier New" pitchFamily="34" charset="-122"/>
                <a:cs typeface="Courier New" pitchFamily="34" charset="-120"/>
              </a:rPr>
              <a:t>Total: 103</a:t>
            </a:r>
            <a:endParaRPr lang="en-US" sz="1600" dirty="0"/>
          </a:p>
        </p:txBody>
      </p:sp>
      <p:sp>
        <p:nvSpPr>
          <p:cNvPr id="9" name="Points heading"/>
          <p:cNvSpPr txBox="1"/>
          <p:nvPr/>
        </p:nvSpPr>
        <p:spPr>
          <a:xfrm>
            <a:off x="7498080" y="1463040"/>
            <a:ext cx="4144975" cy="411480"/>
          </a:xfrm>
          <a:prstGeom prst="rect">
            <a:avLst/>
          </a:prstGeom>
          <a:noFill/>
          <a:ln/>
        </p:spPr>
        <p:txBody>
          <a:bodyPr wrap="square" lIns="0" tIns="0" rIns="0" bIns="0" rtlCol="0" anchor="ctr"/>
          <a:lstStyle/>
          <a:p>
            <a:pPr indent="0" marL="0">
              <a:buNone/>
            </a:pPr>
            <a:r>
              <a:rPr lang="en-US" sz="2200" b="1" dirty="0">
                <a:solidFill>
                  <a:schemeClr val="accent1"/>
                </a:solidFill>
              </a:rPr>
              <a:t>Observe</a:t>
            </a:r>
            <a:endParaRPr lang="en-US" sz="2200" dirty="0"/>
          </a:p>
        </p:txBody>
      </p:sp>
      <p:sp>
        <p:nvSpPr>
          <p:cNvPr id="10" name="Key points"/>
          <p:cNvSpPr txBox="1"/>
          <p:nvPr/>
        </p:nvSpPr>
        <p:spPr>
          <a:xfrm>
            <a:off x="7498080" y="2011680"/>
            <a:ext cx="4144975" cy="43891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No error message at all</a:t>
            </a:r>
            <a:endParaRPr lang="en-US" sz="1800" dirty="0"/>
          </a:p>
          <a:p>
            <a:pPr marL="342900" indent="-342900">
              <a:spcAft>
                <a:spcPts val="1000"/>
              </a:spcAft>
              <a:buSzPct val="100000"/>
              <a:buChar char="•"/>
            </a:pPr>
            <a:r>
              <a:rPr lang="en-US" sz="1800" dirty="0">
                <a:solidFill>
                  <a:schemeClr val="tx1"/>
                </a:solidFill>
              </a:rPr>
              <a:t>The output 103 looks plausible, which makes it dangerous</a:t>
            </a:r>
            <a:endParaRPr lang="en-US" sz="1800" dirty="0"/>
          </a:p>
          <a:p>
            <a:pPr marL="342900" indent="-342900">
              <a:spcAft>
                <a:spcPts val="1000"/>
              </a:spcAft>
              <a:buSzPct val="100000"/>
              <a:buChar char="•"/>
            </a:pPr>
            <a:r>
              <a:rPr lang="en-US" sz="1800" dirty="0">
                <a:solidFill>
                  <a:schemeClr val="tx1"/>
                </a:solidFill>
              </a:rPr>
              <a:t>Only a check against expected results reveals it</a:t>
            </a:r>
            <a:endParaRPr lang="en-US" sz="1800" dirty="0"/>
          </a:p>
          <a:p>
            <a:pPr marL="342900" indent="-342900">
              <a:spcAft>
                <a:spcPts val="1000"/>
              </a:spcAft>
              <a:buSzPct val="100000"/>
              <a:buChar char="•"/>
            </a:pPr>
            <a:r>
              <a:rPr lang="en-US" sz="1800" dirty="0">
                <a:solidFill>
                  <a:schemeClr val="tx1"/>
                </a:solidFill>
              </a:rPr>
              <a:t>Fix: total = price * quantity</a:t>
            </a:r>
            <a:endParaRPr lang="en-US" sz="18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Practice: diagnose three programs</a:t>
            </a:r>
            <a:endParaRPr lang="en-US" sz="3000" dirty="0"/>
          </a:p>
        </p:txBody>
      </p:sp>
      <p:sp>
        <p:nvSpPr>
          <p:cNvPr id="4" name="Activity panel"/>
          <p:cNvSpPr/>
          <p:nvPr/>
        </p:nvSpPr>
        <p:spPr>
          <a:xfrm>
            <a:off x="548640" y="1463040"/>
            <a:ext cx="3291840" cy="4480560"/>
          </a:xfrm>
          <a:prstGeom prst="roundRect">
            <a:avLst>
              <a:gd name="adj" fmla="val 2778"/>
            </a:avLst>
          </a:prstGeom>
          <a:solidFill>
            <a:schemeClr val="accent1"/>
          </a:solidFill>
          <a:ln/>
        </p:spPr>
      </p:sp>
      <p:sp>
        <p:nvSpPr>
          <p:cNvPr id="5" name="Icon circle"/>
          <p:cNvSpPr/>
          <p:nvPr/>
        </p:nvSpPr>
        <p:spPr>
          <a:xfrm>
            <a:off x="868680" y="1828800"/>
            <a:ext cx="822960" cy="822960"/>
          </a:xfrm>
          <a:prstGeom prst="ellipse">
            <a:avLst/>
          </a:prstGeom>
          <a:solidFill>
            <a:schemeClr val="accent2"/>
          </a:solidFill>
          <a:ln/>
        </p:spPr>
      </p:sp>
      <p:pic>
        <p:nvPicPr>
          <p:cNvPr id="6" name="Icon FaHandsHelping" descr="HandsHelping icon">    </p:cNvPr>
          <p:cNvPicPr>
            <a:picLocks noChangeAspect="1"/>
          </p:cNvPicPr>
          <p:nvPr/>
        </p:nvPicPr>
        <p:blipFill>
          <a:blip r:embed="rId1"/>
          <a:stretch>
            <a:fillRect/>
          </a:stretch>
        </p:blipFill>
        <p:spPr>
          <a:xfrm>
            <a:off x="1082650" y="2042770"/>
            <a:ext cx="395021" cy="395021"/>
          </a:xfrm>
          <a:prstGeom prst="rect">
            <a:avLst/>
          </a:prstGeom>
        </p:spPr>
      </p:pic>
      <p:sp>
        <p:nvSpPr>
          <p:cNvPr id="7" name="Your turn label"/>
          <p:cNvSpPr txBox="1"/>
          <p:nvPr/>
        </p:nvSpPr>
        <p:spPr>
          <a:xfrm>
            <a:off x="868680" y="2926080"/>
            <a:ext cx="2651760" cy="457200"/>
          </a:xfrm>
          <a:prstGeom prst="rect">
            <a:avLst/>
          </a:prstGeom>
          <a:noFill/>
          <a:ln/>
        </p:spPr>
        <p:txBody>
          <a:bodyPr wrap="square" lIns="0" tIns="0" rIns="0" bIns="0" rtlCol="0" anchor="ctr"/>
          <a:lstStyle/>
          <a:p>
            <a:pPr indent="0" marL="0">
              <a:buNone/>
            </a:pPr>
            <a:r>
              <a:rPr lang="en-US" sz="2600" b="1" dirty="0">
                <a:solidFill>
                  <a:schemeClr val="bg1"/>
                </a:solidFill>
                <a:latin typeface="Cambria" pitchFamily="34" charset="0"/>
                <a:ea typeface="Cambria" pitchFamily="34" charset="-122"/>
                <a:cs typeface="Cambria" pitchFamily="34" charset="-120"/>
              </a:rPr>
              <a:t>YOUR TURN</a:t>
            </a:r>
            <a:endParaRPr lang="en-US" sz="2600" dirty="0"/>
          </a:p>
        </p:txBody>
      </p:sp>
      <p:sp>
        <p:nvSpPr>
          <p:cNvPr id="8" name="Time"/>
          <p:cNvSpPr txBox="1"/>
          <p:nvPr/>
        </p:nvSpPr>
        <p:spPr>
          <a:xfrm>
            <a:off x="868680" y="3474720"/>
            <a:ext cx="2651760" cy="457200"/>
          </a:xfrm>
          <a:prstGeom prst="rect">
            <a:avLst/>
          </a:prstGeom>
          <a:noFill/>
          <a:ln/>
        </p:spPr>
        <p:txBody>
          <a:bodyPr wrap="square" lIns="0" tIns="0" rIns="0" bIns="0" rtlCol="0" anchor="ctr"/>
          <a:lstStyle/>
          <a:p>
            <a:pPr indent="0" marL="0">
              <a:buNone/>
            </a:pPr>
            <a:r>
              <a:rPr lang="en-US" sz="2000" b="1" dirty="0">
                <a:solidFill>
                  <a:schemeClr val="accent2"/>
                </a:solidFill>
              </a:rPr>
              <a:t>20 minutes (30-50)</a:t>
            </a:r>
            <a:endParaRPr lang="en-US" sz="2000" dirty="0"/>
          </a:p>
        </p:txBody>
      </p:sp>
      <p:sp>
        <p:nvSpPr>
          <p:cNvPr id="9" name="Evidence"/>
          <p:cNvSpPr txBox="1"/>
          <p:nvPr/>
        </p:nvSpPr>
        <p:spPr>
          <a:xfrm>
            <a:off x="868680" y="4206240"/>
            <a:ext cx="2651760" cy="155448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Evidence to keep</a:t>
            </a:r>
            <a:endParaRPr lang="en-US" sz="1600" dirty="0"/>
          </a:p>
          <a:p>
            <a:pPr indent="0" marL="0">
              <a:spcAft>
                <a:spcPts val="400"/>
              </a:spcAft>
              <a:buNone/>
            </a:pPr>
            <a:r>
              <a:rPr lang="en-US" sz="1600" dirty="0">
                <a:solidFill>
                  <a:schemeClr val="bg2"/>
                </a:solidFill>
              </a:rPr>
              <a:t>Three corrected programs.</a:t>
            </a:r>
            <a:endParaRPr lang="en-US" sz="1600" dirty="0"/>
          </a:p>
        </p:txBody>
      </p:sp>
      <p:sp>
        <p:nvSpPr>
          <p:cNvPr id="10" name="Task marker 1"/>
          <p:cNvSpPr/>
          <p:nvPr/>
        </p:nvSpPr>
        <p:spPr>
          <a:xfrm>
            <a:off x="4206240" y="1641348"/>
            <a:ext cx="420624" cy="420624"/>
          </a:xfrm>
          <a:prstGeom prst="ellipse">
            <a:avLst/>
          </a:prstGeom>
          <a:solidFill>
            <a:schemeClr val="accent2"/>
          </a:solidFill>
          <a:ln/>
        </p:spPr>
      </p:sp>
      <p:sp>
        <p:nvSpPr>
          <p:cNvPr id="11" name="Task number"/>
          <p:cNvSpPr txBox="1"/>
          <p:nvPr/>
        </p:nvSpPr>
        <p:spPr>
          <a:xfrm>
            <a:off x="4206240" y="1641348"/>
            <a:ext cx="420624" cy="420624"/>
          </a:xfrm>
          <a:prstGeom prst="rect">
            <a:avLst/>
          </a:prstGeom>
          <a:noFill/>
          <a:ln/>
        </p:spPr>
        <p:txBody>
          <a:bodyPr wrap="square" lIns="0" tIns="0" rIns="0" bIns="0" rtlCol="0" anchor="ctr"/>
          <a:lstStyle/>
          <a:p>
            <a:pPr algn="ctr" indent="0" marL="0">
              <a:buNone/>
            </a:pPr>
            <a:r>
              <a:rPr lang="en-US" sz="1500" b="1" dirty="0">
                <a:solidFill>
                  <a:schemeClr val="accent1"/>
                </a:solidFill>
              </a:rPr>
              <a:t>1</a:t>
            </a:r>
            <a:endParaRPr lang="en-US" sz="1500" dirty="0"/>
          </a:p>
        </p:txBody>
      </p:sp>
      <p:sp>
        <p:nvSpPr>
          <p:cNvPr id="12" name="Task text"/>
          <p:cNvSpPr txBox="1"/>
          <p:nvPr/>
        </p:nvSpPr>
        <p:spPr>
          <a:xfrm>
            <a:off x="4846320" y="1463040"/>
            <a:ext cx="6766560" cy="777240"/>
          </a:xfrm>
          <a:prstGeom prst="rect">
            <a:avLst/>
          </a:prstGeom>
          <a:noFill/>
          <a:ln/>
        </p:spPr>
        <p:txBody>
          <a:bodyPr wrap="square" lIns="0" tIns="0" rIns="0" bIns="0" rtlCol="0" anchor="ctr"/>
          <a:lstStyle/>
          <a:p>
            <a:pPr indent="0" marL="0">
              <a:buNone/>
            </a:pPr>
            <a:r>
              <a:rPr lang="en-US" sz="1900" dirty="0">
                <a:solidFill>
                  <a:schemeClr val="tx1"/>
                </a:solidFill>
              </a:rPr>
              <a:t>Open the three files in the debugging_basics folder.</a:t>
            </a:r>
            <a:endParaRPr lang="en-US" sz="1900" dirty="0"/>
          </a:p>
        </p:txBody>
      </p:sp>
      <p:sp>
        <p:nvSpPr>
          <p:cNvPr id="13" name="Task marker 2"/>
          <p:cNvSpPr/>
          <p:nvPr/>
        </p:nvSpPr>
        <p:spPr>
          <a:xfrm>
            <a:off x="4206240" y="2418588"/>
            <a:ext cx="420624" cy="420624"/>
          </a:xfrm>
          <a:prstGeom prst="ellipse">
            <a:avLst/>
          </a:prstGeom>
          <a:solidFill>
            <a:schemeClr val="accent2"/>
          </a:solidFill>
          <a:ln/>
        </p:spPr>
      </p:sp>
      <p:sp>
        <p:nvSpPr>
          <p:cNvPr id="14" name="Task number"/>
          <p:cNvSpPr txBox="1"/>
          <p:nvPr/>
        </p:nvSpPr>
        <p:spPr>
          <a:xfrm>
            <a:off x="4206240" y="2418588"/>
            <a:ext cx="420624" cy="420624"/>
          </a:xfrm>
          <a:prstGeom prst="rect">
            <a:avLst/>
          </a:prstGeom>
          <a:noFill/>
          <a:ln/>
        </p:spPr>
        <p:txBody>
          <a:bodyPr wrap="square" lIns="0" tIns="0" rIns="0" bIns="0" rtlCol="0" anchor="ctr"/>
          <a:lstStyle/>
          <a:p>
            <a:pPr algn="ctr" indent="0" marL="0">
              <a:buNone/>
            </a:pPr>
            <a:r>
              <a:rPr lang="en-US" sz="1500" b="1" dirty="0">
                <a:solidFill>
                  <a:schemeClr val="accent1"/>
                </a:solidFill>
              </a:rPr>
              <a:t>2</a:t>
            </a:r>
            <a:endParaRPr lang="en-US" sz="1500" dirty="0"/>
          </a:p>
        </p:txBody>
      </p:sp>
      <p:sp>
        <p:nvSpPr>
          <p:cNvPr id="15" name="Task text"/>
          <p:cNvSpPr txBox="1"/>
          <p:nvPr/>
        </p:nvSpPr>
        <p:spPr>
          <a:xfrm>
            <a:off x="4846320" y="2240280"/>
            <a:ext cx="6766560" cy="777240"/>
          </a:xfrm>
          <a:prstGeom prst="rect">
            <a:avLst/>
          </a:prstGeom>
          <a:noFill/>
          <a:ln/>
        </p:spPr>
        <p:txBody>
          <a:bodyPr wrap="square" lIns="0" tIns="0" rIns="0" bIns="0" rtlCol="0" anchor="ctr"/>
          <a:lstStyle/>
          <a:p>
            <a:pPr indent="0" marL="0">
              <a:buNone/>
            </a:pPr>
            <a:r>
              <a:rPr lang="en-US" sz="1900" dirty="0">
                <a:solidFill>
                  <a:schemeClr val="tx1"/>
                </a:solidFill>
              </a:rPr>
              <a:t>Run each file and read what Python reports.</a:t>
            </a:r>
            <a:endParaRPr lang="en-US" sz="1900" dirty="0"/>
          </a:p>
        </p:txBody>
      </p:sp>
      <p:sp>
        <p:nvSpPr>
          <p:cNvPr id="16" name="Task marker 3"/>
          <p:cNvSpPr/>
          <p:nvPr/>
        </p:nvSpPr>
        <p:spPr>
          <a:xfrm>
            <a:off x="4206240" y="3195828"/>
            <a:ext cx="420624" cy="420624"/>
          </a:xfrm>
          <a:prstGeom prst="ellipse">
            <a:avLst/>
          </a:prstGeom>
          <a:solidFill>
            <a:schemeClr val="accent2"/>
          </a:solidFill>
          <a:ln/>
        </p:spPr>
      </p:sp>
      <p:sp>
        <p:nvSpPr>
          <p:cNvPr id="17" name="Task number"/>
          <p:cNvSpPr txBox="1"/>
          <p:nvPr/>
        </p:nvSpPr>
        <p:spPr>
          <a:xfrm>
            <a:off x="4206240" y="3195828"/>
            <a:ext cx="420624" cy="420624"/>
          </a:xfrm>
          <a:prstGeom prst="rect">
            <a:avLst/>
          </a:prstGeom>
          <a:noFill/>
          <a:ln/>
        </p:spPr>
        <p:txBody>
          <a:bodyPr wrap="square" lIns="0" tIns="0" rIns="0" bIns="0" rtlCol="0" anchor="ctr"/>
          <a:lstStyle/>
          <a:p>
            <a:pPr algn="ctr" indent="0" marL="0">
              <a:buNone/>
            </a:pPr>
            <a:r>
              <a:rPr lang="en-US" sz="1500" b="1" dirty="0">
                <a:solidFill>
                  <a:schemeClr val="accent1"/>
                </a:solidFill>
              </a:rPr>
              <a:t>3</a:t>
            </a:r>
            <a:endParaRPr lang="en-US" sz="1500" dirty="0"/>
          </a:p>
        </p:txBody>
      </p:sp>
      <p:sp>
        <p:nvSpPr>
          <p:cNvPr id="18" name="Task text"/>
          <p:cNvSpPr txBox="1"/>
          <p:nvPr/>
        </p:nvSpPr>
        <p:spPr>
          <a:xfrm>
            <a:off x="4846320" y="3017520"/>
            <a:ext cx="6766560" cy="777240"/>
          </a:xfrm>
          <a:prstGeom prst="rect">
            <a:avLst/>
          </a:prstGeom>
          <a:noFill/>
          <a:ln/>
        </p:spPr>
        <p:txBody>
          <a:bodyPr wrap="square" lIns="0" tIns="0" rIns="0" bIns="0" rtlCol="0" anchor="ctr"/>
          <a:lstStyle/>
          <a:p>
            <a:pPr indent="0" marL="0">
              <a:buNone/>
            </a:pPr>
            <a:r>
              <a:rPr lang="en-US" sz="1900" dirty="0">
                <a:solidFill>
                  <a:schemeClr val="tx1"/>
                </a:solidFill>
              </a:rPr>
              <a:t>Decide which type of error each file contains.</a:t>
            </a:r>
            <a:endParaRPr lang="en-US" sz="1900" dirty="0"/>
          </a:p>
        </p:txBody>
      </p:sp>
      <p:sp>
        <p:nvSpPr>
          <p:cNvPr id="19" name="Task marker 4"/>
          <p:cNvSpPr/>
          <p:nvPr/>
        </p:nvSpPr>
        <p:spPr>
          <a:xfrm>
            <a:off x="4206240" y="3973068"/>
            <a:ext cx="420624" cy="420624"/>
          </a:xfrm>
          <a:prstGeom prst="ellipse">
            <a:avLst/>
          </a:prstGeom>
          <a:solidFill>
            <a:schemeClr val="accent2"/>
          </a:solidFill>
          <a:ln/>
        </p:spPr>
      </p:sp>
      <p:sp>
        <p:nvSpPr>
          <p:cNvPr id="20" name="Task number"/>
          <p:cNvSpPr txBox="1"/>
          <p:nvPr/>
        </p:nvSpPr>
        <p:spPr>
          <a:xfrm>
            <a:off x="4206240" y="3973068"/>
            <a:ext cx="420624" cy="420624"/>
          </a:xfrm>
          <a:prstGeom prst="rect">
            <a:avLst/>
          </a:prstGeom>
          <a:noFill/>
          <a:ln/>
        </p:spPr>
        <p:txBody>
          <a:bodyPr wrap="square" lIns="0" tIns="0" rIns="0" bIns="0" rtlCol="0" anchor="ctr"/>
          <a:lstStyle/>
          <a:p>
            <a:pPr algn="ctr" indent="0" marL="0">
              <a:buNone/>
            </a:pPr>
            <a:r>
              <a:rPr lang="en-US" sz="1500" b="1" dirty="0">
                <a:solidFill>
                  <a:schemeClr val="accent1"/>
                </a:solidFill>
              </a:rPr>
              <a:t>4</a:t>
            </a:r>
            <a:endParaRPr lang="en-US" sz="1500" dirty="0"/>
          </a:p>
        </p:txBody>
      </p:sp>
      <p:sp>
        <p:nvSpPr>
          <p:cNvPr id="21" name="Task text"/>
          <p:cNvSpPr txBox="1"/>
          <p:nvPr/>
        </p:nvSpPr>
        <p:spPr>
          <a:xfrm>
            <a:off x="4846320" y="3794760"/>
            <a:ext cx="6766560" cy="777240"/>
          </a:xfrm>
          <a:prstGeom prst="rect">
            <a:avLst/>
          </a:prstGeom>
          <a:noFill/>
          <a:ln/>
        </p:spPr>
        <p:txBody>
          <a:bodyPr wrap="square" lIns="0" tIns="0" rIns="0" bIns="0" rtlCol="0" anchor="ctr"/>
          <a:lstStyle/>
          <a:p>
            <a:pPr indent="0" marL="0">
              <a:buNone/>
            </a:pPr>
            <a:r>
              <a:rPr lang="en-US" sz="1900" dirty="0">
                <a:solidFill>
                  <a:schemeClr val="tx1"/>
                </a:solidFill>
              </a:rPr>
              <a:t>Correct each program and run it again to confirm it works.</a:t>
            </a:r>
            <a:endParaRPr lang="en-US" sz="1900" dirty="0"/>
          </a:p>
        </p:txBody>
      </p:sp>
      <p:sp>
        <p:nvSpPr>
          <p:cNvPr id="22" name="Task marker 5"/>
          <p:cNvSpPr/>
          <p:nvPr/>
        </p:nvSpPr>
        <p:spPr>
          <a:xfrm>
            <a:off x="4206240" y="4750308"/>
            <a:ext cx="420624" cy="420624"/>
          </a:xfrm>
          <a:prstGeom prst="ellipse">
            <a:avLst/>
          </a:prstGeom>
          <a:solidFill>
            <a:schemeClr val="accent2"/>
          </a:solidFill>
          <a:ln/>
        </p:spPr>
      </p:sp>
      <p:sp>
        <p:nvSpPr>
          <p:cNvPr id="23" name="Task number"/>
          <p:cNvSpPr txBox="1"/>
          <p:nvPr/>
        </p:nvSpPr>
        <p:spPr>
          <a:xfrm>
            <a:off x="4206240" y="4750308"/>
            <a:ext cx="420624" cy="420624"/>
          </a:xfrm>
          <a:prstGeom prst="rect">
            <a:avLst/>
          </a:prstGeom>
          <a:noFill/>
          <a:ln/>
        </p:spPr>
        <p:txBody>
          <a:bodyPr wrap="square" lIns="0" tIns="0" rIns="0" bIns="0" rtlCol="0" anchor="ctr"/>
          <a:lstStyle/>
          <a:p>
            <a:pPr algn="ctr" indent="0" marL="0">
              <a:buNone/>
            </a:pPr>
            <a:r>
              <a:rPr lang="en-US" sz="1500" b="1" dirty="0">
                <a:solidFill>
                  <a:schemeClr val="accent1"/>
                </a:solidFill>
              </a:rPr>
              <a:t>5</a:t>
            </a:r>
            <a:endParaRPr lang="en-US" sz="1500" dirty="0"/>
          </a:p>
        </p:txBody>
      </p:sp>
      <p:sp>
        <p:nvSpPr>
          <p:cNvPr id="24" name="Task text"/>
          <p:cNvSpPr txBox="1"/>
          <p:nvPr/>
        </p:nvSpPr>
        <p:spPr>
          <a:xfrm>
            <a:off x="4846320" y="4572000"/>
            <a:ext cx="6766560" cy="777240"/>
          </a:xfrm>
          <a:prstGeom prst="rect">
            <a:avLst/>
          </a:prstGeom>
          <a:noFill/>
          <a:ln/>
        </p:spPr>
        <p:txBody>
          <a:bodyPr wrap="square" lIns="0" tIns="0" rIns="0" bIns="0" rtlCol="0" anchor="ctr"/>
          <a:lstStyle/>
          <a:p>
            <a:pPr indent="0" marL="0">
              <a:buNone/>
            </a:pPr>
            <a:r>
              <a:rPr lang="en-US" sz="1900" dirty="0">
                <a:solidFill>
                  <a:schemeClr val="tx1"/>
                </a:solidFill>
              </a:rPr>
              <a:t>Note down the cause and your fix for each one.</a:t>
            </a:r>
            <a:endParaRPr lang="en-US" sz="19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The debugging workflow</a:t>
            </a:r>
            <a:endParaRPr lang="en-US" sz="3000" dirty="0"/>
          </a:p>
        </p:txBody>
      </p:sp>
      <p:sp>
        <p:nvSpPr>
          <p:cNvPr id="4" name="Flow card 1"/>
          <p:cNvSpPr/>
          <p:nvPr/>
        </p:nvSpPr>
        <p:spPr>
          <a:xfrm>
            <a:off x="548640" y="1645920"/>
            <a:ext cx="2464308" cy="3291840"/>
          </a:xfrm>
          <a:prstGeom prst="roundRect">
            <a:avLst>
              <a:gd name="adj" fmla="val 3711"/>
            </a:avLst>
          </a:prstGeom>
          <a:solidFill>
            <a:schemeClr val="bg2"/>
          </a:solidFill>
          <a:ln/>
        </p:spPr>
      </p:sp>
      <p:sp>
        <p:nvSpPr>
          <p:cNvPr id="5" name="Flow marker"/>
          <p:cNvSpPr/>
          <p:nvPr/>
        </p:nvSpPr>
        <p:spPr>
          <a:xfrm>
            <a:off x="777240" y="1874520"/>
            <a:ext cx="594360" cy="594360"/>
          </a:xfrm>
          <a:prstGeom prst="ellipse">
            <a:avLst/>
          </a:prstGeom>
          <a:solidFill>
            <a:schemeClr val="accent2"/>
          </a:solidFill>
          <a:ln/>
        </p:spPr>
      </p:sp>
      <p:sp>
        <p:nvSpPr>
          <p:cNvPr id="6" name="Flow number"/>
          <p:cNvSpPr txBox="1"/>
          <p:nvPr/>
        </p:nvSpPr>
        <p:spPr>
          <a:xfrm>
            <a:off x="777240" y="1874520"/>
            <a:ext cx="594360" cy="594360"/>
          </a:xfrm>
          <a:prstGeom prst="rect">
            <a:avLst/>
          </a:prstGeom>
          <a:noFill/>
          <a:ln/>
        </p:spPr>
        <p:txBody>
          <a:bodyPr wrap="square" lIns="0" tIns="0" rIns="0" bIns="0" rtlCol="0" anchor="ctr"/>
          <a:lstStyle/>
          <a:p>
            <a:pPr algn="ctr" indent="0" marL="0">
              <a:buNone/>
            </a:pPr>
            <a:r>
              <a:rPr lang="en-US" sz="2000" b="1" dirty="0">
                <a:solidFill>
                  <a:schemeClr val="accent1"/>
                </a:solidFill>
              </a:rPr>
              <a:t>1</a:t>
            </a:r>
            <a:endParaRPr lang="en-US" sz="2000" dirty="0"/>
          </a:p>
        </p:txBody>
      </p:sp>
      <p:sp>
        <p:nvSpPr>
          <p:cNvPr id="7" name="Flow heading"/>
          <p:cNvSpPr txBox="1"/>
          <p:nvPr/>
        </p:nvSpPr>
        <p:spPr>
          <a:xfrm>
            <a:off x="777240" y="2606040"/>
            <a:ext cx="2007108" cy="457200"/>
          </a:xfrm>
          <a:prstGeom prst="rect">
            <a:avLst/>
          </a:prstGeom>
          <a:noFill/>
          <a:ln/>
        </p:spPr>
        <p:txBody>
          <a:bodyPr wrap="square" lIns="0" tIns="0" rIns="0" bIns="0" rtlCol="0" anchor="t"/>
          <a:lstStyle/>
          <a:p>
            <a:pPr indent="0" marL="0">
              <a:buNone/>
            </a:pPr>
            <a:r>
              <a:rPr lang="en-US" sz="2200" b="1" dirty="0">
                <a:solidFill>
                  <a:schemeClr val="accent1"/>
                </a:solidFill>
              </a:rPr>
              <a:t>Reproduce</a:t>
            </a:r>
            <a:endParaRPr lang="en-US" sz="2200" dirty="0"/>
          </a:p>
        </p:txBody>
      </p:sp>
      <p:sp>
        <p:nvSpPr>
          <p:cNvPr id="8" name="Flow text"/>
          <p:cNvSpPr txBox="1"/>
          <p:nvPr/>
        </p:nvSpPr>
        <p:spPr>
          <a:xfrm>
            <a:off x="777240" y="3108960"/>
            <a:ext cx="2007108" cy="1691640"/>
          </a:xfrm>
          <a:prstGeom prst="rect">
            <a:avLst/>
          </a:prstGeom>
          <a:noFill/>
          <a:ln/>
        </p:spPr>
        <p:txBody>
          <a:bodyPr wrap="square" lIns="0" tIns="0" rIns="0" bIns="0" rtlCol="0" anchor="t"/>
          <a:lstStyle/>
          <a:p>
            <a:pPr indent="0" marL="0">
              <a:buNone/>
            </a:pPr>
            <a:r>
              <a:rPr lang="en-US" sz="1600" dirty="0">
                <a:solidFill>
                  <a:schemeClr val="tx1"/>
                </a:solidFill>
              </a:rPr>
              <a:t>Make the problem happen reliably. Note the exact input and the result.</a:t>
            </a:r>
            <a:endParaRPr lang="en-US" sz="1600" dirty="0"/>
          </a:p>
        </p:txBody>
      </p:sp>
      <p:sp>
        <p:nvSpPr>
          <p:cNvPr id="9" name="Flow arrow"/>
          <p:cNvSpPr/>
          <p:nvPr/>
        </p:nvSpPr>
        <p:spPr>
          <a:xfrm>
            <a:off x="3049524" y="3136392"/>
            <a:ext cx="338328" cy="310896"/>
          </a:xfrm>
          <a:prstGeom prst="rightArrow">
            <a:avLst/>
          </a:prstGeom>
          <a:solidFill>
            <a:schemeClr val="accent1"/>
          </a:solidFill>
          <a:ln/>
        </p:spPr>
      </p:sp>
      <p:sp>
        <p:nvSpPr>
          <p:cNvPr id="10" name="Flow card 2"/>
          <p:cNvSpPr/>
          <p:nvPr/>
        </p:nvSpPr>
        <p:spPr>
          <a:xfrm>
            <a:off x="3424428" y="1645920"/>
            <a:ext cx="2464308" cy="3291840"/>
          </a:xfrm>
          <a:prstGeom prst="roundRect">
            <a:avLst>
              <a:gd name="adj" fmla="val 3711"/>
            </a:avLst>
          </a:prstGeom>
          <a:solidFill>
            <a:schemeClr val="bg2"/>
          </a:solidFill>
          <a:ln/>
        </p:spPr>
      </p:sp>
      <p:sp>
        <p:nvSpPr>
          <p:cNvPr id="11" name="Flow marker"/>
          <p:cNvSpPr/>
          <p:nvPr/>
        </p:nvSpPr>
        <p:spPr>
          <a:xfrm>
            <a:off x="3653028" y="1874520"/>
            <a:ext cx="594360" cy="594360"/>
          </a:xfrm>
          <a:prstGeom prst="ellipse">
            <a:avLst/>
          </a:prstGeom>
          <a:solidFill>
            <a:schemeClr val="accent2"/>
          </a:solidFill>
          <a:ln/>
        </p:spPr>
      </p:sp>
      <p:sp>
        <p:nvSpPr>
          <p:cNvPr id="12" name="Flow number"/>
          <p:cNvSpPr txBox="1"/>
          <p:nvPr/>
        </p:nvSpPr>
        <p:spPr>
          <a:xfrm>
            <a:off x="3653028" y="1874520"/>
            <a:ext cx="594360" cy="594360"/>
          </a:xfrm>
          <a:prstGeom prst="rect">
            <a:avLst/>
          </a:prstGeom>
          <a:noFill/>
          <a:ln/>
        </p:spPr>
        <p:txBody>
          <a:bodyPr wrap="square" lIns="0" tIns="0" rIns="0" bIns="0" rtlCol="0" anchor="ctr"/>
          <a:lstStyle/>
          <a:p>
            <a:pPr algn="ctr" indent="0" marL="0">
              <a:buNone/>
            </a:pPr>
            <a:r>
              <a:rPr lang="en-US" sz="2000" b="1" dirty="0">
                <a:solidFill>
                  <a:schemeClr val="accent1"/>
                </a:solidFill>
              </a:rPr>
              <a:t>2</a:t>
            </a:r>
            <a:endParaRPr lang="en-US" sz="2000" dirty="0"/>
          </a:p>
        </p:txBody>
      </p:sp>
      <p:sp>
        <p:nvSpPr>
          <p:cNvPr id="13" name="Flow heading"/>
          <p:cNvSpPr txBox="1"/>
          <p:nvPr/>
        </p:nvSpPr>
        <p:spPr>
          <a:xfrm>
            <a:off x="3653028" y="2606040"/>
            <a:ext cx="2007108" cy="457200"/>
          </a:xfrm>
          <a:prstGeom prst="rect">
            <a:avLst/>
          </a:prstGeom>
          <a:noFill/>
          <a:ln/>
        </p:spPr>
        <p:txBody>
          <a:bodyPr wrap="square" lIns="0" tIns="0" rIns="0" bIns="0" rtlCol="0" anchor="t"/>
          <a:lstStyle/>
          <a:p>
            <a:pPr indent="0" marL="0">
              <a:buNone/>
            </a:pPr>
            <a:r>
              <a:rPr lang="en-US" sz="2200" b="1" dirty="0">
                <a:solidFill>
                  <a:schemeClr val="accent1"/>
                </a:solidFill>
              </a:rPr>
              <a:t>Investigate</a:t>
            </a:r>
            <a:endParaRPr lang="en-US" sz="2200" dirty="0"/>
          </a:p>
        </p:txBody>
      </p:sp>
      <p:sp>
        <p:nvSpPr>
          <p:cNvPr id="14" name="Flow text"/>
          <p:cNvSpPr txBox="1"/>
          <p:nvPr/>
        </p:nvSpPr>
        <p:spPr>
          <a:xfrm>
            <a:off x="3653028" y="3108960"/>
            <a:ext cx="2007108" cy="1691640"/>
          </a:xfrm>
          <a:prstGeom prst="rect">
            <a:avLst/>
          </a:prstGeom>
          <a:noFill/>
          <a:ln/>
        </p:spPr>
        <p:txBody>
          <a:bodyPr wrap="square" lIns="0" tIns="0" rIns="0" bIns="0" rtlCol="0" anchor="t"/>
          <a:lstStyle/>
          <a:p>
            <a:pPr indent="0" marL="0">
              <a:buNone/>
            </a:pPr>
            <a:r>
              <a:rPr lang="en-US" sz="1600" dirty="0">
                <a:solidFill>
                  <a:schemeClr val="tx1"/>
                </a:solidFill>
              </a:rPr>
              <a:t>Form a hypothesis. Read messages, check values and narrow down the line.</a:t>
            </a:r>
            <a:endParaRPr lang="en-US" sz="1600" dirty="0"/>
          </a:p>
        </p:txBody>
      </p:sp>
      <p:sp>
        <p:nvSpPr>
          <p:cNvPr id="15" name="Flow arrow"/>
          <p:cNvSpPr/>
          <p:nvPr/>
        </p:nvSpPr>
        <p:spPr>
          <a:xfrm>
            <a:off x="5925312" y="3136392"/>
            <a:ext cx="338328" cy="310896"/>
          </a:xfrm>
          <a:prstGeom prst="rightArrow">
            <a:avLst/>
          </a:prstGeom>
          <a:solidFill>
            <a:schemeClr val="accent1"/>
          </a:solidFill>
          <a:ln/>
        </p:spPr>
      </p:sp>
      <p:sp>
        <p:nvSpPr>
          <p:cNvPr id="16" name="Flow card 3"/>
          <p:cNvSpPr/>
          <p:nvPr/>
        </p:nvSpPr>
        <p:spPr>
          <a:xfrm>
            <a:off x="6300216" y="1645920"/>
            <a:ext cx="2464308" cy="3291840"/>
          </a:xfrm>
          <a:prstGeom prst="roundRect">
            <a:avLst>
              <a:gd name="adj" fmla="val 3711"/>
            </a:avLst>
          </a:prstGeom>
          <a:solidFill>
            <a:schemeClr val="bg2"/>
          </a:solidFill>
          <a:ln/>
        </p:spPr>
      </p:sp>
      <p:sp>
        <p:nvSpPr>
          <p:cNvPr id="17" name="Flow marker"/>
          <p:cNvSpPr/>
          <p:nvPr/>
        </p:nvSpPr>
        <p:spPr>
          <a:xfrm>
            <a:off x="6528816" y="1874520"/>
            <a:ext cx="594360" cy="594360"/>
          </a:xfrm>
          <a:prstGeom prst="ellipse">
            <a:avLst/>
          </a:prstGeom>
          <a:solidFill>
            <a:schemeClr val="accent2"/>
          </a:solidFill>
          <a:ln/>
        </p:spPr>
      </p:sp>
      <p:sp>
        <p:nvSpPr>
          <p:cNvPr id="18" name="Flow number"/>
          <p:cNvSpPr txBox="1"/>
          <p:nvPr/>
        </p:nvSpPr>
        <p:spPr>
          <a:xfrm>
            <a:off x="6528816" y="1874520"/>
            <a:ext cx="594360" cy="594360"/>
          </a:xfrm>
          <a:prstGeom prst="rect">
            <a:avLst/>
          </a:prstGeom>
          <a:noFill/>
          <a:ln/>
        </p:spPr>
        <p:txBody>
          <a:bodyPr wrap="square" lIns="0" tIns="0" rIns="0" bIns="0" rtlCol="0" anchor="ctr"/>
          <a:lstStyle/>
          <a:p>
            <a:pPr algn="ctr" indent="0" marL="0">
              <a:buNone/>
            </a:pPr>
            <a:r>
              <a:rPr lang="en-US" sz="2000" b="1" dirty="0">
                <a:solidFill>
                  <a:schemeClr val="accent1"/>
                </a:solidFill>
              </a:rPr>
              <a:t>3</a:t>
            </a:r>
            <a:endParaRPr lang="en-US" sz="2000" dirty="0"/>
          </a:p>
        </p:txBody>
      </p:sp>
      <p:sp>
        <p:nvSpPr>
          <p:cNvPr id="19" name="Flow heading"/>
          <p:cNvSpPr txBox="1"/>
          <p:nvPr/>
        </p:nvSpPr>
        <p:spPr>
          <a:xfrm>
            <a:off x="6528816" y="2606040"/>
            <a:ext cx="2007108" cy="457200"/>
          </a:xfrm>
          <a:prstGeom prst="rect">
            <a:avLst/>
          </a:prstGeom>
          <a:noFill/>
          <a:ln/>
        </p:spPr>
        <p:txBody>
          <a:bodyPr wrap="square" lIns="0" tIns="0" rIns="0" bIns="0" rtlCol="0" anchor="t"/>
          <a:lstStyle/>
          <a:p>
            <a:pPr indent="0" marL="0">
              <a:buNone/>
            </a:pPr>
            <a:r>
              <a:rPr lang="en-US" sz="2200" b="1" dirty="0">
                <a:solidFill>
                  <a:schemeClr val="accent1"/>
                </a:solidFill>
              </a:rPr>
              <a:t>Correct</a:t>
            </a:r>
            <a:endParaRPr lang="en-US" sz="2200" dirty="0"/>
          </a:p>
        </p:txBody>
      </p:sp>
      <p:sp>
        <p:nvSpPr>
          <p:cNvPr id="20" name="Flow text"/>
          <p:cNvSpPr txBox="1"/>
          <p:nvPr/>
        </p:nvSpPr>
        <p:spPr>
          <a:xfrm>
            <a:off x="6528816" y="3108960"/>
            <a:ext cx="2007108" cy="1691640"/>
          </a:xfrm>
          <a:prstGeom prst="rect">
            <a:avLst/>
          </a:prstGeom>
          <a:noFill/>
          <a:ln/>
        </p:spPr>
        <p:txBody>
          <a:bodyPr wrap="square" lIns="0" tIns="0" rIns="0" bIns="0" rtlCol="0" anchor="t"/>
          <a:lstStyle/>
          <a:p>
            <a:pPr indent="0" marL="0">
              <a:buNone/>
            </a:pPr>
            <a:r>
              <a:rPr lang="en-US" sz="1600" dirty="0">
                <a:solidFill>
                  <a:schemeClr val="tx1"/>
                </a:solidFill>
              </a:rPr>
              <a:t>Change one thing at a time to remove the cause, not just the symptom.</a:t>
            </a:r>
            <a:endParaRPr lang="en-US" sz="1600" dirty="0"/>
          </a:p>
        </p:txBody>
      </p:sp>
      <p:sp>
        <p:nvSpPr>
          <p:cNvPr id="21" name="Flow arrow"/>
          <p:cNvSpPr/>
          <p:nvPr/>
        </p:nvSpPr>
        <p:spPr>
          <a:xfrm>
            <a:off x="8801100" y="3136392"/>
            <a:ext cx="338328" cy="310896"/>
          </a:xfrm>
          <a:prstGeom prst="rightArrow">
            <a:avLst/>
          </a:prstGeom>
          <a:solidFill>
            <a:schemeClr val="accent1"/>
          </a:solidFill>
          <a:ln/>
        </p:spPr>
      </p:sp>
      <p:sp>
        <p:nvSpPr>
          <p:cNvPr id="22" name="Flow card 4"/>
          <p:cNvSpPr/>
          <p:nvPr/>
        </p:nvSpPr>
        <p:spPr>
          <a:xfrm>
            <a:off x="9176004" y="1645920"/>
            <a:ext cx="2464308" cy="3291840"/>
          </a:xfrm>
          <a:prstGeom prst="roundRect">
            <a:avLst>
              <a:gd name="adj" fmla="val 3711"/>
            </a:avLst>
          </a:prstGeom>
          <a:solidFill>
            <a:schemeClr val="bg2"/>
          </a:solidFill>
          <a:ln/>
        </p:spPr>
      </p:sp>
      <p:sp>
        <p:nvSpPr>
          <p:cNvPr id="23" name="Flow marker"/>
          <p:cNvSpPr/>
          <p:nvPr/>
        </p:nvSpPr>
        <p:spPr>
          <a:xfrm>
            <a:off x="9404604" y="1874520"/>
            <a:ext cx="594360" cy="594360"/>
          </a:xfrm>
          <a:prstGeom prst="ellipse">
            <a:avLst/>
          </a:prstGeom>
          <a:solidFill>
            <a:schemeClr val="accent2"/>
          </a:solidFill>
          <a:ln/>
        </p:spPr>
      </p:sp>
      <p:sp>
        <p:nvSpPr>
          <p:cNvPr id="24" name="Flow number"/>
          <p:cNvSpPr txBox="1"/>
          <p:nvPr/>
        </p:nvSpPr>
        <p:spPr>
          <a:xfrm>
            <a:off x="9404604" y="1874520"/>
            <a:ext cx="594360" cy="594360"/>
          </a:xfrm>
          <a:prstGeom prst="rect">
            <a:avLst/>
          </a:prstGeom>
          <a:noFill/>
          <a:ln/>
        </p:spPr>
        <p:txBody>
          <a:bodyPr wrap="square" lIns="0" tIns="0" rIns="0" bIns="0" rtlCol="0" anchor="ctr"/>
          <a:lstStyle/>
          <a:p>
            <a:pPr algn="ctr" indent="0" marL="0">
              <a:buNone/>
            </a:pPr>
            <a:r>
              <a:rPr lang="en-US" sz="2000" b="1" dirty="0">
                <a:solidFill>
                  <a:schemeClr val="accent1"/>
                </a:solidFill>
              </a:rPr>
              <a:t>4</a:t>
            </a:r>
            <a:endParaRPr lang="en-US" sz="2000" dirty="0"/>
          </a:p>
        </p:txBody>
      </p:sp>
      <p:sp>
        <p:nvSpPr>
          <p:cNvPr id="25" name="Flow heading"/>
          <p:cNvSpPr txBox="1"/>
          <p:nvPr/>
        </p:nvSpPr>
        <p:spPr>
          <a:xfrm>
            <a:off x="9404604" y="2606040"/>
            <a:ext cx="2007108" cy="457200"/>
          </a:xfrm>
          <a:prstGeom prst="rect">
            <a:avLst/>
          </a:prstGeom>
          <a:noFill/>
          <a:ln/>
        </p:spPr>
        <p:txBody>
          <a:bodyPr wrap="square" lIns="0" tIns="0" rIns="0" bIns="0" rtlCol="0" anchor="t"/>
          <a:lstStyle/>
          <a:p>
            <a:pPr indent="0" marL="0">
              <a:buNone/>
            </a:pPr>
            <a:r>
              <a:rPr lang="en-US" sz="2200" b="1" dirty="0">
                <a:solidFill>
                  <a:schemeClr val="accent1"/>
                </a:solidFill>
              </a:rPr>
              <a:t>Retest</a:t>
            </a:r>
            <a:endParaRPr lang="en-US" sz="2200" dirty="0"/>
          </a:p>
        </p:txBody>
      </p:sp>
      <p:sp>
        <p:nvSpPr>
          <p:cNvPr id="26" name="Flow text"/>
          <p:cNvSpPr txBox="1"/>
          <p:nvPr/>
        </p:nvSpPr>
        <p:spPr>
          <a:xfrm>
            <a:off x="9404604" y="3108960"/>
            <a:ext cx="2007108" cy="1691640"/>
          </a:xfrm>
          <a:prstGeom prst="rect">
            <a:avLst/>
          </a:prstGeom>
          <a:noFill/>
          <a:ln/>
        </p:spPr>
        <p:txBody>
          <a:bodyPr wrap="square" lIns="0" tIns="0" rIns="0" bIns="0" rtlCol="0" anchor="t"/>
          <a:lstStyle/>
          <a:p>
            <a:pPr indent="0" marL="0">
              <a:buNone/>
            </a:pPr>
            <a:r>
              <a:rPr lang="en-US" sz="1600" dirty="0">
                <a:solidFill>
                  <a:schemeClr val="tx1"/>
                </a:solidFill>
              </a:rPr>
              <a:t>Rerun the original case and one more. Confirm nothing else broke.</a:t>
            </a:r>
            <a:endParaRPr lang="en-US" sz="1600" dirty="0"/>
          </a:p>
        </p:txBody>
      </p:sp>
      <p:sp>
        <p:nvSpPr>
          <p:cNvPr id="27" name="Footer panel"/>
          <p:cNvSpPr/>
          <p:nvPr/>
        </p:nvSpPr>
        <p:spPr>
          <a:xfrm>
            <a:off x="548640" y="5212080"/>
            <a:ext cx="11091672" cy="777240"/>
          </a:xfrm>
          <a:prstGeom prst="roundRect">
            <a:avLst>
              <a:gd name="adj" fmla="val 11765"/>
            </a:avLst>
          </a:prstGeom>
          <a:solidFill>
            <a:schemeClr val="accent1"/>
          </a:solidFill>
          <a:ln/>
        </p:spPr>
      </p:sp>
      <p:sp>
        <p:nvSpPr>
          <p:cNvPr id="28" name="Footer text"/>
          <p:cNvSpPr txBox="1"/>
          <p:nvPr/>
        </p:nvSpPr>
        <p:spPr>
          <a:xfrm>
            <a:off x="822960" y="5212080"/>
            <a:ext cx="10515600" cy="777240"/>
          </a:xfrm>
          <a:prstGeom prst="rect">
            <a:avLst/>
          </a:prstGeom>
          <a:noFill/>
          <a:ln/>
        </p:spPr>
        <p:txBody>
          <a:bodyPr wrap="square" lIns="0" tIns="0" rIns="0" bIns="0" rtlCol="0" anchor="ctr"/>
          <a:lstStyle/>
          <a:p>
            <a:pPr indent="0" marL="0">
              <a:buNone/>
            </a:pPr>
            <a:r>
              <a:rPr lang="en-US" sz="1800" dirty="0">
                <a:solidFill>
                  <a:schemeClr val="bg1"/>
                </a:solidFill>
              </a:rPr>
              <a:t>Debugging is an investigation: expected behaviour, actual behaviour, cause, fix, verification.</a:t>
            </a:r>
            <a:endParaRPr lang="en-US" sz="18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Worked example: debugging report</a:t>
            </a:r>
            <a:endParaRPr lang="en-US" sz="3000" dirty="0"/>
          </a:p>
        </p:txBody>
      </p:sp>
      <p:graphicFrame>
        <p:nvGraphicFramePr>
          <p:cNvPr id="25" name="Data table"/>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4206240"/>
                <a:gridCol w="6858000"/>
              </a:tblGrid>
              <a:tr h="566928">
                <a:tc>
                  <a:txBody>
                    <a:bodyPr/>
                    <a:lstStyle/>
                    <a:p>
                      <a:pPr indent="0" marL="0">
                        <a:buNone/>
                      </a:pPr>
                      <a:r>
                        <a:rPr lang="en-US" sz="1600" b="1" dirty="0">
                          <a:solidFill>
                            <a:schemeClr val="bg1"/>
                          </a:solidFill>
                        </a:rPr>
                        <a:t>Question</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accent1"/>
                    </a:solidFill>
                  </a:tcPr>
                </a:tc>
                <a:tc>
                  <a:txBody>
                    <a:bodyPr/>
                    <a:lstStyle/>
                    <a:p>
                      <a:pPr indent="0" marL="0">
                        <a:buNone/>
                      </a:pPr>
                      <a:r>
                        <a:rPr lang="en-US" sz="1600" b="1" dirty="0">
                          <a:solidFill>
                            <a:schemeClr val="bg1"/>
                          </a:solidFill>
                        </a:rPr>
                        <a:t>Example response</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accent1"/>
                    </a:solidFill>
                  </a:tcPr>
                </a:tc>
              </a:tr>
              <a:tr h="566928">
                <a:tc>
                  <a:txBody>
                    <a:bodyPr/>
                    <a:lstStyle/>
                    <a:p>
                      <a:pPr indent="0" marL="0">
                        <a:buNone/>
                      </a:pPr>
                      <a:r>
                        <a:rPr lang="en-US" sz="1600" b="1" dirty="0">
                          <a:solidFill>
                            <a:schemeClr val="tx1"/>
                          </a:solidFill>
                        </a:rPr>
                        <a:t>What did I expect the program to do?</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Print the total cost: 100 x 3 = 300</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r>
              <a:tr h="566928">
                <a:tc>
                  <a:txBody>
                    <a:bodyPr/>
                    <a:lstStyle/>
                    <a:p>
                      <a:pPr indent="0" marL="0">
                        <a:buNone/>
                      </a:pPr>
                      <a:r>
                        <a:rPr lang="en-US" sz="1600" b="1" dirty="0">
                          <a:solidFill>
                            <a:schemeClr val="tx1"/>
                          </a:solidFill>
                        </a:rPr>
                        <a:t>What actually happened?</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It printed 103</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r>
              <a:tr h="566928">
                <a:tc>
                  <a:txBody>
                    <a:bodyPr/>
                    <a:lstStyle/>
                    <a:p>
                      <a:pPr indent="0" marL="0">
                        <a:buNone/>
                      </a:pPr>
                      <a:r>
                        <a:rPr lang="en-US" sz="1600" b="1" dirty="0">
                          <a:solidFill>
                            <a:schemeClr val="tx1"/>
                          </a:solidFill>
                        </a:rPr>
                        <a:t>What type of error occurred?</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Logical error</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r>
              <a:tr h="566928">
                <a:tc>
                  <a:txBody>
                    <a:bodyPr/>
                    <a:lstStyle/>
                    <a:p>
                      <a:pPr indent="0" marL="0">
                        <a:buNone/>
                      </a:pPr>
                      <a:r>
                        <a:rPr lang="en-US" sz="1600" b="1" dirty="0">
                          <a:solidFill>
                            <a:schemeClr val="tx1"/>
                          </a:solidFill>
                        </a:rPr>
                        <a:t>What caused the error?</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The + operator was used instead of *</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r>
              <a:tr h="566928">
                <a:tc>
                  <a:txBody>
                    <a:bodyPr/>
                    <a:lstStyle/>
                    <a:p>
                      <a:pPr indent="0" marL="0">
                        <a:buNone/>
                      </a:pPr>
                      <a:r>
                        <a:rPr lang="en-US" sz="1600" b="1" dirty="0">
                          <a:solidFill>
                            <a:schemeClr val="tx1"/>
                          </a:solidFill>
                        </a:rPr>
                        <a:t>What change did I make?</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rPr>
                        <a:t>Changed price + quantity to price * quantity</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2"/>
                    </a:solidFill>
                  </a:tcPr>
                </a:tc>
              </a:tr>
              <a:tr h="566928">
                <a:tc>
                  <a:txBody>
                    <a:bodyPr/>
                    <a:lstStyle/>
                    <a:p>
                      <a:pPr indent="0" marL="0">
                        <a:buNone/>
                      </a:pPr>
                      <a:r>
                        <a:rPr lang="en-US" sz="1600" b="1" dirty="0">
                          <a:solidFill>
                            <a:schemeClr val="tx1"/>
                          </a:solidFill>
                        </a:rPr>
                        <a:t>How did I verify the fix?</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Reran the program: 300. Tried 50 x 2 and got 100</a:t>
                      </a:r>
                      <a:endParaRPr lang="en-US" sz="1600" dirty="0"/>
                    </a:p>
                  </a:txBody>
                  <a:tcPr marL="91440" marR="91440" marT="54864" marB="54864" anchor="ctr">
                    <a:lnL w="9525" cap="flat" cmpd="sng" algn="ctr">
                      <a:solidFill>
                        <a:srgbClr val="D5DAE3"/>
                      </a:solidFill>
                      <a:prstDash val="solid"/>
                      <a:round/>
                      <a:headEnd type="none" w="med" len="med"/>
                      <a:tailEnd type="none" w="med" len="med"/>
                    </a:lnL>
                    <a:lnR w="9525" cap="flat" cmpd="sng" algn="ctr">
                      <a:solidFill>
                        <a:srgbClr val="D5DAE3"/>
                      </a:solidFill>
                      <a:prstDash val="solid"/>
                      <a:round/>
                      <a:headEnd type="none" w="med" len="med"/>
                      <a:tailEnd type="none" w="med" len="med"/>
                    </a:lnR>
                    <a:lnT w="9525" cap="flat" cmpd="sng" algn="ctr">
                      <a:solidFill>
                        <a:srgbClr val="D5DAE3"/>
                      </a:solidFill>
                      <a:prstDash val="solid"/>
                      <a:round/>
                      <a:headEnd type="none" w="med" len="med"/>
                      <a:tailEnd type="none" w="med" len="med"/>
                    </a:lnT>
                    <a:lnB w="9525" cap="flat" cmpd="sng" algn="ctr">
                      <a:solidFill>
                        <a:srgbClr val="D5DAE3"/>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Exit ticket: Session 2</a:t>
            </a:r>
            <a:endParaRPr lang="en-US" sz="3000" dirty="0"/>
          </a:p>
        </p:txBody>
      </p:sp>
      <p:sp>
        <p:nvSpPr>
          <p:cNvPr id="4" name="Question card 1"/>
          <p:cNvSpPr/>
          <p:nvPr/>
        </p:nvSpPr>
        <p:spPr>
          <a:xfrm>
            <a:off x="548640" y="1463040"/>
            <a:ext cx="5413248" cy="2103120"/>
          </a:xfrm>
          <a:prstGeom prst="roundRect">
            <a:avLst>
              <a:gd name="adj" fmla="val 4348"/>
            </a:avLst>
          </a:prstGeom>
          <a:solidFill>
            <a:schemeClr val="bg2"/>
          </a:solidFill>
          <a:ln/>
        </p:spPr>
      </p:sp>
      <p:sp>
        <p:nvSpPr>
          <p:cNvPr id="5" name="Question marker"/>
          <p:cNvSpPr/>
          <p:nvPr/>
        </p:nvSpPr>
        <p:spPr>
          <a:xfrm>
            <a:off x="777240" y="1691640"/>
            <a:ext cx="502920" cy="502920"/>
          </a:xfrm>
          <a:prstGeom prst="ellipse">
            <a:avLst/>
          </a:prstGeom>
          <a:solidFill>
            <a:schemeClr val="accent1"/>
          </a:solidFill>
          <a:ln/>
        </p:spPr>
      </p:sp>
      <p:sp>
        <p:nvSpPr>
          <p:cNvPr id="6" name="Question number"/>
          <p:cNvSpPr txBox="1"/>
          <p:nvPr/>
        </p:nvSpPr>
        <p:spPr>
          <a:xfrm>
            <a:off x="777240" y="169164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Q1</a:t>
            </a:r>
            <a:endParaRPr lang="en-US" sz="1400" dirty="0"/>
          </a:p>
        </p:txBody>
      </p:sp>
      <p:sp>
        <p:nvSpPr>
          <p:cNvPr id="7" name="Question text"/>
          <p:cNvSpPr txBox="1"/>
          <p:nvPr/>
        </p:nvSpPr>
        <p:spPr>
          <a:xfrm>
            <a:off x="1463040" y="1600200"/>
            <a:ext cx="4270248" cy="1828800"/>
          </a:xfrm>
          <a:prstGeom prst="rect">
            <a:avLst/>
          </a:prstGeom>
          <a:noFill/>
          <a:ln/>
        </p:spPr>
        <p:txBody>
          <a:bodyPr wrap="square" lIns="0" tIns="0" rIns="0" bIns="0" rtlCol="0" anchor="ctr"/>
          <a:lstStyle/>
          <a:p>
            <a:pPr indent="0" marL="0">
              <a:buNone/>
            </a:pPr>
            <a:r>
              <a:rPr lang="en-US" sz="1900" dirty="0">
                <a:solidFill>
                  <a:schemeClr val="tx1"/>
                </a:solidFill>
              </a:rPr>
              <a:t>A program runs and prints 12 when the answer should be 20. Which type of error is this?</a:t>
            </a:r>
            <a:endParaRPr lang="en-US" sz="1900" dirty="0"/>
          </a:p>
        </p:txBody>
      </p:sp>
      <p:sp>
        <p:nvSpPr>
          <p:cNvPr id="8" name="Question card 2"/>
          <p:cNvSpPr/>
          <p:nvPr/>
        </p:nvSpPr>
        <p:spPr>
          <a:xfrm>
            <a:off x="6227064" y="1463040"/>
            <a:ext cx="5413248" cy="2103120"/>
          </a:xfrm>
          <a:prstGeom prst="roundRect">
            <a:avLst>
              <a:gd name="adj" fmla="val 4348"/>
            </a:avLst>
          </a:prstGeom>
          <a:solidFill>
            <a:schemeClr val="bg2"/>
          </a:solidFill>
          <a:ln/>
        </p:spPr>
      </p:sp>
      <p:sp>
        <p:nvSpPr>
          <p:cNvPr id="9" name="Question marker"/>
          <p:cNvSpPr/>
          <p:nvPr/>
        </p:nvSpPr>
        <p:spPr>
          <a:xfrm>
            <a:off x="6455664" y="1691640"/>
            <a:ext cx="502920" cy="502920"/>
          </a:xfrm>
          <a:prstGeom prst="ellipse">
            <a:avLst/>
          </a:prstGeom>
          <a:solidFill>
            <a:schemeClr val="accent1"/>
          </a:solidFill>
          <a:ln/>
        </p:spPr>
      </p:sp>
      <p:sp>
        <p:nvSpPr>
          <p:cNvPr id="10" name="Question number"/>
          <p:cNvSpPr txBox="1"/>
          <p:nvPr/>
        </p:nvSpPr>
        <p:spPr>
          <a:xfrm>
            <a:off x="6455664" y="169164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Q2</a:t>
            </a:r>
            <a:endParaRPr lang="en-US" sz="1400" dirty="0"/>
          </a:p>
        </p:txBody>
      </p:sp>
      <p:sp>
        <p:nvSpPr>
          <p:cNvPr id="11" name="Question text"/>
          <p:cNvSpPr txBox="1"/>
          <p:nvPr/>
        </p:nvSpPr>
        <p:spPr>
          <a:xfrm>
            <a:off x="7141464" y="1600200"/>
            <a:ext cx="4270248" cy="1828800"/>
          </a:xfrm>
          <a:prstGeom prst="rect">
            <a:avLst/>
          </a:prstGeom>
          <a:noFill/>
          <a:ln/>
        </p:spPr>
        <p:txBody>
          <a:bodyPr wrap="square" lIns="0" tIns="0" rIns="0" bIns="0" rtlCol="0" anchor="ctr"/>
          <a:lstStyle/>
          <a:p>
            <a:pPr indent="0" marL="0">
              <a:buNone/>
            </a:pPr>
            <a:r>
              <a:rPr lang="en-US" sz="1900" dirty="0">
                <a:solidFill>
                  <a:schemeClr val="tx1"/>
                </a:solidFill>
              </a:rPr>
              <a:t>Which error type does Python report before any code runs?</a:t>
            </a:r>
            <a:endParaRPr lang="en-US" sz="1900" dirty="0"/>
          </a:p>
        </p:txBody>
      </p:sp>
      <p:sp>
        <p:nvSpPr>
          <p:cNvPr id="12" name="Question card 3"/>
          <p:cNvSpPr/>
          <p:nvPr/>
        </p:nvSpPr>
        <p:spPr>
          <a:xfrm>
            <a:off x="548640" y="3794760"/>
            <a:ext cx="5413248" cy="2103120"/>
          </a:xfrm>
          <a:prstGeom prst="roundRect">
            <a:avLst>
              <a:gd name="adj" fmla="val 4348"/>
            </a:avLst>
          </a:prstGeom>
          <a:solidFill>
            <a:schemeClr val="bg2"/>
          </a:solidFill>
          <a:ln/>
        </p:spPr>
      </p:sp>
      <p:sp>
        <p:nvSpPr>
          <p:cNvPr id="13" name="Question marker"/>
          <p:cNvSpPr/>
          <p:nvPr/>
        </p:nvSpPr>
        <p:spPr>
          <a:xfrm>
            <a:off x="777240" y="4023360"/>
            <a:ext cx="502920" cy="502920"/>
          </a:xfrm>
          <a:prstGeom prst="ellipse">
            <a:avLst/>
          </a:prstGeom>
          <a:solidFill>
            <a:schemeClr val="accent1"/>
          </a:solidFill>
          <a:ln/>
        </p:spPr>
      </p:sp>
      <p:sp>
        <p:nvSpPr>
          <p:cNvPr id="14" name="Question number"/>
          <p:cNvSpPr txBox="1"/>
          <p:nvPr/>
        </p:nvSpPr>
        <p:spPr>
          <a:xfrm>
            <a:off x="777240" y="402336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Q3</a:t>
            </a:r>
            <a:endParaRPr lang="en-US" sz="1400" dirty="0"/>
          </a:p>
        </p:txBody>
      </p:sp>
      <p:sp>
        <p:nvSpPr>
          <p:cNvPr id="15" name="Question text"/>
          <p:cNvSpPr txBox="1"/>
          <p:nvPr/>
        </p:nvSpPr>
        <p:spPr>
          <a:xfrm>
            <a:off x="1463040" y="3931920"/>
            <a:ext cx="4270248" cy="1828800"/>
          </a:xfrm>
          <a:prstGeom prst="rect">
            <a:avLst/>
          </a:prstGeom>
          <a:noFill/>
          <a:ln/>
        </p:spPr>
        <p:txBody>
          <a:bodyPr wrap="square" lIns="0" tIns="0" rIns="0" bIns="0" rtlCol="0" anchor="ctr"/>
          <a:lstStyle/>
          <a:p>
            <a:pPr indent="0" marL="0">
              <a:buNone/>
            </a:pPr>
            <a:r>
              <a:rPr lang="en-US" sz="1900" dirty="0">
                <a:solidFill>
                  <a:schemeClr val="tx1"/>
                </a:solidFill>
              </a:rPr>
              <a:t>List the four steps of the debugging workflow in order.</a:t>
            </a:r>
            <a:endParaRPr lang="en-US" sz="1900" dirty="0"/>
          </a:p>
        </p:txBody>
      </p:sp>
      <p:sp>
        <p:nvSpPr>
          <p:cNvPr id="16" name="Question card 4"/>
          <p:cNvSpPr/>
          <p:nvPr/>
        </p:nvSpPr>
        <p:spPr>
          <a:xfrm>
            <a:off x="6227064" y="3794760"/>
            <a:ext cx="5413248" cy="2103120"/>
          </a:xfrm>
          <a:prstGeom prst="roundRect">
            <a:avLst>
              <a:gd name="adj" fmla="val 4348"/>
            </a:avLst>
          </a:prstGeom>
          <a:solidFill>
            <a:schemeClr val="bg2"/>
          </a:solidFill>
          <a:ln/>
        </p:spPr>
      </p:sp>
      <p:sp>
        <p:nvSpPr>
          <p:cNvPr id="17" name="Question marker"/>
          <p:cNvSpPr/>
          <p:nvPr/>
        </p:nvSpPr>
        <p:spPr>
          <a:xfrm>
            <a:off x="6455664" y="4023360"/>
            <a:ext cx="502920" cy="502920"/>
          </a:xfrm>
          <a:prstGeom prst="ellipse">
            <a:avLst/>
          </a:prstGeom>
          <a:solidFill>
            <a:schemeClr val="accent1"/>
          </a:solidFill>
          <a:ln/>
        </p:spPr>
      </p:sp>
      <p:sp>
        <p:nvSpPr>
          <p:cNvPr id="18" name="Question number"/>
          <p:cNvSpPr txBox="1"/>
          <p:nvPr/>
        </p:nvSpPr>
        <p:spPr>
          <a:xfrm>
            <a:off x="6455664" y="4023360"/>
            <a:ext cx="502920" cy="502920"/>
          </a:xfrm>
          <a:prstGeom prst="rect">
            <a:avLst/>
          </a:prstGeom>
          <a:noFill/>
          <a:ln/>
        </p:spPr>
        <p:txBody>
          <a:bodyPr wrap="square" lIns="0" tIns="0" rIns="0" bIns="0" rtlCol="0" anchor="ctr"/>
          <a:lstStyle/>
          <a:p>
            <a:pPr algn="ctr" indent="0" marL="0">
              <a:buNone/>
            </a:pPr>
            <a:r>
              <a:rPr lang="en-US" sz="1400" b="1" dirty="0">
                <a:solidFill>
                  <a:schemeClr val="bg1"/>
                </a:solidFill>
              </a:rPr>
              <a:t>Q4</a:t>
            </a:r>
            <a:endParaRPr lang="en-US" sz="1400" dirty="0"/>
          </a:p>
        </p:txBody>
      </p:sp>
      <p:sp>
        <p:nvSpPr>
          <p:cNvPr id="19" name="Question text"/>
          <p:cNvSpPr txBox="1"/>
          <p:nvPr/>
        </p:nvSpPr>
        <p:spPr>
          <a:xfrm>
            <a:off x="7141464" y="3931920"/>
            <a:ext cx="4270248" cy="1828800"/>
          </a:xfrm>
          <a:prstGeom prst="rect">
            <a:avLst/>
          </a:prstGeom>
          <a:noFill/>
          <a:ln/>
        </p:spPr>
        <p:txBody>
          <a:bodyPr wrap="square" lIns="0" tIns="0" rIns="0" bIns="0" rtlCol="0" anchor="ctr"/>
          <a:lstStyle/>
          <a:p>
            <a:pPr indent="0" marL="0">
              <a:buNone/>
            </a:pPr>
            <a:r>
              <a:rPr lang="en-US" sz="1900" dirty="0">
                <a:solidFill>
                  <a:schemeClr val="tx1"/>
                </a:solidFill>
              </a:rPr>
              <a:t>Why is it not enough to say "I fixed it"?</a:t>
            </a:r>
            <a:endParaRPr lang="en-US" sz="19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2" type="title" hasCustomPrompt="1"/>
          </p:nvPr>
        </p:nvSpPr>
        <p:spPr>
          <a:xfrm>
            <a:off x="548640" y="274320"/>
            <a:ext cx="8778240" cy="868680"/>
          </a:xfrm>
          <a:prstGeom prst="rect">
            <a:avLst/>
          </a:prstGeom>
          <a:noFill/>
          <a:ln/>
        </p:spPr>
        <p:txBody>
          <a:bodyPr wrap="square" lIns="0" tIns="0" rIns="0" bIns="0" rtlCol="0" anchor="ctr"/>
          <a:lstStyle/>
          <a:p>
            <a:pPr algn="l" indent="0" marL="0">
              <a:buNone/>
            </a:pPr>
            <a:r>
              <a:rPr lang="en-US" sz="3000" b="1" dirty="0">
                <a:solidFill>
                  <a:schemeClr val="accent1"/>
                </a:solidFill>
              </a:rPr>
              <a:t>Class 1 summary</a:t>
            </a:r>
            <a:endParaRPr lang="en-US" sz="3000" dirty="0"/>
          </a:p>
        </p:txBody>
      </p:sp>
      <p:sp>
        <p:nvSpPr>
          <p:cNvPr id="4" name="Card 1"/>
          <p:cNvSpPr/>
          <p:nvPr/>
        </p:nvSpPr>
        <p:spPr>
          <a:xfrm>
            <a:off x="548640" y="1463040"/>
            <a:ext cx="3520440" cy="4023360"/>
          </a:xfrm>
          <a:prstGeom prst="roundRect">
            <a:avLst>
              <a:gd name="adj" fmla="val 2597"/>
            </a:avLst>
          </a:prstGeom>
          <a:solidFill>
            <a:schemeClr val="bg2"/>
          </a:solidFill>
          <a:ln/>
        </p:spPr>
      </p:sp>
      <p:sp>
        <p:nvSpPr>
          <p:cNvPr id="5" name="Icon circle"/>
          <p:cNvSpPr/>
          <p:nvPr/>
        </p:nvSpPr>
        <p:spPr>
          <a:xfrm>
            <a:off x="822960" y="1737360"/>
            <a:ext cx="777240" cy="777240"/>
          </a:xfrm>
          <a:prstGeom prst="ellipse">
            <a:avLst/>
          </a:prstGeom>
          <a:solidFill>
            <a:schemeClr val="accent1"/>
          </a:solidFill>
          <a:ln/>
        </p:spPr>
      </p:sp>
      <p:pic>
        <p:nvPicPr>
          <p:cNvPr id="6" name="Icon FaCheckCircle" descr="CheckCircle icon">    </p:cNvPr>
          <p:cNvPicPr>
            <a:picLocks noChangeAspect="1"/>
          </p:cNvPicPr>
          <p:nvPr/>
        </p:nvPicPr>
        <p:blipFill>
          <a:blip r:embed="rId1"/>
          <a:stretch>
            <a:fillRect/>
          </a:stretch>
        </p:blipFill>
        <p:spPr>
          <a:xfrm>
            <a:off x="1025042" y="1939442"/>
            <a:ext cx="373075" cy="373075"/>
          </a:xfrm>
          <a:prstGeom prst="rect">
            <a:avLst/>
          </a:prstGeom>
        </p:spPr>
      </p:pic>
      <p:sp>
        <p:nvSpPr>
          <p:cNvPr id="7" name="Text 31"/>
          <p:cNvSpPr txBox="1"/>
          <p:nvPr/>
        </p:nvSpPr>
        <p:spPr>
          <a:xfrm>
            <a:off x="822960" y="2697480"/>
            <a:ext cx="2971800" cy="548640"/>
          </a:xfrm>
          <a:prstGeom prst="rect">
            <a:avLst/>
          </a:prstGeom>
          <a:noFill/>
          <a:ln/>
        </p:spPr>
        <p:txBody>
          <a:bodyPr wrap="square" lIns="0" tIns="0" rIns="0" bIns="0" rtlCol="0" anchor="t"/>
          <a:lstStyle/>
          <a:p>
            <a:pPr indent="0" marL="0">
              <a:buNone/>
            </a:pPr>
            <a:r>
              <a:rPr lang="en-US" sz="2400" b="1" dirty="0">
                <a:solidFill>
                  <a:schemeClr val="accent1"/>
                </a:solidFill>
              </a:rPr>
              <a:t>Today you did</a:t>
            </a:r>
            <a:endParaRPr lang="en-US" sz="2400" dirty="0"/>
          </a:p>
        </p:txBody>
      </p:sp>
      <p:sp>
        <p:nvSpPr>
          <p:cNvPr id="8" name="Text 32"/>
          <p:cNvSpPr txBox="1"/>
          <p:nvPr/>
        </p:nvSpPr>
        <p:spPr>
          <a:xfrm>
            <a:off x="822960" y="3337560"/>
            <a:ext cx="2971800" cy="1920240"/>
          </a:xfrm>
          <a:prstGeom prst="rect">
            <a:avLst/>
          </a:prstGeom>
          <a:noFill/>
          <a:ln/>
        </p:spPr>
        <p:txBody>
          <a:bodyPr wrap="square" lIns="0" tIns="0" rIns="0" bIns="0" rtlCol="0" anchor="t"/>
          <a:lstStyle/>
          <a:p>
            <a:pPr indent="0" marL="0">
              <a:spcAft>
                <a:spcPts val="400"/>
              </a:spcAft>
              <a:buNone/>
            </a:pPr>
            <a:r>
              <a:rPr lang="en-US" sz="1900" dirty="0">
                <a:solidFill>
                  <a:schemeClr val="tx1"/>
                </a:solidFill>
              </a:rPr>
              <a:t>Navigated VS Code, ran a Python project, classified three types of error and used the debugging workflow.</a:t>
            </a:r>
            <a:endParaRPr lang="en-US" sz="1900" dirty="0"/>
          </a:p>
        </p:txBody>
      </p:sp>
      <p:sp>
        <p:nvSpPr>
          <p:cNvPr id="9" name="Card 2"/>
          <p:cNvSpPr/>
          <p:nvPr/>
        </p:nvSpPr>
        <p:spPr>
          <a:xfrm>
            <a:off x="4334256" y="1463040"/>
            <a:ext cx="3520440" cy="4023360"/>
          </a:xfrm>
          <a:prstGeom prst="roundRect">
            <a:avLst>
              <a:gd name="adj" fmla="val 2597"/>
            </a:avLst>
          </a:prstGeom>
          <a:solidFill>
            <a:schemeClr val="bg2"/>
          </a:solidFill>
          <a:ln/>
        </p:spPr>
      </p:sp>
      <p:sp>
        <p:nvSpPr>
          <p:cNvPr id="10" name="Icon circle"/>
          <p:cNvSpPr/>
          <p:nvPr/>
        </p:nvSpPr>
        <p:spPr>
          <a:xfrm>
            <a:off x="4608576" y="1737360"/>
            <a:ext cx="777240" cy="777240"/>
          </a:xfrm>
          <a:prstGeom prst="ellipse">
            <a:avLst/>
          </a:prstGeom>
          <a:solidFill>
            <a:schemeClr val="accent1"/>
          </a:solidFill>
          <a:ln/>
        </p:spPr>
      </p:sp>
      <p:pic>
        <p:nvPicPr>
          <p:cNvPr id="11" name="Icon FaClipboardCheck" descr="ClipboardCheck icon">    </p:cNvPr>
          <p:cNvPicPr>
            <a:picLocks noChangeAspect="1"/>
          </p:cNvPicPr>
          <p:nvPr/>
        </p:nvPicPr>
        <p:blipFill>
          <a:blip r:embed="rId2"/>
          <a:stretch>
            <a:fillRect/>
          </a:stretch>
        </p:blipFill>
        <p:spPr>
          <a:xfrm>
            <a:off x="4810658" y="1939442"/>
            <a:ext cx="373075" cy="373075"/>
          </a:xfrm>
          <a:prstGeom prst="rect">
            <a:avLst/>
          </a:prstGeom>
        </p:spPr>
      </p:pic>
      <p:sp>
        <p:nvSpPr>
          <p:cNvPr id="12" name="Text 33"/>
          <p:cNvSpPr txBox="1"/>
          <p:nvPr/>
        </p:nvSpPr>
        <p:spPr>
          <a:xfrm>
            <a:off x="4608576" y="2697480"/>
            <a:ext cx="2971800" cy="548640"/>
          </a:xfrm>
          <a:prstGeom prst="rect">
            <a:avLst/>
          </a:prstGeom>
          <a:noFill/>
          <a:ln/>
        </p:spPr>
        <p:txBody>
          <a:bodyPr wrap="square" lIns="0" tIns="0" rIns="0" bIns="0" rtlCol="0" anchor="t"/>
          <a:lstStyle/>
          <a:p>
            <a:pPr indent="0" marL="0">
              <a:buNone/>
            </a:pPr>
            <a:r>
              <a:rPr lang="en-US" sz="2400" b="1" dirty="0">
                <a:solidFill>
                  <a:schemeClr val="accent1"/>
                </a:solidFill>
              </a:rPr>
              <a:t>Evidence to submit</a:t>
            </a:r>
            <a:endParaRPr lang="en-US" sz="2400" dirty="0"/>
          </a:p>
        </p:txBody>
      </p:sp>
      <p:sp>
        <p:nvSpPr>
          <p:cNvPr id="13" name="Text 34"/>
          <p:cNvSpPr txBox="1"/>
          <p:nvPr/>
        </p:nvSpPr>
        <p:spPr>
          <a:xfrm>
            <a:off x="4608576" y="3337560"/>
            <a:ext cx="2971800" cy="1920240"/>
          </a:xfrm>
          <a:prstGeom prst="rect">
            <a:avLst/>
          </a:prstGeom>
          <a:noFill/>
          <a:ln/>
        </p:spPr>
        <p:txBody>
          <a:bodyPr wrap="square" lIns="0" tIns="0" rIns="0" bIns="0" rtlCol="0" anchor="t"/>
          <a:lstStyle/>
          <a:p>
            <a:pPr indent="0" marL="0">
              <a:spcAft>
                <a:spcPts val="400"/>
              </a:spcAft>
              <a:buNone/>
            </a:pPr>
            <a:r>
              <a:rPr lang="en-US" sz="1900" dirty="0">
                <a:solidFill>
                  <a:schemeClr val="tx1"/>
                </a:solidFill>
              </a:rPr>
              <a:t>Working main.py, IDE component checklist, three corrected programs and one debugging report.</a:t>
            </a:r>
            <a:endParaRPr lang="en-US" sz="1900" dirty="0"/>
          </a:p>
        </p:txBody>
      </p:sp>
      <p:sp>
        <p:nvSpPr>
          <p:cNvPr id="14" name="Card 3"/>
          <p:cNvSpPr/>
          <p:nvPr/>
        </p:nvSpPr>
        <p:spPr>
          <a:xfrm>
            <a:off x="8119872" y="1463040"/>
            <a:ext cx="3520440" cy="4023360"/>
          </a:xfrm>
          <a:prstGeom prst="roundRect">
            <a:avLst>
              <a:gd name="adj" fmla="val 2597"/>
            </a:avLst>
          </a:prstGeom>
          <a:solidFill>
            <a:schemeClr val="bg2"/>
          </a:solidFill>
          <a:ln/>
        </p:spPr>
      </p:sp>
      <p:sp>
        <p:nvSpPr>
          <p:cNvPr id="15" name="Icon circle"/>
          <p:cNvSpPr/>
          <p:nvPr/>
        </p:nvSpPr>
        <p:spPr>
          <a:xfrm>
            <a:off x="8394192" y="1737360"/>
            <a:ext cx="777240" cy="777240"/>
          </a:xfrm>
          <a:prstGeom prst="ellipse">
            <a:avLst/>
          </a:prstGeom>
          <a:solidFill>
            <a:schemeClr val="accent1"/>
          </a:solidFill>
          <a:ln/>
        </p:spPr>
      </p:sp>
      <p:pic>
        <p:nvPicPr>
          <p:cNvPr id="16" name="Icon FaRocket" descr="Rocket icon">    </p:cNvPr>
          <p:cNvPicPr>
            <a:picLocks noChangeAspect="1"/>
          </p:cNvPicPr>
          <p:nvPr/>
        </p:nvPicPr>
        <p:blipFill>
          <a:blip r:embed="rId3"/>
          <a:stretch>
            <a:fillRect/>
          </a:stretch>
        </p:blipFill>
        <p:spPr>
          <a:xfrm>
            <a:off x="8596274" y="1939442"/>
            <a:ext cx="373075" cy="373075"/>
          </a:xfrm>
          <a:prstGeom prst="rect">
            <a:avLst/>
          </a:prstGeom>
        </p:spPr>
      </p:pic>
      <p:sp>
        <p:nvSpPr>
          <p:cNvPr id="17" name="Text 35"/>
          <p:cNvSpPr txBox="1"/>
          <p:nvPr/>
        </p:nvSpPr>
        <p:spPr>
          <a:xfrm>
            <a:off x="8394192" y="2697480"/>
            <a:ext cx="2971800" cy="548640"/>
          </a:xfrm>
          <a:prstGeom prst="rect">
            <a:avLst/>
          </a:prstGeom>
          <a:noFill/>
          <a:ln/>
        </p:spPr>
        <p:txBody>
          <a:bodyPr wrap="square" lIns="0" tIns="0" rIns="0" bIns="0" rtlCol="0" anchor="t"/>
          <a:lstStyle/>
          <a:p>
            <a:pPr indent="0" marL="0">
              <a:buNone/>
            </a:pPr>
            <a:r>
              <a:rPr lang="en-US" sz="2400" b="1" dirty="0">
                <a:solidFill>
                  <a:schemeClr val="accent1"/>
                </a:solidFill>
              </a:rPr>
              <a:t>Next class</a:t>
            </a:r>
            <a:endParaRPr lang="en-US" sz="2400" dirty="0"/>
          </a:p>
        </p:txBody>
      </p:sp>
      <p:sp>
        <p:nvSpPr>
          <p:cNvPr id="18" name="Text 36"/>
          <p:cNvSpPr txBox="1"/>
          <p:nvPr/>
        </p:nvSpPr>
        <p:spPr>
          <a:xfrm>
            <a:off x="8394192" y="3337560"/>
            <a:ext cx="2971800" cy="1920240"/>
          </a:xfrm>
          <a:prstGeom prst="rect">
            <a:avLst/>
          </a:prstGeom>
          <a:noFill/>
          <a:ln/>
        </p:spPr>
        <p:txBody>
          <a:bodyPr wrap="square" lIns="0" tIns="0" rIns="0" bIns="0" rtlCol="0" anchor="t"/>
          <a:lstStyle/>
          <a:p>
            <a:pPr indent="0" marL="0">
              <a:spcAft>
                <a:spcPts val="400"/>
              </a:spcAft>
              <a:buNone/>
            </a:pPr>
            <a:r>
              <a:rPr lang="en-US" sz="1900" dirty="0">
                <a:solidFill>
                  <a:schemeClr val="tx1"/>
                </a:solidFill>
              </a:rPr>
              <a:t>Breakpoints, watch lists and tracing in the VS Code debugger, then coding standards and refactoring.</a:t>
            </a:r>
            <a:endParaRPr lang="en-US" sz="19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KCIC Navy Gold">
  <a:themeElements>
    <a:clrScheme name="KCIC Navy Gold">
      <a:dk1>
        <a:srgbClr val="1F2937"/>
      </a:dk1>
      <a:lt1>
        <a:srgbClr val="FFFFFF"/>
      </a:lt1>
      <a:dk2>
        <a:srgbClr val="03265E"/>
      </a:dk2>
      <a:lt2>
        <a:srgbClr val="F1F4F9"/>
      </a:lt2>
      <a:accent1>
        <a:srgbClr val="03265E"/>
      </a:accent1>
      <a:accent2>
        <a:srgbClr val="B8975A"/>
      </a:accent2>
      <a:accent3>
        <a:srgbClr val="1E7A4F"/>
      </a:accent3>
      <a:accent4>
        <a:srgbClr val="B3261E"/>
      </a:accent4>
      <a:accent5>
        <a:srgbClr val="2F6DB5"/>
      </a:accent5>
      <a:accent6>
        <a:srgbClr val="5B6678"/>
      </a:accent6>
      <a:hlink>
        <a:srgbClr val="2F6DB5"/>
      </a:hlink>
      <a:folHlink>
        <a:srgbClr val="5B6678"/>
      </a:folHlink>
    </a:clrScheme>
    <a:fontScheme name="KCIC Navy Gol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Kings Cornerstone International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1 - Development Tools and Debugging Fundamentals</dc:title>
  <dc:subject>Sessions 1-2</dc:subject>
  <dc:creator>KCIC Computing Department</dc:creator>
  <cp:lastModifiedBy>KCIC Computing Department</cp:lastModifiedBy>
  <cp:revision>1</cp:revision>
  <dcterms:created xsi:type="dcterms:W3CDTF">2026-10-11T08:16:47Z</dcterms:created>
  <dcterms:modified xsi:type="dcterms:W3CDTF">2026-10-11T08:16:47Z</dcterms:modified>
</cp:coreProperties>
</file>