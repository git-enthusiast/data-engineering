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e9370a1-c254-49d8-5015-f621235f120a}">
          <p14:sldIdLst>
            <p14:sldId id="256"/>
            <p14:sldId id="257"/>
          </p14:sldIdLst>
        </p14:section>
        <p14:section name="Session 5 - Secure programming and testing" id="{7d486d70-6603-042e-43d4-0aa996400f53}">
          <p14:sldIdLst>
            <p14:sldId id="258"/>
            <p14:sldId id="259"/>
            <p14:sldId id="260"/>
            <p14:sldId id="261"/>
            <p14:sldId id="262"/>
            <p14:sldId id="263"/>
            <p14:sldId id="264"/>
            <p14:sldId id="265"/>
            <p14:sldId id="266"/>
            <p14:sldId id="267"/>
            <p14:sldId id="268"/>
            <p14:sldId id="269"/>
            <p14:sldId id="270"/>
            <p14:sldId id="271"/>
            <p14:sldId id="272"/>
          </p14:sldIdLst>
        </p14:section>
        <p14:section name="Session 6 - Build, manage and deliver an application" id="{6174e871-2b51-4cae-5b5b-ee3992e065a8}">
          <p14:sldIdLst>
            <p14:sldId id="273"/>
            <p14:sldId id="274"/>
            <p14:sldId id="275"/>
            <p14:sldId id="276"/>
            <p14:sldId id="277"/>
            <p14:sldId id="278"/>
            <p14:sldId id="279"/>
            <p14:sldId id="280"/>
            <p14:sldId id="281"/>
            <p14:sldId id="282"/>
            <p14:sldId id="283"/>
            <p14:sldId id="284"/>
          </p14:sldIdLst>
        </p14:section>
        <p14:section name="Summary" id="{9ad4f670-feea-7034-044c-7bdef33176f5}">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3. Session 5 builds secure-coding and testing habits. Session 6 applies everything to one small application, the Task Tracker. Have the Task_Tracker starter project ready to distribute.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Classes 1 and 2: tools, debugging and standards all come together in the final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Pearson alignment LO3 and LO4.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Demonstrate by typing abc. The traceback is a runtime error from Class 1. Ask what the user experience is and whether the program is reliable. Then ask what a malicious or careless user could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plan. Remind students that the application they secure today is the one they extend in Session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 min. Keep this brisk; each risk gets its own live slide next. Frame security as everyday good practice, not specialist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 min. Build this live from the unsafe starter. Walk through three test inputs: abc, 0, -2, then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why eval is dangerous with a harmless demonstration: type __import__("os").getcwd() into the unsafe version and it runs Python code and reveals the working folder. Explain that the same route could run far more harmful code. Never run unknown input through 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except with pass swallows everything including genuine bugs and even keyboard interrupts. Always name the exception you expect and respond meaningfully.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Hard-coded secrets end up in version control and shared copies. Environment variables or a configuration file excluded from Git are safer. Error messages must not print secrets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user-supplied filenames can point anywhere on disk. The check keeps access inside one folder. Keep this conceptual for beginners; do not go deep into path traversal.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has four deliberate flaws: no validation, bare except, hard-coded key and an eval-style shortcut. Circulate and prompt rather than give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45-60 min. Make the distinction crisp: testing finds that something is wrong, debugging finds why. They form a loop: test, debug, retest.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45-60 min. Fill the first three rows together, then students complete the rest by running the program. Boundary cases sit at the edge of what is allowed: 1 is the smallest valid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Show that the same five test cases from the table can be automated. Link back to Session 4: functions that return values are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students record the actual result, not just tick Pass. Failed tests are valuable evidence if they were then fixed and retested.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70-75 min. Suggested answers: (1) it runs user text as code; (2) a value at the edge of the allowed range, for example 1; (3) testing checks behaviour, debugging finds the cause; (4) they leak through shared files and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Primarily LO3, drawing on LO4.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Introduce requirements and show the finished app running (run the tutor solution). Students already know functions, loops and data structures, so they concentrate on development practice, not new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plan. This session is almost entirely student-driven.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 min. Demonstrate the folder, run main.py, then run tests.py and show red results. Explain that green tests are part of the definition of done. A documented manual test table is also acceptable for students who prefer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 min. Students read the code and list what is missing or unsafe. Use Class 1-3 skills: the debugger to trace behaviour, standards to judge quality, validation to protect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card to evidence. Note that this is a teaching checklist and not a substitute for mapping evidence to the assignment Pass, Merit and Distinction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functions are deliberately small. Students who finish early can add a save-to-file feature. Remind them to use the debugger from Session 3 when a test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42-52 min. Students run each case, record the result and use the debugger on any failure. This table plus the tests.py output is the testing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52-60 min. A good README lets another person run the project without asking you anything. Test it: could your partner follow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briefly. Aim for reproducible, runnable delivery rather than full production deployment. Git can be introduced as an extra code-management skill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means someone else can run it. Note any README gaps students discover. Pairs of different ability work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68-75 min. Collect evidence on Moodle. Ask each student to write two sentences of reflection. Congratulate the class on completing all six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Students should now see debugging, standards, security and testing as one connected development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9682996" y="347472"/>
            <a:ext cx="1960059" cy="420624"/>
          </a:xfrm>
          <a:prstGeom prst="rect">
            <a:avLst/>
          </a:prstGeom>
        </p:spPr>
      </p:pic>
      <p:sp>
        <p:nvSpPr>
          <p:cNvPr id="3"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chemeClr val="accent6"/>
                </a:solidFill>
              </a:rPr>
              <a:t>KCIC  |  Pearson BTEC HND Computing  |  Development Tools, Debugging &amp; Secure Delivery</a:t>
            </a:r>
            <a:endParaRPr lang="en-US" sz="1000" dirty="0"/>
          </a:p>
        </p:txBody>
      </p:sp>
      <p:sp>
        <p:nvSpPr>
          <p:cNvPr id="4" name="Text 1"/>
          <p:cNvSpPr/>
          <p:nvPr>
            <p:ph idx="102" type="title" hasCustomPrompt="1"/>
          </p:nvPr>
        </p:nvSpPr>
        <p:spPr>
          <a:xfrm>
            <a:off x="548640" y="274320"/>
            <a:ext cx="877824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777240" y="640080"/>
            <a:ext cx="1960059" cy="420624"/>
          </a:xfrm>
          <a:prstGeom prst="rect">
            <a:avLst/>
          </a:prstGeom>
        </p:spPr>
      </p:pic>
      <p:sp>
        <p:nvSpPr>
          <p:cNvPr id="3" name="Text 0"/>
          <p:cNvSpPr/>
          <p:nvPr>
            <p:ph idx="102" type="title" hasCustomPrompt="1"/>
          </p:nvPr>
        </p:nvSpPr>
        <p:spPr>
          <a:xfrm>
            <a:off x="822960" y="2103120"/>
            <a:ext cx="87782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3" type="body" hasCustomPrompt="1"/>
          </p:nvPr>
        </p:nvSpPr>
        <p:spPr>
          <a:xfrm>
            <a:off x="822960" y="4023360"/>
            <a:ext cx="877824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nvSpPr>
        <p:spPr>
          <a:xfrm>
            <a:off x="822960" y="6126480"/>
            <a:ext cx="10058400" cy="320040"/>
          </a:xfrm>
          <a:prstGeom prst="rect">
            <a:avLst/>
          </a:prstGeom>
          <a:noFill/>
          <a:ln/>
        </p:spPr>
        <p:txBody>
          <a:bodyPr wrap="square" lIns="0" tIns="0" rIns="0" bIns="0" rtlCol="0" anchor="ctr"/>
          <a:lstStyle/>
          <a:p>
            <a:pPr indent="0" marL="0">
              <a:buNone/>
            </a:pPr>
            <a:r>
              <a:rPr lang="en-US" sz="1200" dirty="0">
                <a:solidFill>
                  <a:schemeClr val="accent2"/>
                </a:solidFill>
              </a:rPr>
              <a:t>Kings Cornerstone International College  |  Pearson BTEC Higher National Diploma in Computing</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777240" y="640080"/>
            <a:ext cx="1960059" cy="420624"/>
          </a:xfrm>
          <a:prstGeom prst="rect">
            <a:avLst/>
          </a:prstGeom>
        </p:spPr>
      </p:pic>
      <p:sp>
        <p:nvSpPr>
          <p:cNvPr id="3" name="Text 0"/>
          <p:cNvSpPr/>
          <p:nvPr>
            <p:ph idx="102" type="title" hasCustomPrompt="1"/>
          </p:nvPr>
        </p:nvSpPr>
        <p:spPr>
          <a:xfrm>
            <a:off x="3017520" y="2377440"/>
            <a:ext cx="822960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0"/>
          <p:cNvSpPr/>
          <p:nvPr>
            <p:ph idx="103" type="body" hasCustomPrompt="1"/>
          </p:nvPr>
        </p:nvSpPr>
        <p:spPr>
          <a:xfrm>
            <a:off x="3017520" y="3840480"/>
            <a:ext cx="82296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822960" y="2103120"/>
            <a:ext cx="8778240" cy="1737360"/>
          </a:xfrm>
          <a:prstGeom prst="rect">
            <a:avLst/>
          </a:prstGeom>
          <a:noFill/>
          <a:ln/>
        </p:spPr>
        <p:txBody>
          <a:bodyPr wrap="square" lIns="0" tIns="0" rIns="0" bIns="0" rtlCol="0" anchor="t"/>
          <a:lstStyle/>
          <a:p>
            <a:pPr algn="l" indent="0" marL="0">
              <a:buNone/>
            </a:pPr>
            <a:r>
              <a:rPr lang="en-US" sz="4400" b="1" dirty="0">
                <a:solidFill>
                  <a:schemeClr val="bg1"/>
                </a:solidFill>
              </a:rPr>
              <a:t>Class 3: Security, Testing and Application Delivery</a:t>
            </a:r>
            <a:endParaRPr lang="en-US" sz="4400" dirty="0"/>
          </a:p>
        </p:txBody>
      </p:sp>
      <p:sp>
        <p:nvSpPr>
          <p:cNvPr id="3" name="Text 0"/>
          <p:cNvSpPr/>
          <p:nvPr>
            <p:ph idx="103" type="body" hasCustomPrompt="1"/>
          </p:nvPr>
        </p:nvSpPr>
        <p:spPr>
          <a:xfrm>
            <a:off x="822960" y="4023360"/>
            <a:ext cx="8778240" cy="1097280"/>
          </a:xfrm>
          <a:prstGeom prst="rect">
            <a:avLst/>
          </a:prstGeom>
          <a:noFill/>
          <a:ln/>
        </p:spPr>
        <p:txBody>
          <a:bodyPr wrap="square" lIns="0" tIns="0" rIns="0" bIns="0" rtlCol="0" anchor="t"/>
          <a:lstStyle/>
          <a:p>
            <a:pPr algn="l" indent="0" marL="0">
              <a:buNone/>
            </a:pPr>
            <a:r>
              <a:rPr lang="en-US" sz="2000" dirty="0">
                <a:solidFill>
                  <a:schemeClr val="bg2"/>
                </a:solidFill>
              </a:rPr>
              <a:t>Sessions 5 and 6  |  150 minutes  |  Learning outcomes LO3 and LO4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Class 3 at a glance</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ShieldAlt" descr="ShieldAlt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1"/>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Session 5 (75 min)</a:t>
            </a:r>
            <a:endParaRPr lang="en-US" sz="2400" dirty="0"/>
          </a:p>
        </p:txBody>
      </p:sp>
      <p:sp>
        <p:nvSpPr>
          <p:cNvPr id="8" name="Text 2"/>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Secure programming and testing: validate input, avoid unsafe code, handle errors and test systematically.</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Rocket" descr="Rocket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3"/>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Session 6 (75 min)</a:t>
            </a:r>
            <a:endParaRPr lang="en-US" sz="2400" dirty="0"/>
          </a:p>
        </p:txBody>
      </p:sp>
      <p:sp>
        <p:nvSpPr>
          <p:cNvPr id="13" name="Text 4"/>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Build, manage and deliver a Task Tracker CLI application with documentation and test evidence.</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CheckCircle" descr="CheckCircle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5"/>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You leave able to</a:t>
            </a:r>
            <a:endParaRPr lang="en-US" sz="2400" dirty="0"/>
          </a:p>
        </p:txBody>
      </p:sp>
      <p:sp>
        <p:nvSpPr>
          <p:cNvPr id="18" name="Text 6"/>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Deliver a runnable, tested and documented Python application and explain how you debugged and verified it.</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ssion badge"/>
          <p:cNvSpPr/>
          <p:nvPr/>
        </p:nvSpPr>
        <p:spPr>
          <a:xfrm>
            <a:off x="822960" y="2514600"/>
            <a:ext cx="1737360" cy="1737360"/>
          </a:xfrm>
          <a:prstGeom prst="ellipse">
            <a:avLst/>
          </a:prstGeom>
          <a:solidFill>
            <a:schemeClr val="accent2"/>
          </a:solidFill>
          <a:ln/>
        </p:spPr>
      </p:sp>
      <p:sp>
        <p:nvSpPr>
          <p:cNvPr id="3" name="Session number"/>
          <p:cNvSpPr txBox="1"/>
          <p:nvPr/>
        </p:nvSpPr>
        <p:spPr>
          <a:xfrm>
            <a:off x="822960" y="2514600"/>
            <a:ext cx="1737360" cy="1737360"/>
          </a:xfrm>
          <a:prstGeom prst="rect">
            <a:avLst/>
          </a:prstGeom>
          <a:noFill/>
          <a:ln/>
        </p:spPr>
        <p:txBody>
          <a:bodyPr wrap="square" lIns="0" tIns="0" rIns="0" bIns="0" rtlCol="0" anchor="ctr"/>
          <a:lstStyle/>
          <a:p>
            <a:pPr algn="ctr" indent="0" marL="0">
              <a:buNone/>
            </a:pPr>
            <a:r>
              <a:rPr lang="en-US" sz="8000" b="1" dirty="0">
                <a:solidFill>
                  <a:schemeClr val="accent1"/>
                </a:solidFill>
                <a:latin typeface="Cambria" pitchFamily="34" charset="0"/>
                <a:ea typeface="Cambria" pitchFamily="34" charset="-122"/>
                <a:cs typeface="Cambria" pitchFamily="34" charset="-120"/>
              </a:rPr>
              <a:t>5</a:t>
            </a:r>
            <a:endParaRPr lang="en-US" sz="8000" dirty="0"/>
          </a:p>
        </p:txBody>
      </p:sp>
      <p:sp>
        <p:nvSpPr>
          <p:cNvPr id="4" name="Text 0"/>
          <p:cNvSpPr/>
          <p:nvPr>
            <p:ph idx="102" type="title" hasCustomPrompt="1"/>
          </p:nvPr>
        </p:nvSpPr>
        <p:spPr>
          <a:xfrm>
            <a:off x="3017520" y="2377440"/>
            <a:ext cx="8229600" cy="1371600"/>
          </a:xfrm>
          <a:prstGeom prst="rect">
            <a:avLst/>
          </a:prstGeom>
          <a:noFill/>
          <a:ln/>
        </p:spPr>
        <p:txBody>
          <a:bodyPr wrap="square" lIns="0" tIns="0" rIns="0" bIns="0" rtlCol="0" anchor="ctr"/>
          <a:lstStyle/>
          <a:p>
            <a:pPr algn="l" indent="0" marL="0">
              <a:buNone/>
            </a:pPr>
            <a:r>
              <a:rPr lang="en-US" sz="4200" b="1" dirty="0">
                <a:solidFill>
                  <a:schemeClr val="bg1"/>
                </a:solidFill>
              </a:rPr>
              <a:t>Secure Programming and Testing</a:t>
            </a:r>
            <a:endParaRPr lang="en-US" sz="4200" dirty="0"/>
          </a:p>
        </p:txBody>
      </p:sp>
      <p:sp>
        <p:nvSpPr>
          <p:cNvPr id="5" name="Text 0"/>
          <p:cNvSpPr/>
          <p:nvPr>
            <p:ph idx="103" type="body" hasCustomPrompt="1"/>
          </p:nvPr>
        </p:nvSpPr>
        <p:spPr>
          <a:xfrm>
            <a:off x="3017520" y="3840480"/>
            <a:ext cx="8229600" cy="1188720"/>
          </a:xfrm>
          <a:prstGeom prst="rect">
            <a:avLst/>
          </a:prstGeom>
          <a:noFill/>
          <a:ln/>
        </p:spPr>
        <p:txBody>
          <a:bodyPr wrap="square" lIns="0" tIns="0" rIns="0" bIns="0" rtlCol="0" anchor="t"/>
          <a:lstStyle/>
          <a:p>
            <a:pPr algn="l" indent="0" marL="0">
              <a:buNone/>
            </a:pPr>
            <a:r>
              <a:rPr lang="en-US" sz="2000" dirty="0">
                <a:solidFill>
                  <a:schemeClr val="bg2"/>
                </a:solidFill>
              </a:rPr>
              <a:t>Pearson alignment: LO3 and LO4  |  75 minutes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Starter: invalid input crashes the app</a:t>
            </a:r>
            <a:endParaRPr lang="en-US" sz="3000" dirty="0"/>
          </a:p>
        </p:txBody>
      </p:sp>
      <p:sp>
        <p:nvSpPr>
          <p:cNvPr id="4" name="Code block"/>
          <p:cNvSpPr/>
          <p:nvPr/>
        </p:nvSpPr>
        <p:spPr>
          <a:xfrm>
            <a:off x="548640" y="1463040"/>
            <a:ext cx="6583680" cy="1261872"/>
          </a:xfrm>
          <a:prstGeom prst="roundRect">
            <a:avLst>
              <a:gd name="adj" fmla="val 5797"/>
            </a:avLst>
          </a:prstGeom>
          <a:solidFill>
            <a:srgbClr val="0B1B38"/>
          </a:solidFill>
          <a:ln/>
        </p:spPr>
      </p:sp>
      <p:sp>
        <p:nvSpPr>
          <p:cNvPr id="5" name="Code text"/>
          <p:cNvSpPr txBox="1"/>
          <p:nvPr/>
        </p:nvSpPr>
        <p:spPr>
          <a:xfrm>
            <a:off x="777240" y="1645920"/>
            <a:ext cx="6126480" cy="896112"/>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quantity = int(input("Enter quantity: "))</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total = 100 * quantity</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print("Total:", total)</a:t>
            </a:r>
            <a:endParaRPr lang="en-US" sz="1600" dirty="0"/>
          </a:p>
        </p:txBody>
      </p:sp>
      <p:sp>
        <p:nvSpPr>
          <p:cNvPr id="6" name="Label"/>
          <p:cNvSpPr txBox="1"/>
          <p:nvPr/>
        </p:nvSpPr>
        <p:spPr>
          <a:xfrm>
            <a:off x="548640" y="2935224"/>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 when the user types abc</a:t>
            </a:r>
            <a:endParaRPr lang="en-US" sz="1200" dirty="0"/>
          </a:p>
        </p:txBody>
      </p:sp>
      <p:sp>
        <p:nvSpPr>
          <p:cNvPr id="7" name="Output block"/>
          <p:cNvSpPr/>
          <p:nvPr/>
        </p:nvSpPr>
        <p:spPr>
          <a:xfrm>
            <a:off x="548640" y="3209544"/>
            <a:ext cx="6583680" cy="978408"/>
          </a:xfrm>
          <a:prstGeom prst="roundRect">
            <a:avLst>
              <a:gd name="adj" fmla="val 7477"/>
            </a:avLst>
          </a:prstGeom>
          <a:solidFill>
            <a:srgbClr val="0B1B38"/>
          </a:solidFill>
          <a:ln/>
        </p:spPr>
      </p:sp>
      <p:sp>
        <p:nvSpPr>
          <p:cNvPr id="8" name="Code text"/>
          <p:cNvSpPr txBox="1"/>
          <p:nvPr/>
        </p:nvSpPr>
        <p:spPr>
          <a:xfrm>
            <a:off x="777240" y="3392424"/>
            <a:ext cx="6126480" cy="612648"/>
          </a:xfrm>
          <a:prstGeom prst="rect">
            <a:avLst/>
          </a:prstGeom>
          <a:noFill/>
          <a:ln/>
        </p:spPr>
        <p:txBody>
          <a:bodyPr wrap="square" lIns="0" tIns="0" rIns="0" bIns="0" rtlCol="0" anchor="t"/>
          <a:lstStyle/>
          <a:p>
            <a:pPr indent="0" marL="0">
              <a:buNone/>
            </a:pPr>
            <a:r>
              <a:rPr lang="en-US" sz="1600" dirty="0">
                <a:solidFill>
                  <a:srgbClr val="FF8A80"/>
                </a:solidFill>
                <a:latin typeface="Courier New" pitchFamily="34" charset="0"/>
                <a:ea typeface="Courier New" pitchFamily="34" charset="-122"/>
                <a:cs typeface="Courier New" pitchFamily="34" charset="-120"/>
              </a:rPr>
              <a:t>ValueError: invalid literal for int()</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with base 10: 'abc'</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Discuss</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What happens if the user types abc?</a:t>
            </a:r>
            <a:endParaRPr lang="en-US" sz="1800" dirty="0"/>
          </a:p>
          <a:p>
            <a:pPr marL="342900" indent="-342900">
              <a:spcAft>
                <a:spcPts val="1000"/>
              </a:spcAft>
              <a:buSzPct val="100000"/>
              <a:buChar char="•"/>
            </a:pPr>
            <a:r>
              <a:rPr lang="en-US" sz="1800" dirty="0">
                <a:solidFill>
                  <a:schemeClr val="tx1"/>
                </a:solidFill>
              </a:rPr>
              <a:t>What about 0 or a negative number?</a:t>
            </a:r>
            <a:endParaRPr lang="en-US" sz="1800" dirty="0"/>
          </a:p>
          <a:p>
            <a:pPr marL="342900" indent="-342900">
              <a:spcAft>
                <a:spcPts val="1000"/>
              </a:spcAft>
              <a:buSzPct val="100000"/>
              <a:buChar char="•"/>
            </a:pPr>
            <a:r>
              <a:rPr lang="en-US" sz="1800" dirty="0">
                <a:solidFill>
                  <a:schemeClr val="tx1"/>
                </a:solidFill>
              </a:rPr>
              <a:t>Who is responsible for handling bad input: the user or the programmer?</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Session 5 plan: 75 minutes</a:t>
            </a:r>
            <a:endParaRPr lang="en-US" sz="3000" dirty="0"/>
          </a:p>
        </p:txBody>
      </p:sp>
      <p:graphicFrame>
        <p:nvGraphicFramePr>
          <p:cNvPr id="6"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280160"/>
                <a:gridCol w="7315200"/>
                <a:gridCol w="2468880"/>
              </a:tblGrid>
              <a:tr h="566928">
                <a:tc>
                  <a:txBody>
                    <a:bodyPr/>
                    <a:lstStyle/>
                    <a:p>
                      <a:pPr indent="0" marL="0">
                        <a:buNone/>
                      </a:pPr>
                      <a:r>
                        <a:rPr lang="en-US" sz="1600" b="1" dirty="0">
                          <a:solidFill>
                            <a:schemeClr val="bg1"/>
                          </a:solidFill>
                        </a:rPr>
                        <a:t>Time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Activity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Format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66928">
                <a:tc>
                  <a:txBody>
                    <a:bodyPr/>
                    <a:lstStyle/>
                    <a:p>
                      <a:pPr indent="0" marL="0">
                        <a:buNone/>
                      </a:pPr>
                      <a:r>
                        <a:rPr lang="en-US" sz="1600" b="1" dirty="0">
                          <a:solidFill>
                            <a:schemeClr val="tx1"/>
                          </a:solidFill>
                        </a:rPr>
                        <a:t>0-5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Invalid input crashes an application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Starter question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5-18</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Validation, unsafe evaluation, sensitive data, files, error messages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Slides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18-30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Demonstrate an insecure program and improve it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Live coding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30-45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Modify code to handle invalid inputs safely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Practical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45-60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Test cases: normal, boundary and invalid inputs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Demonstration and exercise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60-70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Test your program and record results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Practical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70-75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Review security and testing decisions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Exit ticket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Everyday risks in beginner code</a:t>
            </a:r>
            <a:endParaRPr lang="en-US" sz="3000" dirty="0"/>
          </a:p>
        </p:txBody>
      </p:sp>
      <p:sp>
        <p:nvSpPr>
          <p:cNvPr id="4" name="Card 1"/>
          <p:cNvSpPr/>
          <p:nvPr/>
        </p:nvSpPr>
        <p:spPr>
          <a:xfrm>
            <a:off x="548640" y="1463040"/>
            <a:ext cx="3520440" cy="2103120"/>
          </a:xfrm>
          <a:prstGeom prst="roundRect">
            <a:avLst>
              <a:gd name="adj" fmla="val 4348"/>
            </a:avLst>
          </a:prstGeom>
          <a:solidFill>
            <a:schemeClr val="bg2"/>
          </a:solidFill>
          <a:ln/>
        </p:spPr>
      </p:sp>
      <p:sp>
        <p:nvSpPr>
          <p:cNvPr id="5" name="Icon circle"/>
          <p:cNvSpPr/>
          <p:nvPr/>
        </p:nvSpPr>
        <p:spPr>
          <a:xfrm>
            <a:off x="777240" y="1691640"/>
            <a:ext cx="594360" cy="594360"/>
          </a:xfrm>
          <a:prstGeom prst="ellipse">
            <a:avLst/>
          </a:prstGeom>
          <a:solidFill>
            <a:schemeClr val="accent1"/>
          </a:solidFill>
          <a:ln/>
        </p:spPr>
      </p:sp>
      <p:pic>
        <p:nvPicPr>
          <p:cNvPr id="6" name="Icon FaCheckCircle" descr="CheckCircle icon">    </p:cNvPr>
          <p:cNvPicPr>
            <a:picLocks noChangeAspect="1"/>
          </p:cNvPicPr>
          <p:nvPr/>
        </p:nvPicPr>
        <p:blipFill>
          <a:blip r:embed="rId1"/>
          <a:stretch>
            <a:fillRect/>
          </a:stretch>
        </p:blipFill>
        <p:spPr>
          <a:xfrm>
            <a:off x="931774" y="1846174"/>
            <a:ext cx="285293" cy="285293"/>
          </a:xfrm>
          <a:prstGeom prst="rect">
            <a:avLst/>
          </a:prstGeom>
        </p:spPr>
      </p:pic>
      <p:sp>
        <p:nvSpPr>
          <p:cNvPr id="7" name="Text 7"/>
          <p:cNvSpPr txBox="1"/>
          <p:nvPr/>
        </p:nvSpPr>
        <p:spPr>
          <a:xfrm>
            <a:off x="1554480"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Validate input</a:t>
            </a:r>
            <a:endParaRPr lang="en-US" sz="2000" dirty="0"/>
          </a:p>
        </p:txBody>
      </p:sp>
      <p:sp>
        <p:nvSpPr>
          <p:cNvPr id="8" name="Text 8"/>
          <p:cNvSpPr txBox="1"/>
          <p:nvPr/>
        </p:nvSpPr>
        <p:spPr>
          <a:xfrm>
            <a:off x="777240"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Never assume user data is valid: check type, range and format.</a:t>
            </a:r>
            <a:endParaRPr lang="en-US" sz="1600" dirty="0"/>
          </a:p>
        </p:txBody>
      </p:sp>
      <p:sp>
        <p:nvSpPr>
          <p:cNvPr id="9" name="Card 2"/>
          <p:cNvSpPr/>
          <p:nvPr/>
        </p:nvSpPr>
        <p:spPr>
          <a:xfrm>
            <a:off x="4334256" y="1463040"/>
            <a:ext cx="3520440" cy="2103120"/>
          </a:xfrm>
          <a:prstGeom prst="roundRect">
            <a:avLst>
              <a:gd name="adj" fmla="val 4348"/>
            </a:avLst>
          </a:prstGeom>
          <a:solidFill>
            <a:schemeClr val="bg2"/>
          </a:solidFill>
          <a:ln/>
        </p:spPr>
      </p:sp>
      <p:sp>
        <p:nvSpPr>
          <p:cNvPr id="10" name="Icon circle"/>
          <p:cNvSpPr/>
          <p:nvPr/>
        </p:nvSpPr>
        <p:spPr>
          <a:xfrm>
            <a:off x="4562856" y="1691640"/>
            <a:ext cx="594360" cy="594360"/>
          </a:xfrm>
          <a:prstGeom prst="ellipse">
            <a:avLst/>
          </a:prstGeom>
          <a:solidFill>
            <a:schemeClr val="accent1"/>
          </a:solidFill>
          <a:ln/>
        </p:spPr>
      </p:sp>
      <p:pic>
        <p:nvPicPr>
          <p:cNvPr id="11" name="Icon FaExclamationTriangle" descr="ExclamationTriangle icon">    </p:cNvPr>
          <p:cNvPicPr>
            <a:picLocks noChangeAspect="1"/>
          </p:cNvPicPr>
          <p:nvPr/>
        </p:nvPicPr>
        <p:blipFill>
          <a:blip r:embed="rId2"/>
          <a:stretch>
            <a:fillRect/>
          </a:stretch>
        </p:blipFill>
        <p:spPr>
          <a:xfrm>
            <a:off x="4717390" y="1846174"/>
            <a:ext cx="285293" cy="285293"/>
          </a:xfrm>
          <a:prstGeom prst="rect">
            <a:avLst/>
          </a:prstGeom>
        </p:spPr>
      </p:pic>
      <p:sp>
        <p:nvSpPr>
          <p:cNvPr id="12" name="Text 9"/>
          <p:cNvSpPr txBox="1"/>
          <p:nvPr/>
        </p:nvSpPr>
        <p:spPr>
          <a:xfrm>
            <a:off x="5340096"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Avoid eval()</a:t>
            </a:r>
            <a:endParaRPr lang="en-US" sz="2000" dirty="0"/>
          </a:p>
        </p:txBody>
      </p:sp>
      <p:sp>
        <p:nvSpPr>
          <p:cNvPr id="13" name="Text 10"/>
          <p:cNvSpPr txBox="1"/>
          <p:nvPr/>
        </p:nvSpPr>
        <p:spPr>
          <a:xfrm>
            <a:off x="4562856"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It executes whatever text it receives, so untrusted input becomes running code.</a:t>
            </a:r>
            <a:endParaRPr lang="en-US" sz="1600" dirty="0"/>
          </a:p>
        </p:txBody>
      </p:sp>
      <p:sp>
        <p:nvSpPr>
          <p:cNvPr id="14" name="Card 3"/>
          <p:cNvSpPr/>
          <p:nvPr/>
        </p:nvSpPr>
        <p:spPr>
          <a:xfrm>
            <a:off x="8119872" y="1463040"/>
            <a:ext cx="3520440" cy="2103120"/>
          </a:xfrm>
          <a:prstGeom prst="roundRect">
            <a:avLst>
              <a:gd name="adj" fmla="val 4348"/>
            </a:avLst>
          </a:prstGeom>
          <a:solidFill>
            <a:schemeClr val="bg2"/>
          </a:solidFill>
          <a:ln/>
        </p:spPr>
      </p:sp>
      <p:sp>
        <p:nvSpPr>
          <p:cNvPr id="15" name="Icon circle"/>
          <p:cNvSpPr/>
          <p:nvPr/>
        </p:nvSpPr>
        <p:spPr>
          <a:xfrm>
            <a:off x="8348472" y="1691640"/>
            <a:ext cx="594360" cy="594360"/>
          </a:xfrm>
          <a:prstGeom prst="ellipse">
            <a:avLst/>
          </a:prstGeom>
          <a:solidFill>
            <a:schemeClr val="accent1"/>
          </a:solidFill>
          <a:ln/>
        </p:spPr>
      </p:sp>
      <p:pic>
        <p:nvPicPr>
          <p:cNvPr id="16" name="Icon FaFlask" descr="Flask icon">    </p:cNvPr>
          <p:cNvPicPr>
            <a:picLocks noChangeAspect="1"/>
          </p:cNvPicPr>
          <p:nvPr/>
        </p:nvPicPr>
        <p:blipFill>
          <a:blip r:embed="rId3"/>
          <a:stretch>
            <a:fillRect/>
          </a:stretch>
        </p:blipFill>
        <p:spPr>
          <a:xfrm>
            <a:off x="8503006" y="1846174"/>
            <a:ext cx="285293" cy="285293"/>
          </a:xfrm>
          <a:prstGeom prst="rect">
            <a:avLst/>
          </a:prstGeom>
        </p:spPr>
      </p:pic>
      <p:sp>
        <p:nvSpPr>
          <p:cNvPr id="17" name="Text 11"/>
          <p:cNvSpPr txBox="1"/>
          <p:nvPr/>
        </p:nvSpPr>
        <p:spPr>
          <a:xfrm>
            <a:off x="9125712"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Specific exceptions</a:t>
            </a:r>
            <a:endParaRPr lang="en-US" sz="2000" dirty="0"/>
          </a:p>
        </p:txBody>
      </p:sp>
      <p:sp>
        <p:nvSpPr>
          <p:cNvPr id="18" name="Text 12"/>
          <p:cNvSpPr txBox="1"/>
          <p:nvPr/>
        </p:nvSpPr>
        <p:spPr>
          <a:xfrm>
            <a:off x="8348472"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Catch the errors you expect. Broad handlers hide real defects.</a:t>
            </a:r>
            <a:endParaRPr lang="en-US" sz="1600" dirty="0"/>
          </a:p>
        </p:txBody>
      </p:sp>
      <p:sp>
        <p:nvSpPr>
          <p:cNvPr id="19" name="Card 4"/>
          <p:cNvSpPr/>
          <p:nvPr/>
        </p:nvSpPr>
        <p:spPr>
          <a:xfrm>
            <a:off x="548640" y="3749040"/>
            <a:ext cx="3520440" cy="2103120"/>
          </a:xfrm>
          <a:prstGeom prst="roundRect">
            <a:avLst>
              <a:gd name="adj" fmla="val 4348"/>
            </a:avLst>
          </a:prstGeom>
          <a:solidFill>
            <a:schemeClr val="bg2"/>
          </a:solidFill>
          <a:ln/>
        </p:spPr>
      </p:sp>
      <p:sp>
        <p:nvSpPr>
          <p:cNvPr id="20" name="Icon circle"/>
          <p:cNvSpPr/>
          <p:nvPr/>
        </p:nvSpPr>
        <p:spPr>
          <a:xfrm>
            <a:off x="777240" y="3977640"/>
            <a:ext cx="594360" cy="594360"/>
          </a:xfrm>
          <a:prstGeom prst="ellipse">
            <a:avLst/>
          </a:prstGeom>
          <a:solidFill>
            <a:schemeClr val="accent1"/>
          </a:solidFill>
          <a:ln/>
        </p:spPr>
      </p:sp>
      <p:pic>
        <p:nvPicPr>
          <p:cNvPr id="21" name="Icon FaKey" descr="Key icon">    </p:cNvPr>
          <p:cNvPicPr>
            <a:picLocks noChangeAspect="1"/>
          </p:cNvPicPr>
          <p:nvPr/>
        </p:nvPicPr>
        <p:blipFill>
          <a:blip r:embed="rId4"/>
          <a:stretch>
            <a:fillRect/>
          </a:stretch>
        </p:blipFill>
        <p:spPr>
          <a:xfrm>
            <a:off x="931774" y="4132174"/>
            <a:ext cx="285293" cy="285293"/>
          </a:xfrm>
          <a:prstGeom prst="rect">
            <a:avLst/>
          </a:prstGeom>
        </p:spPr>
      </p:pic>
      <p:sp>
        <p:nvSpPr>
          <p:cNvPr id="22" name="Text 13"/>
          <p:cNvSpPr txBox="1"/>
          <p:nvPr/>
        </p:nvSpPr>
        <p:spPr>
          <a:xfrm>
            <a:off x="1554480"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Protect secrets</a:t>
            </a:r>
            <a:endParaRPr lang="en-US" sz="2000" dirty="0"/>
          </a:p>
        </p:txBody>
      </p:sp>
      <p:sp>
        <p:nvSpPr>
          <p:cNvPr id="23" name="Text 14"/>
          <p:cNvSpPr txBox="1"/>
          <p:nvPr/>
        </p:nvSpPr>
        <p:spPr>
          <a:xfrm>
            <a:off x="777240"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No passwords or API keys in source files or error messages.</a:t>
            </a:r>
            <a:endParaRPr lang="en-US" sz="1600" dirty="0"/>
          </a:p>
        </p:txBody>
      </p:sp>
      <p:sp>
        <p:nvSpPr>
          <p:cNvPr id="24" name="Card 5"/>
          <p:cNvSpPr/>
          <p:nvPr/>
        </p:nvSpPr>
        <p:spPr>
          <a:xfrm>
            <a:off x="4334256" y="3749040"/>
            <a:ext cx="3520440" cy="2103120"/>
          </a:xfrm>
          <a:prstGeom prst="roundRect">
            <a:avLst>
              <a:gd name="adj" fmla="val 4348"/>
            </a:avLst>
          </a:prstGeom>
          <a:solidFill>
            <a:schemeClr val="bg2"/>
          </a:solidFill>
          <a:ln/>
        </p:spPr>
      </p:sp>
      <p:sp>
        <p:nvSpPr>
          <p:cNvPr id="25" name="Icon circle"/>
          <p:cNvSpPr/>
          <p:nvPr/>
        </p:nvSpPr>
        <p:spPr>
          <a:xfrm>
            <a:off x="4562856" y="3977640"/>
            <a:ext cx="594360" cy="594360"/>
          </a:xfrm>
          <a:prstGeom prst="ellipse">
            <a:avLst/>
          </a:prstGeom>
          <a:solidFill>
            <a:schemeClr val="accent1"/>
          </a:solidFill>
          <a:ln/>
        </p:spPr>
      </p:sp>
      <p:pic>
        <p:nvPicPr>
          <p:cNvPr id="26" name="Icon FaFolderOpen" descr="FolderOpen icon">    </p:cNvPr>
          <p:cNvPicPr>
            <a:picLocks noChangeAspect="1"/>
          </p:cNvPicPr>
          <p:nvPr/>
        </p:nvPicPr>
        <p:blipFill>
          <a:blip r:embed="rId5"/>
          <a:stretch>
            <a:fillRect/>
          </a:stretch>
        </p:blipFill>
        <p:spPr>
          <a:xfrm>
            <a:off x="4717390" y="4132174"/>
            <a:ext cx="285293" cy="285293"/>
          </a:xfrm>
          <a:prstGeom prst="rect">
            <a:avLst/>
          </a:prstGeom>
        </p:spPr>
      </p:pic>
      <p:sp>
        <p:nvSpPr>
          <p:cNvPr id="27" name="Text 15"/>
          <p:cNvSpPr txBox="1"/>
          <p:nvPr/>
        </p:nvSpPr>
        <p:spPr>
          <a:xfrm>
            <a:off x="5340096"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Safe file handling</a:t>
            </a:r>
            <a:endParaRPr lang="en-US" sz="2000" dirty="0"/>
          </a:p>
        </p:txBody>
      </p:sp>
      <p:sp>
        <p:nvSpPr>
          <p:cNvPr id="28" name="Text 16"/>
          <p:cNvSpPr txBox="1"/>
          <p:nvPr/>
        </p:nvSpPr>
        <p:spPr>
          <a:xfrm>
            <a:off x="4562856"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Validate paths and never trust arbitrary file locations.</a:t>
            </a:r>
            <a:endParaRPr lang="en-US" sz="1600" dirty="0"/>
          </a:p>
        </p:txBody>
      </p:sp>
      <p:sp>
        <p:nvSpPr>
          <p:cNvPr id="29" name="Card 6"/>
          <p:cNvSpPr/>
          <p:nvPr/>
        </p:nvSpPr>
        <p:spPr>
          <a:xfrm>
            <a:off x="8119872" y="3749040"/>
            <a:ext cx="3520440" cy="2103120"/>
          </a:xfrm>
          <a:prstGeom prst="roundRect">
            <a:avLst>
              <a:gd name="adj" fmla="val 4348"/>
            </a:avLst>
          </a:prstGeom>
          <a:solidFill>
            <a:schemeClr val="bg2"/>
          </a:solidFill>
          <a:ln/>
        </p:spPr>
      </p:sp>
      <p:sp>
        <p:nvSpPr>
          <p:cNvPr id="30" name="Icon circle"/>
          <p:cNvSpPr/>
          <p:nvPr/>
        </p:nvSpPr>
        <p:spPr>
          <a:xfrm>
            <a:off x="8348472" y="3977640"/>
            <a:ext cx="594360" cy="594360"/>
          </a:xfrm>
          <a:prstGeom prst="ellipse">
            <a:avLst/>
          </a:prstGeom>
          <a:solidFill>
            <a:schemeClr val="accent1"/>
          </a:solidFill>
          <a:ln/>
        </p:spPr>
      </p:sp>
      <p:pic>
        <p:nvPicPr>
          <p:cNvPr id="31" name="Icon FaCommentDots" descr="CommentDots icon">    </p:cNvPr>
          <p:cNvPicPr>
            <a:picLocks noChangeAspect="1"/>
          </p:cNvPicPr>
          <p:nvPr/>
        </p:nvPicPr>
        <p:blipFill>
          <a:blip r:embed="rId6"/>
          <a:stretch>
            <a:fillRect/>
          </a:stretch>
        </p:blipFill>
        <p:spPr>
          <a:xfrm>
            <a:off x="8503006" y="4132174"/>
            <a:ext cx="285293" cy="285293"/>
          </a:xfrm>
          <a:prstGeom prst="rect">
            <a:avLst/>
          </a:prstGeom>
        </p:spPr>
      </p:pic>
      <p:sp>
        <p:nvSpPr>
          <p:cNvPr id="32" name="Text 17"/>
          <p:cNvSpPr txBox="1"/>
          <p:nvPr/>
        </p:nvSpPr>
        <p:spPr>
          <a:xfrm>
            <a:off x="9125712"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Helpful errors</a:t>
            </a:r>
            <a:endParaRPr lang="en-US" sz="2000" dirty="0"/>
          </a:p>
        </p:txBody>
      </p:sp>
      <p:sp>
        <p:nvSpPr>
          <p:cNvPr id="33" name="Text 18"/>
          <p:cNvSpPr txBox="1"/>
          <p:nvPr/>
        </p:nvSpPr>
        <p:spPr>
          <a:xfrm>
            <a:off x="8348472"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Tell users what to fix without exposing internals.</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1. Input validation</a:t>
            </a:r>
            <a:endParaRPr lang="en-US" sz="3000" dirty="0"/>
          </a:p>
        </p:txBody>
      </p:sp>
      <p:sp>
        <p:nvSpPr>
          <p:cNvPr id="4" name="Code block"/>
          <p:cNvSpPr/>
          <p:nvPr/>
        </p:nvSpPr>
        <p:spPr>
          <a:xfrm>
            <a:off x="548640" y="1463040"/>
            <a:ext cx="6583680" cy="3529584"/>
          </a:xfrm>
          <a:prstGeom prst="roundRect">
            <a:avLst>
              <a:gd name="adj" fmla="val 2073"/>
            </a:avLst>
          </a:prstGeom>
          <a:solidFill>
            <a:srgbClr val="0B1B38"/>
          </a:solidFill>
          <a:ln/>
        </p:spPr>
      </p:sp>
      <p:sp>
        <p:nvSpPr>
          <p:cNvPr id="5" name="Code text"/>
          <p:cNvSpPr txBox="1"/>
          <p:nvPr/>
        </p:nvSpPr>
        <p:spPr>
          <a:xfrm>
            <a:off x="777240" y="1645920"/>
            <a:ext cx="6126480" cy="3163824"/>
          </a:xfrm>
          <a:prstGeom prst="rect">
            <a:avLst/>
          </a:prstGeom>
          <a:noFill/>
          <a:ln/>
        </p:spPr>
        <p:txBody>
          <a:bodyPr wrap="square" lIns="0" tIns="0" rIns="0" bIns="0" rtlCol="0" anchor="t"/>
          <a:lstStyle/>
          <a:p>
            <a:pPr indent="0" marL="0">
              <a:buNone/>
            </a:pPr>
            <a:r>
              <a:rPr lang="en-US" sz="1400" dirty="0">
                <a:solidFill>
                  <a:srgbClr val="E8EEF9"/>
                </a:solidFill>
                <a:latin typeface="Courier New" pitchFamily="34" charset="0"/>
                <a:ea typeface="Courier New" pitchFamily="34" charset="-122"/>
                <a:cs typeface="Courier New" pitchFamily="34" charset="-120"/>
              </a:rPr>
              <a:t>def get_quantity():</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while True:</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value = input("Enter quantity: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try:</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quantity = int(value)</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if quantity &lt;= 0:</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print("Must be positive.")</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continue</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return quantity</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except ValueError:</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print("Enter a whole number.")</a:t>
            </a:r>
            <a:endParaRPr lang="en-US" sz="1400" dirty="0"/>
          </a:p>
        </p:txBody>
      </p:sp>
      <p:sp>
        <p:nvSpPr>
          <p:cNvPr id="6"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What it does</a:t>
            </a:r>
            <a:endParaRPr lang="en-US" sz="2200" dirty="0"/>
          </a:p>
        </p:txBody>
      </p:sp>
      <p:sp>
        <p:nvSpPr>
          <p:cNvPr id="7"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Handles text such as abc</a:t>
            </a:r>
            <a:endParaRPr lang="en-US" sz="1800" dirty="0"/>
          </a:p>
          <a:p>
            <a:pPr marL="342900" indent="-342900">
              <a:spcAft>
                <a:spcPts val="1000"/>
              </a:spcAft>
              <a:buSzPct val="100000"/>
              <a:buChar char="•"/>
            </a:pPr>
            <a:r>
              <a:rPr lang="en-US" sz="1800" dirty="0">
                <a:solidFill>
                  <a:schemeClr val="tx1"/>
                </a:solidFill>
              </a:rPr>
              <a:t>Rejects zero and negative values</a:t>
            </a:r>
            <a:endParaRPr lang="en-US" sz="1800" dirty="0"/>
          </a:p>
          <a:p>
            <a:pPr marL="342900" indent="-342900">
              <a:spcAft>
                <a:spcPts val="1000"/>
              </a:spcAft>
              <a:buSzPct val="100000"/>
              <a:buChar char="•"/>
            </a:pPr>
            <a:r>
              <a:rPr lang="en-US" sz="1800" dirty="0">
                <a:solidFill>
                  <a:schemeClr val="tx1"/>
                </a:solidFill>
              </a:rPr>
              <a:t>Keeps asking until the input is valid</a:t>
            </a:r>
            <a:endParaRPr lang="en-US" sz="1800" dirty="0"/>
          </a:p>
          <a:p>
            <a:pPr marL="342900" indent="-342900">
              <a:spcAft>
                <a:spcPts val="1000"/>
              </a:spcAft>
              <a:buSzPct val="100000"/>
              <a:buChar char="•"/>
            </a:pPr>
            <a:r>
              <a:rPr lang="en-US" sz="1800" dirty="0">
                <a:solidFill>
                  <a:schemeClr val="tx1"/>
                </a:solidFill>
              </a:rPr>
              <a:t>Catches ValueError only, not every error</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2. Avoid unsafe evaluation</a:t>
            </a:r>
            <a:endParaRPr lang="en-US" sz="3000" dirty="0"/>
          </a:p>
        </p:txBody>
      </p:sp>
      <p:sp>
        <p:nvSpPr>
          <p:cNvPr id="4" name="Header Unsafe: eval()"/>
          <p:cNvSpPr/>
          <p:nvPr/>
        </p:nvSpPr>
        <p:spPr>
          <a:xfrm>
            <a:off x="548640" y="1463040"/>
            <a:ext cx="5413248" cy="457200"/>
          </a:xfrm>
          <a:prstGeom prst="roundRect">
            <a:avLst>
              <a:gd name="adj" fmla="val 16000"/>
            </a:avLst>
          </a:prstGeom>
          <a:solidFill>
            <a:schemeClr val="accent4"/>
          </a:solidFill>
          <a:ln/>
        </p:spPr>
      </p:sp>
      <p:sp>
        <p:nvSpPr>
          <p:cNvPr id="5" name="Header text"/>
          <p:cNvSpPr txBox="1"/>
          <p:nvPr/>
        </p:nvSpPr>
        <p:spPr>
          <a:xfrm>
            <a:off x="731520"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Unsafe: eval()</a:t>
            </a:r>
            <a:endParaRPr lang="en-US" sz="1800" dirty="0"/>
          </a:p>
        </p:txBody>
      </p:sp>
      <p:sp>
        <p:nvSpPr>
          <p:cNvPr id="6" name="Code block"/>
          <p:cNvSpPr/>
          <p:nvPr/>
        </p:nvSpPr>
        <p:spPr>
          <a:xfrm>
            <a:off x="548640" y="2057400"/>
            <a:ext cx="5413248" cy="1261872"/>
          </a:xfrm>
          <a:prstGeom prst="roundRect">
            <a:avLst>
              <a:gd name="adj" fmla="val 5797"/>
            </a:avLst>
          </a:prstGeom>
          <a:solidFill>
            <a:srgbClr val="0B1B38"/>
          </a:solidFill>
          <a:ln/>
        </p:spPr>
      </p:sp>
      <p:sp>
        <p:nvSpPr>
          <p:cNvPr id="7" name="Code text"/>
          <p:cNvSpPr txBox="1"/>
          <p:nvPr/>
        </p:nvSpPr>
        <p:spPr>
          <a:xfrm>
            <a:off x="777240" y="2240280"/>
            <a:ext cx="4956048" cy="896112"/>
          </a:xfrm>
          <a:prstGeom prst="rect">
            <a:avLst/>
          </a:prstGeom>
          <a:noFill/>
          <a:ln/>
        </p:spPr>
        <p:txBody>
          <a:bodyPr wrap="square" lIns="0" tIns="0" rIns="0" bIns="0" rtlCol="0" anchor="t"/>
          <a:lstStyle/>
          <a:p>
            <a:pPr indent="0" marL="0">
              <a:buNone/>
            </a:pPr>
            <a:r>
              <a:rPr lang="en-US" sz="1400" dirty="0">
                <a:solidFill>
                  <a:srgbClr val="E8EEF9"/>
                </a:solidFill>
                <a:latin typeface="Courier New" pitchFamily="34" charset="0"/>
                <a:ea typeface="Courier New" pitchFamily="34" charset="-122"/>
                <a:cs typeface="Courier New" pitchFamily="34" charset="-120"/>
              </a:rPr>
              <a:t>expression = input("Calculate: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result = eval(expression)</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print(result)</a:t>
            </a:r>
            <a:endParaRPr lang="en-US" sz="1400" dirty="0"/>
          </a:p>
        </p:txBody>
      </p:sp>
      <p:sp>
        <p:nvSpPr>
          <p:cNvPr id="8" name="Header Safer: parse the input"/>
          <p:cNvSpPr/>
          <p:nvPr/>
        </p:nvSpPr>
        <p:spPr>
          <a:xfrm>
            <a:off x="6227064" y="1463040"/>
            <a:ext cx="5413248" cy="457200"/>
          </a:xfrm>
          <a:prstGeom prst="roundRect">
            <a:avLst>
              <a:gd name="adj" fmla="val 16000"/>
            </a:avLst>
          </a:prstGeom>
          <a:solidFill>
            <a:schemeClr val="accent3"/>
          </a:solidFill>
          <a:ln/>
        </p:spPr>
      </p:sp>
      <p:sp>
        <p:nvSpPr>
          <p:cNvPr id="9" name="Header text"/>
          <p:cNvSpPr txBox="1"/>
          <p:nvPr/>
        </p:nvSpPr>
        <p:spPr>
          <a:xfrm>
            <a:off x="6409944"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Safer: parse the input</a:t>
            </a:r>
            <a:endParaRPr lang="en-US" sz="1800" dirty="0"/>
          </a:p>
        </p:txBody>
      </p:sp>
      <p:sp>
        <p:nvSpPr>
          <p:cNvPr id="10" name="Code block"/>
          <p:cNvSpPr/>
          <p:nvPr/>
        </p:nvSpPr>
        <p:spPr>
          <a:xfrm>
            <a:off x="6227064" y="2057400"/>
            <a:ext cx="5413248" cy="3246120"/>
          </a:xfrm>
          <a:prstGeom prst="roundRect">
            <a:avLst>
              <a:gd name="adj" fmla="val 2254"/>
            </a:avLst>
          </a:prstGeom>
          <a:solidFill>
            <a:srgbClr val="0B1B38"/>
          </a:solidFill>
          <a:ln/>
        </p:spPr>
      </p:sp>
      <p:sp>
        <p:nvSpPr>
          <p:cNvPr id="11" name="Code text"/>
          <p:cNvSpPr txBox="1"/>
          <p:nvPr/>
        </p:nvSpPr>
        <p:spPr>
          <a:xfrm>
            <a:off x="6455664" y="2240280"/>
            <a:ext cx="4956048" cy="2880360"/>
          </a:xfrm>
          <a:prstGeom prst="rect">
            <a:avLst/>
          </a:prstGeom>
          <a:noFill/>
          <a:ln/>
        </p:spPr>
        <p:txBody>
          <a:bodyPr wrap="square" lIns="0" tIns="0" rIns="0" bIns="0" rtlCol="0" anchor="t"/>
          <a:lstStyle/>
          <a:p>
            <a:pPr indent="0" marL="0">
              <a:buNone/>
            </a:pPr>
            <a:r>
              <a:rPr lang="en-US" sz="1400" dirty="0">
                <a:solidFill>
                  <a:srgbClr val="E8EEF9"/>
                </a:solidFill>
                <a:latin typeface="Courier New" pitchFamily="34" charset="0"/>
                <a:ea typeface="Courier New" pitchFamily="34" charset="-122"/>
                <a:cs typeface="Courier New" pitchFamily="34" charset="-120"/>
              </a:rPr>
              <a:t>import operator</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OPS =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 operator.add,</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 operator.sub,</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a = float(input("First: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op = input("Operator: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b = float(input("Second: "))</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if op in OPS:</a:t>
            </a:r>
            <a:endParaRPr lang="en-US" sz="1400" dirty="0"/>
          </a:p>
          <a:p>
            <a:pPr indent="0" marL="0">
              <a:buNone/>
            </a:pPr>
            <a:r>
              <a:rPr lang="en-US" sz="1400" dirty="0">
                <a:solidFill>
                  <a:srgbClr val="E8EEF9"/>
                </a:solidFill>
                <a:latin typeface="Courier New" pitchFamily="34" charset="0"/>
                <a:ea typeface="Courier New" pitchFamily="34" charset="-122"/>
                <a:cs typeface="Courier New" pitchFamily="34" charset="-120"/>
              </a:rPr>
              <a:t>    print(OPS[op](a, b))</a:t>
            </a:r>
            <a:endParaRPr lang="en-US" sz="1400" dirty="0"/>
          </a:p>
        </p:txBody>
      </p:sp>
      <p:sp>
        <p:nvSpPr>
          <p:cNvPr id="12" name="Caption"/>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800" dirty="0">
                <a:solidFill>
                  <a:schemeClr val="tx1"/>
                </a:solidFill>
              </a:rPr>
              <a:t>eval() treats input as code. A parsed number and an allowed operator can only ever do what you planned.</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3. Handle exceptions deliberately</a:t>
            </a:r>
            <a:endParaRPr lang="en-US" sz="3000" dirty="0"/>
          </a:p>
        </p:txBody>
      </p:sp>
      <p:sp>
        <p:nvSpPr>
          <p:cNvPr id="4" name="Header Hides defects"/>
          <p:cNvSpPr/>
          <p:nvPr/>
        </p:nvSpPr>
        <p:spPr>
          <a:xfrm>
            <a:off x="548640" y="1463040"/>
            <a:ext cx="5413248" cy="457200"/>
          </a:xfrm>
          <a:prstGeom prst="roundRect">
            <a:avLst>
              <a:gd name="adj" fmla="val 16000"/>
            </a:avLst>
          </a:prstGeom>
          <a:solidFill>
            <a:schemeClr val="accent4"/>
          </a:solidFill>
          <a:ln/>
        </p:spPr>
      </p:sp>
      <p:sp>
        <p:nvSpPr>
          <p:cNvPr id="5" name="Header text"/>
          <p:cNvSpPr txBox="1"/>
          <p:nvPr/>
        </p:nvSpPr>
        <p:spPr>
          <a:xfrm>
            <a:off x="731520"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Hides defects</a:t>
            </a:r>
            <a:endParaRPr lang="en-US" sz="1800" dirty="0"/>
          </a:p>
        </p:txBody>
      </p:sp>
      <p:sp>
        <p:nvSpPr>
          <p:cNvPr id="6" name="Code block"/>
          <p:cNvSpPr/>
          <p:nvPr/>
        </p:nvSpPr>
        <p:spPr>
          <a:xfrm>
            <a:off x="548640" y="2057400"/>
            <a:ext cx="5413248" cy="1545336"/>
          </a:xfrm>
          <a:prstGeom prst="roundRect">
            <a:avLst>
              <a:gd name="adj" fmla="val 4734"/>
            </a:avLst>
          </a:prstGeom>
          <a:solidFill>
            <a:srgbClr val="0B1B38"/>
          </a:solidFill>
          <a:ln/>
        </p:spPr>
      </p:sp>
      <p:sp>
        <p:nvSpPr>
          <p:cNvPr id="7" name="Code text"/>
          <p:cNvSpPr txBox="1"/>
          <p:nvPr/>
        </p:nvSpPr>
        <p:spPr>
          <a:xfrm>
            <a:off x="777240" y="2240280"/>
            <a:ext cx="4956048" cy="1179576"/>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try:</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total = calculate(data)</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except:</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pass</a:t>
            </a:r>
            <a:endParaRPr lang="en-US" sz="1500" dirty="0"/>
          </a:p>
        </p:txBody>
      </p:sp>
      <p:sp>
        <p:nvSpPr>
          <p:cNvPr id="8" name="Header Handles the expected error"/>
          <p:cNvSpPr/>
          <p:nvPr/>
        </p:nvSpPr>
        <p:spPr>
          <a:xfrm>
            <a:off x="6227064" y="1463040"/>
            <a:ext cx="5413248" cy="457200"/>
          </a:xfrm>
          <a:prstGeom prst="roundRect">
            <a:avLst>
              <a:gd name="adj" fmla="val 16000"/>
            </a:avLst>
          </a:prstGeom>
          <a:solidFill>
            <a:schemeClr val="accent3"/>
          </a:solidFill>
          <a:ln/>
        </p:spPr>
      </p:sp>
      <p:sp>
        <p:nvSpPr>
          <p:cNvPr id="9" name="Header text"/>
          <p:cNvSpPr txBox="1"/>
          <p:nvPr/>
        </p:nvSpPr>
        <p:spPr>
          <a:xfrm>
            <a:off x="6409944"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Handles the expected error</a:t>
            </a:r>
            <a:endParaRPr lang="en-US" sz="1800" dirty="0"/>
          </a:p>
        </p:txBody>
      </p:sp>
      <p:sp>
        <p:nvSpPr>
          <p:cNvPr id="10" name="Code block"/>
          <p:cNvSpPr/>
          <p:nvPr/>
        </p:nvSpPr>
        <p:spPr>
          <a:xfrm>
            <a:off x="6227064" y="2057400"/>
            <a:ext cx="5413248" cy="1545336"/>
          </a:xfrm>
          <a:prstGeom prst="roundRect">
            <a:avLst>
              <a:gd name="adj" fmla="val 4734"/>
            </a:avLst>
          </a:prstGeom>
          <a:solidFill>
            <a:srgbClr val="0B1B38"/>
          </a:solidFill>
          <a:ln/>
        </p:spPr>
      </p:sp>
      <p:sp>
        <p:nvSpPr>
          <p:cNvPr id="11" name="Code text"/>
          <p:cNvSpPr txBox="1"/>
          <p:nvPr/>
        </p:nvSpPr>
        <p:spPr>
          <a:xfrm>
            <a:off x="6455664" y="2240280"/>
            <a:ext cx="4956048" cy="1179576"/>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try:</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quantity = int(text)</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except ValueError:</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print("Enter a whole number.")</a:t>
            </a:r>
            <a:endParaRPr lang="en-US" sz="1500" dirty="0"/>
          </a:p>
        </p:txBody>
      </p:sp>
      <p:sp>
        <p:nvSpPr>
          <p:cNvPr id="12" name="Caption"/>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800" dirty="0">
                <a:solidFill>
                  <a:schemeClr val="tx1"/>
                </a:solidFill>
              </a:rPr>
              <a:t>Name the exception you expect. Never use a bare except with pass.</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4. Keep sensitive data out of code</a:t>
            </a:r>
            <a:endParaRPr lang="en-US" sz="3000" dirty="0"/>
          </a:p>
        </p:txBody>
      </p:sp>
      <p:sp>
        <p:nvSpPr>
          <p:cNvPr id="4" name="Header Exposed secrets"/>
          <p:cNvSpPr/>
          <p:nvPr/>
        </p:nvSpPr>
        <p:spPr>
          <a:xfrm>
            <a:off x="548640" y="1463040"/>
            <a:ext cx="5413248" cy="457200"/>
          </a:xfrm>
          <a:prstGeom prst="roundRect">
            <a:avLst>
              <a:gd name="adj" fmla="val 16000"/>
            </a:avLst>
          </a:prstGeom>
          <a:solidFill>
            <a:schemeClr val="accent4"/>
          </a:solidFill>
          <a:ln/>
        </p:spPr>
      </p:sp>
      <p:sp>
        <p:nvSpPr>
          <p:cNvPr id="5" name="Header text"/>
          <p:cNvSpPr txBox="1"/>
          <p:nvPr/>
        </p:nvSpPr>
        <p:spPr>
          <a:xfrm>
            <a:off x="731520"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Exposed secrets</a:t>
            </a:r>
            <a:endParaRPr lang="en-US" sz="1800" dirty="0"/>
          </a:p>
        </p:txBody>
      </p:sp>
      <p:sp>
        <p:nvSpPr>
          <p:cNvPr id="6" name="Code block"/>
          <p:cNvSpPr/>
          <p:nvPr/>
        </p:nvSpPr>
        <p:spPr>
          <a:xfrm>
            <a:off x="548640" y="2057400"/>
            <a:ext cx="5413248" cy="1261872"/>
          </a:xfrm>
          <a:prstGeom prst="roundRect">
            <a:avLst>
              <a:gd name="adj" fmla="val 5797"/>
            </a:avLst>
          </a:prstGeom>
          <a:solidFill>
            <a:srgbClr val="0B1B38"/>
          </a:solidFill>
          <a:ln/>
        </p:spPr>
      </p:sp>
      <p:sp>
        <p:nvSpPr>
          <p:cNvPr id="7" name="Code text"/>
          <p:cNvSpPr txBox="1"/>
          <p:nvPr/>
        </p:nvSpPr>
        <p:spPr>
          <a:xfrm>
            <a:off x="777240" y="2240280"/>
            <a:ext cx="4956048" cy="896112"/>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API_KEY = "sk-live-1234abcd"</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PASSWORD = "admin123"</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print("Login failed for", PASSWORD)</a:t>
            </a:r>
            <a:endParaRPr lang="en-US" sz="1500" dirty="0"/>
          </a:p>
        </p:txBody>
      </p:sp>
      <p:sp>
        <p:nvSpPr>
          <p:cNvPr id="8" name="Header Read secrets from the environment"/>
          <p:cNvSpPr/>
          <p:nvPr/>
        </p:nvSpPr>
        <p:spPr>
          <a:xfrm>
            <a:off x="6227064" y="1463040"/>
            <a:ext cx="5413248" cy="457200"/>
          </a:xfrm>
          <a:prstGeom prst="roundRect">
            <a:avLst>
              <a:gd name="adj" fmla="val 16000"/>
            </a:avLst>
          </a:prstGeom>
          <a:solidFill>
            <a:schemeClr val="accent3"/>
          </a:solidFill>
          <a:ln/>
        </p:spPr>
      </p:sp>
      <p:sp>
        <p:nvSpPr>
          <p:cNvPr id="9" name="Header text"/>
          <p:cNvSpPr txBox="1"/>
          <p:nvPr/>
        </p:nvSpPr>
        <p:spPr>
          <a:xfrm>
            <a:off x="6409944" y="1463040"/>
            <a:ext cx="5047488" cy="457200"/>
          </a:xfrm>
          <a:prstGeom prst="rect">
            <a:avLst/>
          </a:prstGeom>
          <a:noFill/>
          <a:ln/>
        </p:spPr>
        <p:txBody>
          <a:bodyPr wrap="square" lIns="0" tIns="0" rIns="0" bIns="0" rtlCol="0" anchor="ctr"/>
          <a:lstStyle/>
          <a:p>
            <a:pPr indent="0" marL="0">
              <a:buNone/>
            </a:pPr>
            <a:r>
              <a:rPr lang="en-US" sz="1800" b="1" dirty="0">
                <a:solidFill>
                  <a:schemeClr val="bg1"/>
                </a:solidFill>
              </a:rPr>
              <a:t>Read secrets from the environment</a:t>
            </a:r>
            <a:endParaRPr lang="en-US" sz="1800" dirty="0"/>
          </a:p>
        </p:txBody>
      </p:sp>
      <p:sp>
        <p:nvSpPr>
          <p:cNvPr id="10" name="Code block"/>
          <p:cNvSpPr/>
          <p:nvPr/>
        </p:nvSpPr>
        <p:spPr>
          <a:xfrm>
            <a:off x="6227064" y="2057400"/>
            <a:ext cx="5413248" cy="1545336"/>
          </a:xfrm>
          <a:prstGeom prst="roundRect">
            <a:avLst>
              <a:gd name="adj" fmla="val 4734"/>
            </a:avLst>
          </a:prstGeom>
          <a:solidFill>
            <a:srgbClr val="0B1B38"/>
          </a:solidFill>
          <a:ln/>
        </p:spPr>
      </p:sp>
      <p:sp>
        <p:nvSpPr>
          <p:cNvPr id="11" name="Code text"/>
          <p:cNvSpPr txBox="1"/>
          <p:nvPr/>
        </p:nvSpPr>
        <p:spPr>
          <a:xfrm>
            <a:off x="6455664" y="2240280"/>
            <a:ext cx="4956048" cy="1179576"/>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import os</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API_KEY = os.environ.get("API_KEY")</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if API_KEY is None: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print("API key not configured.")</a:t>
            </a:r>
            <a:endParaRPr lang="en-US" sz="1500" dirty="0"/>
          </a:p>
        </p:txBody>
      </p:sp>
      <p:sp>
        <p:nvSpPr>
          <p:cNvPr id="12" name="Caption"/>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800" dirty="0">
                <a:solidFill>
                  <a:schemeClr val="tx1"/>
                </a:solidFill>
              </a:rPr>
              <a:t>Secrets belong outside source files, and never in error messages.</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5. Safe file handling</a:t>
            </a:r>
            <a:endParaRPr lang="en-US" sz="3000" dirty="0"/>
          </a:p>
        </p:txBody>
      </p:sp>
      <p:sp>
        <p:nvSpPr>
          <p:cNvPr id="4" name="Code block"/>
          <p:cNvSpPr/>
          <p:nvPr/>
        </p:nvSpPr>
        <p:spPr>
          <a:xfrm>
            <a:off x="548640" y="1463040"/>
            <a:ext cx="6583680" cy="2962656"/>
          </a:xfrm>
          <a:prstGeom prst="roundRect">
            <a:avLst>
              <a:gd name="adj" fmla="val 2469"/>
            </a:avLst>
          </a:prstGeom>
          <a:solidFill>
            <a:srgbClr val="0B1B38"/>
          </a:solidFill>
          <a:ln/>
        </p:spPr>
      </p:sp>
      <p:sp>
        <p:nvSpPr>
          <p:cNvPr id="5" name="Code text"/>
          <p:cNvSpPr txBox="1"/>
          <p:nvPr/>
        </p:nvSpPr>
        <p:spPr>
          <a:xfrm>
            <a:off x="777240" y="1645920"/>
            <a:ext cx="6126480" cy="2596896"/>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from pathlib import Path</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DATA_DIR = Path("data").resolve()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def read_data_file(filename):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path = (DATA_DIR / filename).resolve()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if DATA_DIR not in path.parents:</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raise ValueError("Access denied")</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return path.read_text(encoding="utf-8")</a:t>
            </a:r>
            <a:endParaRPr lang="en-US" sz="1500" dirty="0"/>
          </a:p>
        </p:txBody>
      </p:sp>
      <p:sp>
        <p:nvSpPr>
          <p:cNvPr id="6"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The idea</a:t>
            </a:r>
            <a:endParaRPr lang="en-US" sz="2200" dirty="0"/>
          </a:p>
        </p:txBody>
      </p:sp>
      <p:sp>
        <p:nvSpPr>
          <p:cNvPr id="7"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Resolve the full path first</a:t>
            </a:r>
            <a:endParaRPr lang="en-US" sz="1800" dirty="0"/>
          </a:p>
          <a:p>
            <a:pPr marL="342900" indent="-342900">
              <a:spcAft>
                <a:spcPts val="1000"/>
              </a:spcAft>
              <a:buSzPct val="100000"/>
              <a:buChar char="•"/>
            </a:pPr>
            <a:r>
              <a:rPr lang="en-US" sz="1800" dirty="0">
                <a:solidFill>
                  <a:schemeClr val="tx1"/>
                </a:solidFill>
              </a:rPr>
              <a:t>Allow files only inside the data folder</a:t>
            </a:r>
            <a:endParaRPr lang="en-US" sz="1800" dirty="0"/>
          </a:p>
          <a:p>
            <a:pPr marL="342900" indent="-342900">
              <a:spcAft>
                <a:spcPts val="1000"/>
              </a:spcAft>
              <a:buSzPct val="100000"/>
              <a:buChar char="•"/>
            </a:pPr>
            <a:r>
              <a:rPr lang="en-US" sz="1800" dirty="0">
                <a:solidFill>
                  <a:schemeClr val="tx1"/>
                </a:solidFill>
              </a:rPr>
              <a:t>Blocks inputs such as ../secret.txt</a:t>
            </a:r>
            <a:endParaRPr lang="en-US" sz="1800" dirty="0"/>
          </a:p>
          <a:p>
            <a:pPr marL="342900" indent="-342900">
              <a:spcAft>
                <a:spcPts val="1000"/>
              </a:spcAft>
              <a:buSzPct val="100000"/>
              <a:buChar char="•"/>
            </a:pPr>
            <a:r>
              <a:rPr lang="en-US" sz="1800" dirty="0">
                <a:solidFill>
                  <a:schemeClr val="tx1"/>
                </a:solidFill>
              </a:rPr>
              <a:t>Give a clear error instead of crashing</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Practice: make the app safe</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15 minutes (30-45)</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Corrected program and security observations.</a:t>
            </a:r>
            <a:endParaRPr lang="en-US" sz="1600" dirty="0"/>
          </a:p>
        </p:txBody>
      </p:sp>
      <p:sp>
        <p:nvSpPr>
          <p:cNvPr id="10" name="Task marker 1"/>
          <p:cNvSpPr/>
          <p:nvPr/>
        </p:nvSpPr>
        <p:spPr>
          <a:xfrm>
            <a:off x="4206240" y="1626108"/>
            <a:ext cx="420624" cy="420624"/>
          </a:xfrm>
          <a:prstGeom prst="ellipse">
            <a:avLst/>
          </a:prstGeom>
          <a:solidFill>
            <a:schemeClr val="accent2"/>
          </a:solidFill>
          <a:ln/>
        </p:spPr>
      </p:sp>
      <p:sp>
        <p:nvSpPr>
          <p:cNvPr id="11" name="Task number"/>
          <p:cNvSpPr txBox="1"/>
          <p:nvPr/>
        </p:nvSpPr>
        <p:spPr>
          <a:xfrm>
            <a:off x="4206240" y="16261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46760"/>
          </a:xfrm>
          <a:prstGeom prst="rect">
            <a:avLst/>
          </a:prstGeom>
          <a:noFill/>
          <a:ln/>
        </p:spPr>
        <p:txBody>
          <a:bodyPr wrap="square" lIns="0" tIns="0" rIns="0" bIns="0" rtlCol="0" anchor="ctr"/>
          <a:lstStyle/>
          <a:p>
            <a:pPr indent="0" marL="0">
              <a:buNone/>
            </a:pPr>
            <a:r>
              <a:rPr lang="en-US" sz="1900" dirty="0">
                <a:solidFill>
                  <a:schemeClr val="tx1"/>
                </a:solidFill>
              </a:rPr>
              <a:t>Open secure_programming/insecure_order_app.py and run it.</a:t>
            </a:r>
            <a:endParaRPr lang="en-US" sz="1900" dirty="0"/>
          </a:p>
        </p:txBody>
      </p:sp>
      <p:sp>
        <p:nvSpPr>
          <p:cNvPr id="13" name="Task marker 2"/>
          <p:cNvSpPr/>
          <p:nvPr/>
        </p:nvSpPr>
        <p:spPr>
          <a:xfrm>
            <a:off x="4206240" y="2372868"/>
            <a:ext cx="420624" cy="420624"/>
          </a:xfrm>
          <a:prstGeom prst="ellipse">
            <a:avLst/>
          </a:prstGeom>
          <a:solidFill>
            <a:schemeClr val="accent2"/>
          </a:solidFill>
          <a:ln/>
        </p:spPr>
      </p:sp>
      <p:sp>
        <p:nvSpPr>
          <p:cNvPr id="14" name="Task number"/>
          <p:cNvSpPr txBox="1"/>
          <p:nvPr/>
        </p:nvSpPr>
        <p:spPr>
          <a:xfrm>
            <a:off x="4206240" y="23728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09800"/>
            <a:ext cx="6766560" cy="746760"/>
          </a:xfrm>
          <a:prstGeom prst="rect">
            <a:avLst/>
          </a:prstGeom>
          <a:noFill/>
          <a:ln/>
        </p:spPr>
        <p:txBody>
          <a:bodyPr wrap="square" lIns="0" tIns="0" rIns="0" bIns="0" rtlCol="0" anchor="ctr"/>
          <a:lstStyle/>
          <a:p>
            <a:pPr indent="0" marL="0">
              <a:buNone/>
            </a:pPr>
            <a:r>
              <a:rPr lang="en-US" sz="1900" dirty="0">
                <a:solidFill>
                  <a:schemeClr val="tx1"/>
                </a:solidFill>
              </a:rPr>
              <a:t>Try abc, 0 and -2 and see what happens.</a:t>
            </a:r>
            <a:endParaRPr lang="en-US" sz="1900" dirty="0"/>
          </a:p>
        </p:txBody>
      </p:sp>
      <p:sp>
        <p:nvSpPr>
          <p:cNvPr id="16" name="Task marker 3"/>
          <p:cNvSpPr/>
          <p:nvPr/>
        </p:nvSpPr>
        <p:spPr>
          <a:xfrm>
            <a:off x="4206240" y="3119628"/>
            <a:ext cx="420624" cy="420624"/>
          </a:xfrm>
          <a:prstGeom prst="ellipse">
            <a:avLst/>
          </a:prstGeom>
          <a:solidFill>
            <a:schemeClr val="accent2"/>
          </a:solidFill>
          <a:ln/>
        </p:spPr>
      </p:sp>
      <p:sp>
        <p:nvSpPr>
          <p:cNvPr id="17" name="Task number"/>
          <p:cNvSpPr txBox="1"/>
          <p:nvPr/>
        </p:nvSpPr>
        <p:spPr>
          <a:xfrm>
            <a:off x="4206240" y="31196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2956560"/>
            <a:ext cx="6766560" cy="746760"/>
          </a:xfrm>
          <a:prstGeom prst="rect">
            <a:avLst/>
          </a:prstGeom>
          <a:noFill/>
          <a:ln/>
        </p:spPr>
        <p:txBody>
          <a:bodyPr wrap="square" lIns="0" tIns="0" rIns="0" bIns="0" rtlCol="0" anchor="ctr"/>
          <a:lstStyle/>
          <a:p>
            <a:pPr indent="0" marL="0">
              <a:buNone/>
            </a:pPr>
            <a:r>
              <a:rPr lang="en-US" sz="1900" dirty="0">
                <a:solidFill>
                  <a:schemeClr val="tx1"/>
                </a:solidFill>
              </a:rPr>
              <a:t>Add input validation so bad input is rejected politely.</a:t>
            </a:r>
            <a:endParaRPr lang="en-US" sz="1900" dirty="0"/>
          </a:p>
        </p:txBody>
      </p:sp>
      <p:sp>
        <p:nvSpPr>
          <p:cNvPr id="19" name="Task marker 4"/>
          <p:cNvSpPr/>
          <p:nvPr/>
        </p:nvSpPr>
        <p:spPr>
          <a:xfrm>
            <a:off x="4206240" y="3866388"/>
            <a:ext cx="420624" cy="420624"/>
          </a:xfrm>
          <a:prstGeom prst="ellipse">
            <a:avLst/>
          </a:prstGeom>
          <a:solidFill>
            <a:schemeClr val="accent2"/>
          </a:solidFill>
          <a:ln/>
        </p:spPr>
      </p:sp>
      <p:sp>
        <p:nvSpPr>
          <p:cNvPr id="20" name="Task number"/>
          <p:cNvSpPr txBox="1"/>
          <p:nvPr/>
        </p:nvSpPr>
        <p:spPr>
          <a:xfrm>
            <a:off x="4206240" y="38663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03320"/>
            <a:ext cx="6766560" cy="746760"/>
          </a:xfrm>
          <a:prstGeom prst="rect">
            <a:avLst/>
          </a:prstGeom>
          <a:noFill/>
          <a:ln/>
        </p:spPr>
        <p:txBody>
          <a:bodyPr wrap="square" lIns="0" tIns="0" rIns="0" bIns="0" rtlCol="0" anchor="ctr"/>
          <a:lstStyle/>
          <a:p>
            <a:pPr indent="0" marL="0">
              <a:buNone/>
            </a:pPr>
            <a:r>
              <a:rPr lang="en-US" sz="1900" dirty="0">
                <a:solidFill>
                  <a:schemeClr val="tx1"/>
                </a:solidFill>
              </a:rPr>
              <a:t>Replace the bare except with a specific exception.</a:t>
            </a:r>
            <a:endParaRPr lang="en-US" sz="1900" dirty="0"/>
          </a:p>
        </p:txBody>
      </p:sp>
      <p:sp>
        <p:nvSpPr>
          <p:cNvPr id="22" name="Task marker 5"/>
          <p:cNvSpPr/>
          <p:nvPr/>
        </p:nvSpPr>
        <p:spPr>
          <a:xfrm>
            <a:off x="4206240" y="4613148"/>
            <a:ext cx="420624" cy="420624"/>
          </a:xfrm>
          <a:prstGeom prst="ellipse">
            <a:avLst/>
          </a:prstGeom>
          <a:solidFill>
            <a:schemeClr val="accent2"/>
          </a:solidFill>
          <a:ln/>
        </p:spPr>
      </p:sp>
      <p:sp>
        <p:nvSpPr>
          <p:cNvPr id="23" name="Task number"/>
          <p:cNvSpPr txBox="1"/>
          <p:nvPr/>
        </p:nvSpPr>
        <p:spPr>
          <a:xfrm>
            <a:off x="4206240" y="46131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450080"/>
            <a:ext cx="6766560" cy="746760"/>
          </a:xfrm>
          <a:prstGeom prst="rect">
            <a:avLst/>
          </a:prstGeom>
          <a:noFill/>
          <a:ln/>
        </p:spPr>
        <p:txBody>
          <a:bodyPr wrap="square" lIns="0" tIns="0" rIns="0" bIns="0" rtlCol="0" anchor="ctr"/>
          <a:lstStyle/>
          <a:p>
            <a:pPr indent="0" marL="0">
              <a:buNone/>
            </a:pPr>
            <a:r>
              <a:rPr lang="en-US" sz="1900" dirty="0">
                <a:solidFill>
                  <a:schemeClr val="tx1"/>
                </a:solidFill>
              </a:rPr>
              <a:t>Move the hard-coded API key into an environment variable.</a:t>
            </a:r>
            <a:endParaRPr lang="en-US" sz="1900" dirty="0"/>
          </a:p>
        </p:txBody>
      </p:sp>
      <p:sp>
        <p:nvSpPr>
          <p:cNvPr id="25" name="Task marker 6"/>
          <p:cNvSpPr/>
          <p:nvPr/>
        </p:nvSpPr>
        <p:spPr>
          <a:xfrm>
            <a:off x="4206240" y="5359908"/>
            <a:ext cx="420624" cy="420624"/>
          </a:xfrm>
          <a:prstGeom prst="ellipse">
            <a:avLst/>
          </a:prstGeom>
          <a:solidFill>
            <a:schemeClr val="accent2"/>
          </a:solidFill>
          <a:ln/>
        </p:spPr>
      </p:sp>
      <p:sp>
        <p:nvSpPr>
          <p:cNvPr id="26" name="Task number"/>
          <p:cNvSpPr txBox="1"/>
          <p:nvPr/>
        </p:nvSpPr>
        <p:spPr>
          <a:xfrm>
            <a:off x="4206240" y="53599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7" name="Task text"/>
          <p:cNvSpPr txBox="1"/>
          <p:nvPr/>
        </p:nvSpPr>
        <p:spPr>
          <a:xfrm>
            <a:off x="4846320" y="5196840"/>
            <a:ext cx="6766560" cy="746760"/>
          </a:xfrm>
          <a:prstGeom prst="rect">
            <a:avLst/>
          </a:prstGeom>
          <a:noFill/>
          <a:ln/>
        </p:spPr>
        <p:txBody>
          <a:bodyPr wrap="square" lIns="0" tIns="0" rIns="0" bIns="0" rtlCol="0" anchor="ctr"/>
          <a:lstStyle/>
          <a:p>
            <a:pPr indent="0" marL="0">
              <a:buNone/>
            </a:pPr>
            <a:r>
              <a:rPr lang="en-US" sz="1900" dirty="0">
                <a:solidFill>
                  <a:schemeClr val="tx1"/>
                </a:solidFill>
              </a:rPr>
              <a:t>Record each security improvement you made.</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Testing versus debugging</a:t>
            </a:r>
            <a:endParaRPr lang="en-US" sz="3000" dirty="0"/>
          </a:p>
        </p:txBody>
      </p:sp>
      <p:sp>
        <p:nvSpPr>
          <p:cNvPr id="4" name="Panel Testing"/>
          <p:cNvSpPr/>
          <p:nvPr/>
        </p:nvSpPr>
        <p:spPr>
          <a:xfrm>
            <a:off x="548640" y="1463040"/>
            <a:ext cx="5413248" cy="4480560"/>
          </a:xfrm>
          <a:prstGeom prst="roundRect">
            <a:avLst>
              <a:gd name="adj" fmla="val 2041"/>
            </a:avLst>
          </a:prstGeom>
          <a:solidFill>
            <a:schemeClr val="bg2"/>
          </a:solidFill>
          <a:ln/>
        </p:spPr>
      </p:sp>
      <p:sp>
        <p:nvSpPr>
          <p:cNvPr id="5" name="Panel header Testing"/>
          <p:cNvSpPr/>
          <p:nvPr/>
        </p:nvSpPr>
        <p:spPr>
          <a:xfrm>
            <a:off x="548640" y="1463040"/>
            <a:ext cx="5413248" cy="594360"/>
          </a:xfrm>
          <a:prstGeom prst="roundRect">
            <a:avLst>
              <a:gd name="adj" fmla="val 15385"/>
            </a:avLst>
          </a:prstGeom>
          <a:solidFill>
            <a:schemeClr val="accent1"/>
          </a:solidFill>
          <a:ln/>
        </p:spPr>
      </p:sp>
      <p:sp>
        <p:nvSpPr>
          <p:cNvPr id="6" name="Panel title"/>
          <p:cNvSpPr txBox="1"/>
          <p:nvPr/>
        </p:nvSpPr>
        <p:spPr>
          <a:xfrm>
            <a:off x="822960" y="1463040"/>
            <a:ext cx="4864608" cy="594360"/>
          </a:xfrm>
          <a:prstGeom prst="rect">
            <a:avLst/>
          </a:prstGeom>
          <a:noFill/>
          <a:ln/>
        </p:spPr>
        <p:txBody>
          <a:bodyPr wrap="square" lIns="0" tIns="0" rIns="0" bIns="0" rtlCol="0" anchor="ctr"/>
          <a:lstStyle/>
          <a:p>
            <a:pPr indent="0" marL="0">
              <a:buNone/>
            </a:pPr>
            <a:r>
              <a:rPr lang="en-US" sz="2200" b="1" dirty="0">
                <a:solidFill>
                  <a:schemeClr val="bg1"/>
                </a:solidFill>
              </a:rPr>
              <a:t>Testing</a:t>
            </a:r>
            <a:endParaRPr lang="en-US" sz="2200" dirty="0"/>
          </a:p>
        </p:txBody>
      </p:sp>
      <p:sp>
        <p:nvSpPr>
          <p:cNvPr id="7" name="Panel text"/>
          <p:cNvSpPr txBox="1"/>
          <p:nvPr/>
        </p:nvSpPr>
        <p:spPr>
          <a:xfrm>
            <a:off x="822960" y="2286000"/>
            <a:ext cx="4864608" cy="347472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chemeClr val="tx1"/>
                </a:solidFill>
              </a:rPr>
              <a:t>Checks whether the program behaves as expected</a:t>
            </a:r>
            <a:endParaRPr lang="en-US" sz="1900" dirty="0"/>
          </a:p>
          <a:p>
            <a:pPr marL="342900" indent="-342900">
              <a:spcAft>
                <a:spcPts val="900"/>
              </a:spcAft>
              <a:buSzPct val="100000"/>
              <a:buChar char="•"/>
            </a:pPr>
            <a:r>
              <a:rPr lang="en-US" sz="1900" dirty="0">
                <a:solidFill>
                  <a:schemeClr val="tx1"/>
                </a:solidFill>
              </a:rPr>
              <a:t>Planned in advance with inputs and expected results</a:t>
            </a:r>
            <a:endParaRPr lang="en-US" sz="1900" dirty="0"/>
          </a:p>
          <a:p>
            <a:pPr marL="342900" indent="-342900">
              <a:spcAft>
                <a:spcPts val="900"/>
              </a:spcAft>
              <a:buSzPct val="100000"/>
              <a:buChar char="•"/>
            </a:pPr>
            <a:r>
              <a:rPr lang="en-US" sz="1900" dirty="0">
                <a:solidFill>
                  <a:schemeClr val="tx1"/>
                </a:solidFill>
              </a:rPr>
              <a:t>Runs normal, boundary and invalid cases</a:t>
            </a:r>
            <a:endParaRPr lang="en-US" sz="1900" dirty="0"/>
          </a:p>
          <a:p>
            <a:pPr marL="342900" indent="-342900">
              <a:spcAft>
                <a:spcPts val="900"/>
              </a:spcAft>
              <a:buSzPct val="100000"/>
              <a:buChar char="•"/>
            </a:pPr>
            <a:r>
              <a:rPr lang="en-US" sz="1900" dirty="0">
                <a:solidFill>
                  <a:schemeClr val="tx1"/>
                </a:solidFill>
              </a:rPr>
              <a:t>Produces evidence: a pass or fail for each case</a:t>
            </a:r>
            <a:endParaRPr lang="en-US" sz="1900" dirty="0"/>
          </a:p>
        </p:txBody>
      </p:sp>
      <p:sp>
        <p:nvSpPr>
          <p:cNvPr id="8" name="Panel Debugging"/>
          <p:cNvSpPr/>
          <p:nvPr/>
        </p:nvSpPr>
        <p:spPr>
          <a:xfrm>
            <a:off x="6227064" y="1463040"/>
            <a:ext cx="5413248" cy="4480560"/>
          </a:xfrm>
          <a:prstGeom prst="roundRect">
            <a:avLst>
              <a:gd name="adj" fmla="val 2041"/>
            </a:avLst>
          </a:prstGeom>
          <a:solidFill>
            <a:schemeClr val="bg2"/>
          </a:solidFill>
          <a:ln/>
        </p:spPr>
      </p:sp>
      <p:sp>
        <p:nvSpPr>
          <p:cNvPr id="9" name="Panel header Debugging"/>
          <p:cNvSpPr/>
          <p:nvPr/>
        </p:nvSpPr>
        <p:spPr>
          <a:xfrm>
            <a:off x="6227064" y="1463040"/>
            <a:ext cx="5413248" cy="594360"/>
          </a:xfrm>
          <a:prstGeom prst="roundRect">
            <a:avLst>
              <a:gd name="adj" fmla="val 15385"/>
            </a:avLst>
          </a:prstGeom>
          <a:solidFill>
            <a:schemeClr val="accent2"/>
          </a:solidFill>
          <a:ln/>
        </p:spPr>
      </p:sp>
      <p:sp>
        <p:nvSpPr>
          <p:cNvPr id="10" name="Panel title"/>
          <p:cNvSpPr txBox="1"/>
          <p:nvPr/>
        </p:nvSpPr>
        <p:spPr>
          <a:xfrm>
            <a:off x="6501384" y="1463040"/>
            <a:ext cx="4864608" cy="594360"/>
          </a:xfrm>
          <a:prstGeom prst="rect">
            <a:avLst/>
          </a:prstGeom>
          <a:noFill/>
          <a:ln/>
        </p:spPr>
        <p:txBody>
          <a:bodyPr wrap="square" lIns="0" tIns="0" rIns="0" bIns="0" rtlCol="0" anchor="ctr"/>
          <a:lstStyle/>
          <a:p>
            <a:pPr indent="0" marL="0">
              <a:buNone/>
            </a:pPr>
            <a:r>
              <a:rPr lang="en-US" sz="2200" b="1" dirty="0">
                <a:solidFill>
                  <a:schemeClr val="accent1"/>
                </a:solidFill>
              </a:rPr>
              <a:t>Debugging</a:t>
            </a:r>
            <a:endParaRPr lang="en-US" sz="2200" dirty="0"/>
          </a:p>
        </p:txBody>
      </p:sp>
      <p:sp>
        <p:nvSpPr>
          <p:cNvPr id="11" name="Panel text"/>
          <p:cNvSpPr txBox="1"/>
          <p:nvPr/>
        </p:nvSpPr>
        <p:spPr>
          <a:xfrm>
            <a:off x="6501384" y="2286000"/>
            <a:ext cx="4864608" cy="347472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chemeClr val="tx1"/>
                </a:solidFill>
              </a:rPr>
              <a:t>Investigates why behaviour is incorrect</a:t>
            </a:r>
            <a:endParaRPr lang="en-US" sz="1900" dirty="0"/>
          </a:p>
          <a:p>
            <a:pPr marL="342900" indent="-342900">
              <a:spcAft>
                <a:spcPts val="900"/>
              </a:spcAft>
              <a:buSzPct val="100000"/>
              <a:buChar char="•"/>
            </a:pPr>
            <a:r>
              <a:rPr lang="en-US" sz="1900" dirty="0">
                <a:solidFill>
                  <a:schemeClr val="tx1"/>
                </a:solidFill>
              </a:rPr>
              <a:t>Starts when a test fails or a user reports a problem</a:t>
            </a:r>
            <a:endParaRPr lang="en-US" sz="1900" dirty="0"/>
          </a:p>
          <a:p>
            <a:pPr marL="342900" indent="-342900">
              <a:spcAft>
                <a:spcPts val="900"/>
              </a:spcAft>
              <a:buSzPct val="100000"/>
              <a:buChar char="•"/>
            </a:pPr>
            <a:r>
              <a:rPr lang="en-US" sz="1900" dirty="0">
                <a:solidFill>
                  <a:schemeClr val="tx1"/>
                </a:solidFill>
              </a:rPr>
              <a:t>Uses the debugger, tracing and logs</a:t>
            </a:r>
            <a:endParaRPr lang="en-US" sz="1900" dirty="0"/>
          </a:p>
          <a:p>
            <a:pPr marL="342900" indent="-342900">
              <a:spcAft>
                <a:spcPts val="900"/>
              </a:spcAft>
              <a:buSzPct val="100000"/>
              <a:buChar char="•"/>
            </a:pPr>
            <a:r>
              <a:rPr lang="en-US" sz="1900" dirty="0">
                <a:solidFill>
                  <a:schemeClr val="tx1"/>
                </a:solidFill>
              </a:rPr>
              <a:t>Ends with a fix that is verified by retesting</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Test-case table</a:t>
            </a:r>
            <a:endParaRPr lang="en-US" sz="3000" dirty="0"/>
          </a:p>
        </p:txBody>
      </p:sp>
      <p:graphicFrame>
        <p:nvGraphicFramePr>
          <p:cNvPr id="15"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2194560"/>
                <a:gridCol w="3108960"/>
                <a:gridCol w="2011680"/>
                <a:gridCol w="1554480"/>
              </a:tblGrid>
              <a:tr h="640080">
                <a:tc>
                  <a:txBody>
                    <a:bodyPr/>
                    <a:lstStyle/>
                    <a:p>
                      <a:pPr indent="0" marL="0">
                        <a:buNone/>
                      </a:pPr>
                      <a:r>
                        <a:rPr lang="en-US" sz="1600" b="1" dirty="0">
                          <a:solidFill>
                            <a:schemeClr val="bg1"/>
                          </a:solidFill>
                        </a:rPr>
                        <a:t>Test case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Example input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Expected result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Actual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Pass?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640080">
                <a:tc>
                  <a:txBody>
                    <a:bodyPr/>
                    <a:lstStyle/>
                    <a:p>
                      <a:pPr indent="0" marL="0">
                        <a:buNone/>
                      </a:pPr>
                      <a:r>
                        <a:rPr lang="en-US" sz="1600" b="1" dirty="0">
                          <a:solidFill>
                            <a:schemeClr val="tx1"/>
                          </a:solidFill>
                        </a:rPr>
                        <a:t>Normal case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Quantity 3</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Accepted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Boundary case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Quantity 1</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Accepted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Invalid type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abc</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Clear validation message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Zero value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Quantity 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Rejected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Negative value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Quantity -2</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Rejected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Optional extension: assert statements</a:t>
            </a:r>
            <a:endParaRPr lang="en-US" sz="3000" dirty="0"/>
          </a:p>
        </p:txBody>
      </p:sp>
      <p:sp>
        <p:nvSpPr>
          <p:cNvPr id="4" name="Code block"/>
          <p:cNvSpPr/>
          <p:nvPr/>
        </p:nvSpPr>
        <p:spPr>
          <a:xfrm>
            <a:off x="548640" y="1463040"/>
            <a:ext cx="6583680" cy="2679192"/>
          </a:xfrm>
          <a:prstGeom prst="roundRect">
            <a:avLst>
              <a:gd name="adj" fmla="val 2730"/>
            </a:avLst>
          </a:prstGeom>
          <a:solidFill>
            <a:srgbClr val="0B1B38"/>
          </a:solidFill>
          <a:ln/>
        </p:spPr>
      </p:sp>
      <p:sp>
        <p:nvSpPr>
          <p:cNvPr id="5" name="Code text"/>
          <p:cNvSpPr txBox="1"/>
          <p:nvPr/>
        </p:nvSpPr>
        <p:spPr>
          <a:xfrm>
            <a:off x="777240" y="1645920"/>
            <a:ext cx="6126480" cy="2313432"/>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def is_valid_quantity(value):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return isinstance(value, int) and value &gt;= 1</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assert is_valid_quantity(3)</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assert is_valid_quantity(1)</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assert not is_valid_quantity(0)</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assert not is_valid_quantity(-2)</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print("All tests passed")</a:t>
            </a:r>
            <a:endParaRPr lang="en-US" sz="1500" dirty="0"/>
          </a:p>
        </p:txBody>
      </p:sp>
      <p:sp>
        <p:nvSpPr>
          <p:cNvPr id="6" name="Label"/>
          <p:cNvSpPr txBox="1"/>
          <p:nvPr/>
        </p:nvSpPr>
        <p:spPr>
          <a:xfrm>
            <a:off x="548640" y="4352544"/>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a:t>
            </a:r>
            <a:endParaRPr lang="en-US" sz="1200" dirty="0"/>
          </a:p>
        </p:txBody>
      </p:sp>
      <p:sp>
        <p:nvSpPr>
          <p:cNvPr id="7" name="Output block"/>
          <p:cNvSpPr/>
          <p:nvPr/>
        </p:nvSpPr>
        <p:spPr>
          <a:xfrm>
            <a:off x="548640" y="4626864"/>
            <a:ext cx="6583680" cy="694944"/>
          </a:xfrm>
          <a:prstGeom prst="roundRect">
            <a:avLst>
              <a:gd name="adj" fmla="val 10526"/>
            </a:avLst>
          </a:prstGeom>
          <a:solidFill>
            <a:srgbClr val="0B1B38"/>
          </a:solidFill>
          <a:ln/>
        </p:spPr>
      </p:sp>
      <p:sp>
        <p:nvSpPr>
          <p:cNvPr id="8" name="Code text"/>
          <p:cNvSpPr txBox="1"/>
          <p:nvPr/>
        </p:nvSpPr>
        <p:spPr>
          <a:xfrm>
            <a:off x="777240" y="4809744"/>
            <a:ext cx="6126480" cy="329184"/>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All tests passed</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Automating tests</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assert stops the program if a condition is false</a:t>
            </a:r>
            <a:endParaRPr lang="en-US" sz="1800" dirty="0"/>
          </a:p>
          <a:p>
            <a:pPr marL="342900" indent="-342900">
              <a:spcAft>
                <a:spcPts val="1000"/>
              </a:spcAft>
              <a:buSzPct val="100000"/>
              <a:buChar char="•"/>
            </a:pPr>
            <a:r>
              <a:rPr lang="en-US" sz="1800" dirty="0">
                <a:solidFill>
                  <a:schemeClr val="tx1"/>
                </a:solidFill>
              </a:rPr>
              <a:t>Each line is one automatic test case</a:t>
            </a:r>
            <a:endParaRPr lang="en-US" sz="1800" dirty="0"/>
          </a:p>
          <a:p>
            <a:pPr marL="342900" indent="-342900">
              <a:spcAft>
                <a:spcPts val="1000"/>
              </a:spcAft>
              <a:buSzPct val="100000"/>
              <a:buChar char="•"/>
            </a:pPr>
            <a:r>
              <a:rPr lang="en-US" sz="1800" dirty="0">
                <a:solidFill>
                  <a:schemeClr val="tx1"/>
                </a:solidFill>
              </a:rPr>
              <a:t>Rerun them after every change</a:t>
            </a:r>
            <a:endParaRPr lang="en-US" sz="1800" dirty="0"/>
          </a:p>
          <a:p>
            <a:pPr marL="342900" indent="-342900">
              <a:spcAft>
                <a:spcPts val="1000"/>
              </a:spcAft>
              <a:buSzPct val="100000"/>
              <a:buChar char="•"/>
            </a:pPr>
            <a:r>
              <a:rPr lang="en-US" sz="1800" dirty="0">
                <a:solidFill>
                  <a:schemeClr val="tx1"/>
                </a:solidFill>
              </a:rPr>
              <a:t>Use only if the class is comfortable</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Practice: test your program</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10 minutes (60-70)</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Completed test-case table.</a:t>
            </a:r>
            <a:endParaRPr lang="en-US" sz="1600" dirty="0"/>
          </a:p>
        </p:txBody>
      </p:sp>
      <p:sp>
        <p:nvSpPr>
          <p:cNvPr id="10" name="Task marker 1"/>
          <p:cNvSpPr/>
          <p:nvPr/>
        </p:nvSpPr>
        <p:spPr>
          <a:xfrm>
            <a:off x="4206240" y="1641348"/>
            <a:ext cx="420624" cy="420624"/>
          </a:xfrm>
          <a:prstGeom prst="ellipse">
            <a:avLst/>
          </a:prstGeom>
          <a:solidFill>
            <a:schemeClr val="accent2"/>
          </a:solidFill>
          <a:ln/>
        </p:spPr>
      </p:sp>
      <p:sp>
        <p:nvSpPr>
          <p:cNvPr id="11" name="Task number"/>
          <p:cNvSpPr txBox="1"/>
          <p:nvPr/>
        </p:nvSpPr>
        <p:spPr>
          <a:xfrm>
            <a:off x="4206240" y="16413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77240"/>
          </a:xfrm>
          <a:prstGeom prst="rect">
            <a:avLst/>
          </a:prstGeom>
          <a:noFill/>
          <a:ln/>
        </p:spPr>
        <p:txBody>
          <a:bodyPr wrap="square" lIns="0" tIns="0" rIns="0" bIns="0" rtlCol="0" anchor="ctr"/>
          <a:lstStyle/>
          <a:p>
            <a:pPr indent="0" marL="0">
              <a:buNone/>
            </a:pPr>
            <a:r>
              <a:rPr lang="en-US" sz="1900" dirty="0">
                <a:solidFill>
                  <a:schemeClr val="tx1"/>
                </a:solidFill>
              </a:rPr>
              <a:t>Run your secured program with each input in the test table.</a:t>
            </a:r>
            <a:endParaRPr lang="en-US" sz="1900" dirty="0"/>
          </a:p>
        </p:txBody>
      </p:sp>
      <p:sp>
        <p:nvSpPr>
          <p:cNvPr id="13" name="Task marker 2"/>
          <p:cNvSpPr/>
          <p:nvPr/>
        </p:nvSpPr>
        <p:spPr>
          <a:xfrm>
            <a:off x="4206240" y="2418588"/>
            <a:ext cx="420624" cy="420624"/>
          </a:xfrm>
          <a:prstGeom prst="ellipse">
            <a:avLst/>
          </a:prstGeom>
          <a:solidFill>
            <a:schemeClr val="accent2"/>
          </a:solidFill>
          <a:ln/>
        </p:spPr>
      </p:sp>
      <p:sp>
        <p:nvSpPr>
          <p:cNvPr id="14" name="Task number"/>
          <p:cNvSpPr txBox="1"/>
          <p:nvPr/>
        </p:nvSpPr>
        <p:spPr>
          <a:xfrm>
            <a:off x="4206240" y="24185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40280"/>
            <a:ext cx="6766560" cy="777240"/>
          </a:xfrm>
          <a:prstGeom prst="rect">
            <a:avLst/>
          </a:prstGeom>
          <a:noFill/>
          <a:ln/>
        </p:spPr>
        <p:txBody>
          <a:bodyPr wrap="square" lIns="0" tIns="0" rIns="0" bIns="0" rtlCol="0" anchor="ctr"/>
          <a:lstStyle/>
          <a:p>
            <a:pPr indent="0" marL="0">
              <a:buNone/>
            </a:pPr>
            <a:r>
              <a:rPr lang="en-US" sz="1900" dirty="0">
                <a:solidFill>
                  <a:schemeClr val="tx1"/>
                </a:solidFill>
              </a:rPr>
              <a:t>Write the actual result in the table.</a:t>
            </a:r>
            <a:endParaRPr lang="en-US" sz="1900" dirty="0"/>
          </a:p>
        </p:txBody>
      </p:sp>
      <p:sp>
        <p:nvSpPr>
          <p:cNvPr id="16" name="Task marker 3"/>
          <p:cNvSpPr/>
          <p:nvPr/>
        </p:nvSpPr>
        <p:spPr>
          <a:xfrm>
            <a:off x="4206240" y="3195828"/>
            <a:ext cx="420624" cy="420624"/>
          </a:xfrm>
          <a:prstGeom prst="ellipse">
            <a:avLst/>
          </a:prstGeom>
          <a:solidFill>
            <a:schemeClr val="accent2"/>
          </a:solidFill>
          <a:ln/>
        </p:spPr>
      </p:sp>
      <p:sp>
        <p:nvSpPr>
          <p:cNvPr id="17" name="Task number"/>
          <p:cNvSpPr txBox="1"/>
          <p:nvPr/>
        </p:nvSpPr>
        <p:spPr>
          <a:xfrm>
            <a:off x="4206240" y="31958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3017520"/>
            <a:ext cx="6766560" cy="777240"/>
          </a:xfrm>
          <a:prstGeom prst="rect">
            <a:avLst/>
          </a:prstGeom>
          <a:noFill/>
          <a:ln/>
        </p:spPr>
        <p:txBody>
          <a:bodyPr wrap="square" lIns="0" tIns="0" rIns="0" bIns="0" rtlCol="0" anchor="ctr"/>
          <a:lstStyle/>
          <a:p>
            <a:pPr indent="0" marL="0">
              <a:buNone/>
            </a:pPr>
            <a:r>
              <a:rPr lang="en-US" sz="1900" dirty="0">
                <a:solidFill>
                  <a:schemeClr val="tx1"/>
                </a:solidFill>
              </a:rPr>
              <a:t>Mark Pass or Fail for each case.</a:t>
            </a:r>
            <a:endParaRPr lang="en-US" sz="1900" dirty="0"/>
          </a:p>
        </p:txBody>
      </p:sp>
      <p:sp>
        <p:nvSpPr>
          <p:cNvPr id="19" name="Task marker 4"/>
          <p:cNvSpPr/>
          <p:nvPr/>
        </p:nvSpPr>
        <p:spPr>
          <a:xfrm>
            <a:off x="4206240" y="3973068"/>
            <a:ext cx="420624" cy="420624"/>
          </a:xfrm>
          <a:prstGeom prst="ellipse">
            <a:avLst/>
          </a:prstGeom>
          <a:solidFill>
            <a:schemeClr val="accent2"/>
          </a:solidFill>
          <a:ln/>
        </p:spPr>
      </p:sp>
      <p:sp>
        <p:nvSpPr>
          <p:cNvPr id="20" name="Task number"/>
          <p:cNvSpPr txBox="1"/>
          <p:nvPr/>
        </p:nvSpPr>
        <p:spPr>
          <a:xfrm>
            <a:off x="4206240" y="39730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94760"/>
            <a:ext cx="6766560" cy="777240"/>
          </a:xfrm>
          <a:prstGeom prst="rect">
            <a:avLst/>
          </a:prstGeom>
          <a:noFill/>
          <a:ln/>
        </p:spPr>
        <p:txBody>
          <a:bodyPr wrap="square" lIns="0" tIns="0" rIns="0" bIns="0" rtlCol="0" anchor="ctr"/>
          <a:lstStyle/>
          <a:p>
            <a:pPr indent="0" marL="0">
              <a:buNone/>
            </a:pPr>
            <a:r>
              <a:rPr lang="en-US" sz="1900" dirty="0">
                <a:solidFill>
                  <a:schemeClr val="tx1"/>
                </a:solidFill>
              </a:rPr>
              <a:t>If a case fails, use the debugger to find out why and fix it.</a:t>
            </a:r>
            <a:endParaRPr lang="en-US" sz="1900" dirty="0"/>
          </a:p>
        </p:txBody>
      </p:sp>
      <p:sp>
        <p:nvSpPr>
          <p:cNvPr id="22" name="Task marker 5"/>
          <p:cNvSpPr/>
          <p:nvPr/>
        </p:nvSpPr>
        <p:spPr>
          <a:xfrm>
            <a:off x="4206240" y="4750308"/>
            <a:ext cx="420624" cy="420624"/>
          </a:xfrm>
          <a:prstGeom prst="ellipse">
            <a:avLst/>
          </a:prstGeom>
          <a:solidFill>
            <a:schemeClr val="accent2"/>
          </a:solidFill>
          <a:ln/>
        </p:spPr>
      </p:sp>
      <p:sp>
        <p:nvSpPr>
          <p:cNvPr id="23" name="Task number"/>
          <p:cNvSpPr txBox="1"/>
          <p:nvPr/>
        </p:nvSpPr>
        <p:spPr>
          <a:xfrm>
            <a:off x="4206240" y="47503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572000"/>
            <a:ext cx="6766560" cy="777240"/>
          </a:xfrm>
          <a:prstGeom prst="rect">
            <a:avLst/>
          </a:prstGeom>
          <a:noFill/>
          <a:ln/>
        </p:spPr>
        <p:txBody>
          <a:bodyPr wrap="square" lIns="0" tIns="0" rIns="0" bIns="0" rtlCol="0" anchor="ctr"/>
          <a:lstStyle/>
          <a:p>
            <a:pPr indent="0" marL="0">
              <a:buNone/>
            </a:pPr>
            <a:r>
              <a:rPr lang="en-US" sz="1900" dirty="0">
                <a:solidFill>
                  <a:schemeClr val="tx1"/>
                </a:solidFill>
              </a:rPr>
              <a:t>Rerun the failed case to confirm.</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Exit ticket: Session 5</a:t>
            </a:r>
            <a:endParaRPr lang="en-US" sz="3000" dirty="0"/>
          </a:p>
        </p:txBody>
      </p:sp>
      <p:sp>
        <p:nvSpPr>
          <p:cNvPr id="4" name="Question card 1"/>
          <p:cNvSpPr/>
          <p:nvPr/>
        </p:nvSpPr>
        <p:spPr>
          <a:xfrm>
            <a:off x="548640" y="1463040"/>
            <a:ext cx="5413248" cy="2103120"/>
          </a:xfrm>
          <a:prstGeom prst="roundRect">
            <a:avLst>
              <a:gd name="adj" fmla="val 4348"/>
            </a:avLst>
          </a:prstGeom>
          <a:solidFill>
            <a:schemeClr val="bg2"/>
          </a:solidFill>
          <a:ln/>
        </p:spPr>
      </p:sp>
      <p:sp>
        <p:nvSpPr>
          <p:cNvPr id="5" name="Question marker"/>
          <p:cNvSpPr/>
          <p:nvPr/>
        </p:nvSpPr>
        <p:spPr>
          <a:xfrm>
            <a:off x="777240" y="1691640"/>
            <a:ext cx="502920" cy="502920"/>
          </a:xfrm>
          <a:prstGeom prst="ellipse">
            <a:avLst/>
          </a:prstGeom>
          <a:solidFill>
            <a:schemeClr val="accent1"/>
          </a:solidFill>
          <a:ln/>
        </p:spPr>
      </p:sp>
      <p:sp>
        <p:nvSpPr>
          <p:cNvPr id="6" name="Question number"/>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7" name="Question text"/>
          <p:cNvSpPr txBox="1"/>
          <p:nvPr/>
        </p:nvSpPr>
        <p:spPr>
          <a:xfrm>
            <a:off x="1463040"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Why is eval() on user input dangerous?</a:t>
            </a:r>
            <a:endParaRPr lang="en-US" sz="1900" dirty="0"/>
          </a:p>
        </p:txBody>
      </p:sp>
      <p:sp>
        <p:nvSpPr>
          <p:cNvPr id="8" name="Question card 2"/>
          <p:cNvSpPr/>
          <p:nvPr/>
        </p:nvSpPr>
        <p:spPr>
          <a:xfrm>
            <a:off x="6227064" y="1463040"/>
            <a:ext cx="5413248" cy="2103120"/>
          </a:xfrm>
          <a:prstGeom prst="roundRect">
            <a:avLst>
              <a:gd name="adj" fmla="val 4348"/>
            </a:avLst>
          </a:prstGeom>
          <a:solidFill>
            <a:schemeClr val="bg2"/>
          </a:solidFill>
          <a:ln/>
        </p:spPr>
      </p:sp>
      <p:sp>
        <p:nvSpPr>
          <p:cNvPr id="9" name="Question marker"/>
          <p:cNvSpPr/>
          <p:nvPr/>
        </p:nvSpPr>
        <p:spPr>
          <a:xfrm>
            <a:off x="6455664" y="1691640"/>
            <a:ext cx="502920" cy="502920"/>
          </a:xfrm>
          <a:prstGeom prst="ellipse">
            <a:avLst/>
          </a:prstGeom>
          <a:solidFill>
            <a:schemeClr val="accent1"/>
          </a:solidFill>
          <a:ln/>
        </p:spPr>
      </p:sp>
      <p:sp>
        <p:nvSpPr>
          <p:cNvPr id="10" name="Question number"/>
          <p:cNvSpPr txBox="1"/>
          <p:nvPr/>
        </p:nvSpPr>
        <p:spPr>
          <a:xfrm>
            <a:off x="6455664"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11" name="Question text"/>
          <p:cNvSpPr txBox="1"/>
          <p:nvPr/>
        </p:nvSpPr>
        <p:spPr>
          <a:xfrm>
            <a:off x="7141464"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What is a boundary test case? Give an example for quantity.</a:t>
            </a:r>
            <a:endParaRPr lang="en-US" sz="1900" dirty="0"/>
          </a:p>
        </p:txBody>
      </p:sp>
      <p:sp>
        <p:nvSpPr>
          <p:cNvPr id="12" name="Question card 3"/>
          <p:cNvSpPr/>
          <p:nvPr/>
        </p:nvSpPr>
        <p:spPr>
          <a:xfrm>
            <a:off x="548640" y="3794760"/>
            <a:ext cx="5413248" cy="2103120"/>
          </a:xfrm>
          <a:prstGeom prst="roundRect">
            <a:avLst>
              <a:gd name="adj" fmla="val 4348"/>
            </a:avLst>
          </a:prstGeom>
          <a:solidFill>
            <a:schemeClr val="bg2"/>
          </a:solidFill>
          <a:ln/>
        </p:spPr>
      </p:sp>
      <p:sp>
        <p:nvSpPr>
          <p:cNvPr id="13" name="Question marker"/>
          <p:cNvSpPr/>
          <p:nvPr/>
        </p:nvSpPr>
        <p:spPr>
          <a:xfrm>
            <a:off x="777240" y="4023360"/>
            <a:ext cx="502920" cy="502920"/>
          </a:xfrm>
          <a:prstGeom prst="ellipse">
            <a:avLst/>
          </a:prstGeom>
          <a:solidFill>
            <a:schemeClr val="accent1"/>
          </a:solidFill>
          <a:ln/>
        </p:spPr>
      </p:sp>
      <p:sp>
        <p:nvSpPr>
          <p:cNvPr id="14" name="Question number"/>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15" name="Question text"/>
          <p:cNvSpPr txBox="1"/>
          <p:nvPr/>
        </p:nvSpPr>
        <p:spPr>
          <a:xfrm>
            <a:off x="1463040"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What is the difference between testing and debugging?</a:t>
            </a:r>
            <a:endParaRPr lang="en-US" sz="1900" dirty="0"/>
          </a:p>
        </p:txBody>
      </p:sp>
      <p:sp>
        <p:nvSpPr>
          <p:cNvPr id="16" name="Question card 4"/>
          <p:cNvSpPr/>
          <p:nvPr/>
        </p:nvSpPr>
        <p:spPr>
          <a:xfrm>
            <a:off x="6227064" y="3794760"/>
            <a:ext cx="5413248" cy="2103120"/>
          </a:xfrm>
          <a:prstGeom prst="roundRect">
            <a:avLst>
              <a:gd name="adj" fmla="val 4348"/>
            </a:avLst>
          </a:prstGeom>
          <a:solidFill>
            <a:schemeClr val="bg2"/>
          </a:solidFill>
          <a:ln/>
        </p:spPr>
      </p:sp>
      <p:sp>
        <p:nvSpPr>
          <p:cNvPr id="17" name="Question marker"/>
          <p:cNvSpPr/>
          <p:nvPr/>
        </p:nvSpPr>
        <p:spPr>
          <a:xfrm>
            <a:off x="6455664" y="4023360"/>
            <a:ext cx="502920" cy="502920"/>
          </a:xfrm>
          <a:prstGeom prst="ellipse">
            <a:avLst/>
          </a:prstGeom>
          <a:solidFill>
            <a:schemeClr val="accent1"/>
          </a:solidFill>
          <a:ln/>
        </p:spPr>
      </p:sp>
      <p:sp>
        <p:nvSpPr>
          <p:cNvPr id="18" name="Question number"/>
          <p:cNvSpPr txBox="1"/>
          <p:nvPr/>
        </p:nvSpPr>
        <p:spPr>
          <a:xfrm>
            <a:off x="6455664"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19" name="Question text"/>
          <p:cNvSpPr txBox="1"/>
          <p:nvPr/>
        </p:nvSpPr>
        <p:spPr>
          <a:xfrm>
            <a:off x="7141464"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Why should API keys not be written directly in source code?</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ssion badge"/>
          <p:cNvSpPr/>
          <p:nvPr/>
        </p:nvSpPr>
        <p:spPr>
          <a:xfrm>
            <a:off x="822960" y="2514600"/>
            <a:ext cx="1737360" cy="1737360"/>
          </a:xfrm>
          <a:prstGeom prst="ellipse">
            <a:avLst/>
          </a:prstGeom>
          <a:solidFill>
            <a:schemeClr val="accent2"/>
          </a:solidFill>
          <a:ln/>
        </p:spPr>
      </p:sp>
      <p:sp>
        <p:nvSpPr>
          <p:cNvPr id="3" name="Session number"/>
          <p:cNvSpPr txBox="1"/>
          <p:nvPr/>
        </p:nvSpPr>
        <p:spPr>
          <a:xfrm>
            <a:off x="822960" y="2514600"/>
            <a:ext cx="1737360" cy="1737360"/>
          </a:xfrm>
          <a:prstGeom prst="rect">
            <a:avLst/>
          </a:prstGeom>
          <a:noFill/>
          <a:ln/>
        </p:spPr>
        <p:txBody>
          <a:bodyPr wrap="square" lIns="0" tIns="0" rIns="0" bIns="0" rtlCol="0" anchor="ctr"/>
          <a:lstStyle/>
          <a:p>
            <a:pPr algn="ctr" indent="0" marL="0">
              <a:buNone/>
            </a:pPr>
            <a:r>
              <a:rPr lang="en-US" sz="8000" b="1" dirty="0">
                <a:solidFill>
                  <a:schemeClr val="accent1"/>
                </a:solidFill>
                <a:latin typeface="Cambria" pitchFamily="34" charset="0"/>
                <a:ea typeface="Cambria" pitchFamily="34" charset="-122"/>
                <a:cs typeface="Cambria" pitchFamily="34" charset="-120"/>
              </a:rPr>
              <a:t>6</a:t>
            </a:r>
            <a:endParaRPr lang="en-US" sz="8000" dirty="0"/>
          </a:p>
        </p:txBody>
      </p:sp>
      <p:sp>
        <p:nvSpPr>
          <p:cNvPr id="4" name="Text 0"/>
          <p:cNvSpPr/>
          <p:nvPr>
            <p:ph idx="102" type="title" hasCustomPrompt="1"/>
          </p:nvPr>
        </p:nvSpPr>
        <p:spPr>
          <a:xfrm>
            <a:off x="3017520" y="2377440"/>
            <a:ext cx="8229600" cy="1371600"/>
          </a:xfrm>
          <a:prstGeom prst="rect">
            <a:avLst/>
          </a:prstGeom>
          <a:noFill/>
          <a:ln/>
        </p:spPr>
        <p:txBody>
          <a:bodyPr wrap="square" lIns="0" tIns="0" rIns="0" bIns="0" rtlCol="0" anchor="ctr"/>
          <a:lstStyle/>
          <a:p>
            <a:pPr algn="l" indent="0" marL="0">
              <a:buNone/>
            </a:pPr>
            <a:r>
              <a:rPr lang="en-US" sz="4200" b="1" dirty="0">
                <a:solidFill>
                  <a:schemeClr val="bg1"/>
                </a:solidFill>
              </a:rPr>
              <a:t>Build, Manage and Deliver an Application</a:t>
            </a:r>
            <a:endParaRPr lang="en-US" sz="4200" dirty="0"/>
          </a:p>
        </p:txBody>
      </p:sp>
      <p:sp>
        <p:nvSpPr>
          <p:cNvPr id="5" name="Text 0"/>
          <p:cNvSpPr/>
          <p:nvPr>
            <p:ph idx="103" type="body" hasCustomPrompt="1"/>
          </p:nvPr>
        </p:nvSpPr>
        <p:spPr>
          <a:xfrm>
            <a:off x="3017520" y="3840480"/>
            <a:ext cx="8229600" cy="1188720"/>
          </a:xfrm>
          <a:prstGeom prst="rect">
            <a:avLst/>
          </a:prstGeom>
          <a:noFill/>
          <a:ln/>
        </p:spPr>
        <p:txBody>
          <a:bodyPr wrap="square" lIns="0" tIns="0" rIns="0" bIns="0" rtlCol="0" anchor="t"/>
          <a:lstStyle/>
          <a:p>
            <a:pPr algn="l" indent="0" marL="0">
              <a:buNone/>
            </a:pPr>
            <a:r>
              <a:rPr lang="en-US" sz="2000" dirty="0">
                <a:solidFill>
                  <a:schemeClr val="bg2"/>
                </a:solidFill>
              </a:rPr>
              <a:t>Pearson alignment: primarily LO3, drawing on LO4  |  75 minutes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The Task Tracker CLI</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PlusCircle" descr="PlusCircle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19"/>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Add tasks</a:t>
            </a:r>
            <a:endParaRPr lang="en-US" sz="2400" dirty="0"/>
          </a:p>
        </p:txBody>
      </p:sp>
      <p:sp>
        <p:nvSpPr>
          <p:cNvPr id="8" name="Text 20"/>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The user enters a task title, which is validated and stored.</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ClipboardList" descr="ClipboardList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21"/>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Display tasks</a:t>
            </a:r>
            <a:endParaRPr lang="en-US" sz="2400" dirty="0"/>
          </a:p>
        </p:txBody>
      </p:sp>
      <p:sp>
        <p:nvSpPr>
          <p:cNvPr id="13" name="Text 22"/>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A numbered list shows every task and whether it is done.</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CheckCircle" descr="CheckCircle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23"/>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Complete or remove</a:t>
            </a:r>
            <a:endParaRPr lang="en-US" sz="2400" dirty="0"/>
          </a:p>
        </p:txBody>
      </p:sp>
      <p:sp>
        <p:nvSpPr>
          <p:cNvPr id="18" name="Text 24"/>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The user picks a task number to mark done or delete it.</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Session 6 plan: 75 minutes</a:t>
            </a:r>
            <a:endParaRPr lang="en-US" sz="3000" dirty="0"/>
          </a:p>
        </p:txBody>
      </p:sp>
      <p:graphicFrame>
        <p:nvGraphicFramePr>
          <p:cNvPr id="21"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280160"/>
                <a:gridCol w="7315200"/>
                <a:gridCol w="2468880"/>
              </a:tblGrid>
              <a:tr h="512064">
                <a:tc>
                  <a:txBody>
                    <a:bodyPr/>
                    <a:lstStyle/>
                    <a:p>
                      <a:pPr indent="0" marL="0">
                        <a:buNone/>
                      </a:pPr>
                      <a:r>
                        <a:rPr lang="en-US" sz="1600" b="1" dirty="0">
                          <a:solidFill>
                            <a:schemeClr val="bg1"/>
                          </a:solidFill>
                        </a:rPr>
                        <a:t>Time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Activity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Format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12064">
                <a:tc>
                  <a:txBody>
                    <a:bodyPr/>
                    <a:lstStyle/>
                    <a:p>
                      <a:pPr indent="0" marL="0">
                        <a:buNone/>
                      </a:pPr>
                      <a:r>
                        <a:rPr lang="en-US" sz="1600" b="1" dirty="0">
                          <a:solidFill>
                            <a:schemeClr val="tx1"/>
                          </a:solidFill>
                        </a:rPr>
                        <a:t>0-5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Introduce requirements and the finished application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Briefing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12064">
                <a:tc>
                  <a:txBody>
                    <a:bodyPr/>
                    <a:lstStyle/>
                    <a:p>
                      <a:pPr indent="0" marL="0">
                        <a:buNone/>
                      </a:pPr>
                      <a:r>
                        <a:rPr lang="en-US" sz="1600" b="1" dirty="0">
                          <a:solidFill>
                            <a:schemeClr val="tx1"/>
                          </a:solidFill>
                        </a:rPr>
                        <a:t>5-12</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Starter project structure and how to run it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Live demo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12-20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Read the code, identify missing features, plan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Code reading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12064">
                <a:tc>
                  <a:txBody>
                    <a:bodyPr/>
                    <a:lstStyle/>
                    <a:p>
                      <a:pPr indent="0" marL="0">
                        <a:buNone/>
                      </a:pPr>
                      <a:r>
                        <a:rPr lang="en-US" sz="1600" b="1" dirty="0">
                          <a:solidFill>
                            <a:schemeClr val="tx1"/>
                          </a:solidFill>
                        </a:rPr>
                        <a:t>20-42</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Implement or complete features with validation and functions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Practical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42-52</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Test normal and invalid inputs; debug failures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Practical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12064">
                <a:tc>
                  <a:txBody>
                    <a:bodyPr/>
                    <a:lstStyle/>
                    <a:p>
                      <a:pPr indent="0" marL="0">
                        <a:buNone/>
                      </a:pPr>
                      <a:r>
                        <a:rPr lang="en-US" sz="1600" b="1" dirty="0">
                          <a:solidFill>
                            <a:schemeClr val="tx1"/>
                          </a:solidFill>
                        </a:rPr>
                        <a:t>52-60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Write the README and organise files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Guided task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60-68</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Demonstrate your application to a partner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Peer demonstration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12064">
                <a:tc>
                  <a:txBody>
                    <a:bodyPr/>
                    <a:lstStyle/>
                    <a:p>
                      <a:pPr indent="0" marL="0">
                        <a:buNone/>
                      </a:pPr>
                      <a:r>
                        <a:rPr lang="en-US" sz="1600" b="1" dirty="0">
                          <a:solidFill>
                            <a:schemeClr val="tx1"/>
                          </a:solidFill>
                        </a:rPr>
                        <a:t>68-75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Review learning outcomes and collect evidence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Reflection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Starter project structure</a:t>
            </a:r>
            <a:endParaRPr lang="en-US" sz="3000" dirty="0"/>
          </a:p>
        </p:txBody>
      </p:sp>
      <p:sp>
        <p:nvSpPr>
          <p:cNvPr id="4" name="Code block"/>
          <p:cNvSpPr/>
          <p:nvPr/>
        </p:nvSpPr>
        <p:spPr>
          <a:xfrm>
            <a:off x="548640" y="1463040"/>
            <a:ext cx="6583680" cy="1545336"/>
          </a:xfrm>
          <a:prstGeom prst="roundRect">
            <a:avLst>
              <a:gd name="adj" fmla="val 4734"/>
            </a:avLst>
          </a:prstGeom>
          <a:solidFill>
            <a:srgbClr val="0B1B38"/>
          </a:solidFill>
          <a:ln/>
        </p:spPr>
      </p:sp>
      <p:sp>
        <p:nvSpPr>
          <p:cNvPr id="5" name="Code text"/>
          <p:cNvSpPr txBox="1"/>
          <p:nvPr/>
        </p:nvSpPr>
        <p:spPr>
          <a:xfrm>
            <a:off x="777240" y="1645920"/>
            <a:ext cx="6126480" cy="1179576"/>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Task_Tracker/</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main.py       (starter code)</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README.md     (to complete)</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tests.py      (automated checks)</a:t>
            </a:r>
            <a:endParaRPr lang="en-US" sz="1600" dirty="0"/>
          </a:p>
        </p:txBody>
      </p:sp>
      <p:sp>
        <p:nvSpPr>
          <p:cNvPr id="6"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What you are given</a:t>
            </a:r>
            <a:endParaRPr lang="en-US" sz="2200" dirty="0"/>
          </a:p>
        </p:txBody>
      </p:sp>
      <p:sp>
        <p:nvSpPr>
          <p:cNvPr id="7"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main.py has add and show already working</a:t>
            </a:r>
            <a:endParaRPr lang="en-US" sz="1800" dirty="0"/>
          </a:p>
          <a:p>
            <a:pPr marL="342900" indent="-342900">
              <a:spcAft>
                <a:spcPts val="1000"/>
              </a:spcAft>
              <a:buSzPct val="100000"/>
              <a:buChar char="•"/>
            </a:pPr>
            <a:r>
              <a:rPr lang="en-US" sz="1800" dirty="0">
                <a:solidFill>
                  <a:schemeClr val="tx1"/>
                </a:solidFill>
              </a:rPr>
              <a:t>complete_task and remove_task are TODO</a:t>
            </a:r>
            <a:endParaRPr lang="en-US" sz="1800" dirty="0"/>
          </a:p>
          <a:p>
            <a:pPr marL="342900" indent="-342900">
              <a:spcAft>
                <a:spcPts val="1000"/>
              </a:spcAft>
              <a:buSzPct val="100000"/>
              <a:buChar char="•"/>
            </a:pPr>
            <a:r>
              <a:rPr lang="en-US" sz="1800" dirty="0">
                <a:solidFill>
                  <a:schemeClr val="tx1"/>
                </a:solidFill>
              </a:rPr>
              <a:t>tests.py fails until your code is correct</a:t>
            </a:r>
            <a:endParaRPr lang="en-US" sz="1800" dirty="0"/>
          </a:p>
          <a:p>
            <a:pPr marL="342900" indent="-342900">
              <a:spcAft>
                <a:spcPts val="1000"/>
              </a:spcAft>
              <a:buSzPct val="100000"/>
              <a:buChar char="•"/>
            </a:pPr>
            <a:r>
              <a:rPr lang="en-US" sz="1800" dirty="0">
                <a:solidFill>
                  <a:schemeClr val="tx1"/>
                </a:solidFill>
              </a:rPr>
              <a:t>Run: python main.py</a:t>
            </a:r>
            <a:endParaRPr lang="en-US" sz="1800" dirty="0"/>
          </a:p>
          <a:p>
            <a:pPr marL="342900" indent="-342900">
              <a:spcAft>
                <a:spcPts val="1000"/>
              </a:spcAft>
              <a:buSzPct val="100000"/>
              <a:buChar char="•"/>
            </a:pPr>
            <a:r>
              <a:rPr lang="en-US" sz="1800" dirty="0">
                <a:solidFill>
                  <a:schemeClr val="tx1"/>
                </a:solidFill>
              </a:rPr>
              <a:t>Test: python tests.py</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Starter code: what is missing</a:t>
            </a:r>
            <a:endParaRPr lang="en-US" sz="3000" dirty="0"/>
          </a:p>
        </p:txBody>
      </p:sp>
      <p:sp>
        <p:nvSpPr>
          <p:cNvPr id="4" name="Code block"/>
          <p:cNvSpPr/>
          <p:nvPr/>
        </p:nvSpPr>
        <p:spPr>
          <a:xfrm>
            <a:off x="548640" y="1463040"/>
            <a:ext cx="6583680" cy="3529584"/>
          </a:xfrm>
          <a:prstGeom prst="roundRect">
            <a:avLst>
              <a:gd name="adj" fmla="val 2073"/>
            </a:avLst>
          </a:prstGeom>
          <a:solidFill>
            <a:srgbClr val="0B1B38"/>
          </a:solidFill>
          <a:ln/>
        </p:spPr>
      </p:sp>
      <p:sp>
        <p:nvSpPr>
          <p:cNvPr id="5" name="Code text"/>
          <p:cNvSpPr txBox="1"/>
          <p:nvPr/>
        </p:nvSpPr>
        <p:spPr>
          <a:xfrm>
            <a:off x="777240" y="1645920"/>
            <a:ext cx="6126480" cy="3163824"/>
          </a:xfrm>
          <a:prstGeom prst="rect">
            <a:avLst/>
          </a:prstGeom>
          <a:noFill/>
          <a:ln/>
        </p:spPr>
        <p:txBody>
          <a:bodyPr wrap="square" lIns="0" tIns="0" rIns="0" bIns="0" rtlCol="0" anchor="t"/>
          <a:lstStyle/>
          <a:p>
            <a:pPr indent="0" marL="0">
              <a:buNone/>
            </a:pPr>
            <a:r>
              <a:rPr lang="en-US" sz="1500" dirty="0">
                <a:solidFill>
                  <a:srgbClr val="E8EEF9"/>
                </a:solidFill>
                <a:latin typeface="Courier New" pitchFamily="34" charset="0"/>
                <a:ea typeface="Courier New" pitchFamily="34" charset="-122"/>
                <a:cs typeface="Courier New" pitchFamily="34" charset="-120"/>
              </a:rPr>
              <a:t>def add_task(tasks, title):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tasks.append({"title": title, "done": False})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return tasks</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def show_tasks(tasks):</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for number, task in enumerate(tasks):</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print(number, task["title"])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def complete_task(tasks, number):</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 TODO: mark the task as done</a:t>
            </a:r>
            <a:endParaRPr lang="en-US" sz="1500" dirty="0"/>
          </a:p>
          <a:p>
            <a:pPr indent="0" marL="0">
              <a:buNone/>
            </a:pPr>
            <a:r>
              <a:rPr lang="en-US" sz="1500" dirty="0">
                <a:solidFill>
                  <a:srgbClr val="E8EEF9"/>
                </a:solidFill>
                <a:latin typeface="Courier New" pitchFamily="34" charset="0"/>
                <a:ea typeface="Courier New" pitchFamily="34" charset="-122"/>
                <a:cs typeface="Courier New" pitchFamily="34" charset="-120"/>
              </a:rPr>
              <a:t>    pass</a:t>
            </a:r>
            <a:endParaRPr lang="en-US" sz="1500" dirty="0"/>
          </a:p>
        </p:txBody>
      </p:sp>
      <p:sp>
        <p:nvSpPr>
          <p:cNvPr id="6"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Spot the gaps</a:t>
            </a:r>
            <a:endParaRPr lang="en-US" sz="2200" dirty="0"/>
          </a:p>
        </p:txBody>
      </p:sp>
      <p:sp>
        <p:nvSpPr>
          <p:cNvPr id="7"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add_task accepts empty titles</a:t>
            </a:r>
            <a:endParaRPr lang="en-US" sz="1800" dirty="0"/>
          </a:p>
          <a:p>
            <a:pPr marL="342900" indent="-342900">
              <a:spcAft>
                <a:spcPts val="1000"/>
              </a:spcAft>
              <a:buSzPct val="100000"/>
              <a:buChar char="•"/>
            </a:pPr>
            <a:r>
              <a:rPr lang="en-US" sz="1800" dirty="0">
                <a:solidFill>
                  <a:schemeClr val="tx1"/>
                </a:solidFill>
              </a:rPr>
              <a:t>show_tasks numbers from 0 and omits status</a:t>
            </a:r>
            <a:endParaRPr lang="en-US" sz="1800" dirty="0"/>
          </a:p>
          <a:p>
            <a:pPr marL="342900" indent="-342900">
              <a:spcAft>
                <a:spcPts val="1000"/>
              </a:spcAft>
              <a:buSzPct val="100000"/>
              <a:buChar char="•"/>
            </a:pPr>
            <a:r>
              <a:rPr lang="en-US" sz="1800" dirty="0">
                <a:solidFill>
                  <a:schemeClr val="tx1"/>
                </a:solidFill>
              </a:rPr>
              <a:t>complete_task and remove_task are empty</a:t>
            </a:r>
            <a:endParaRPr lang="en-US" sz="1800" dirty="0"/>
          </a:p>
          <a:p>
            <a:pPr marL="342900" indent="-342900">
              <a:spcAft>
                <a:spcPts val="1000"/>
              </a:spcAft>
              <a:buSzPct val="100000"/>
              <a:buChar char="•"/>
            </a:pPr>
            <a:r>
              <a:rPr lang="en-US" sz="1800" dirty="0">
                <a:solidFill>
                  <a:schemeClr val="tx1"/>
                </a:solidFill>
              </a:rPr>
              <a:t>Nothing handles invalid task numbers</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What you must demonstrate</a:t>
            </a:r>
            <a:endParaRPr lang="en-US" sz="3000" dirty="0"/>
          </a:p>
        </p:txBody>
      </p:sp>
      <p:sp>
        <p:nvSpPr>
          <p:cNvPr id="4" name="Card 1"/>
          <p:cNvSpPr/>
          <p:nvPr/>
        </p:nvSpPr>
        <p:spPr>
          <a:xfrm>
            <a:off x="548640" y="1463040"/>
            <a:ext cx="3520440" cy="2103120"/>
          </a:xfrm>
          <a:prstGeom prst="roundRect">
            <a:avLst>
              <a:gd name="adj" fmla="val 4348"/>
            </a:avLst>
          </a:prstGeom>
          <a:solidFill>
            <a:schemeClr val="bg2"/>
          </a:solidFill>
          <a:ln/>
        </p:spPr>
      </p:sp>
      <p:sp>
        <p:nvSpPr>
          <p:cNvPr id="5" name="Icon circle"/>
          <p:cNvSpPr/>
          <p:nvPr/>
        </p:nvSpPr>
        <p:spPr>
          <a:xfrm>
            <a:off x="777240" y="1691640"/>
            <a:ext cx="594360" cy="594360"/>
          </a:xfrm>
          <a:prstGeom prst="ellipse">
            <a:avLst/>
          </a:prstGeom>
          <a:solidFill>
            <a:schemeClr val="accent1"/>
          </a:solidFill>
          <a:ln/>
        </p:spPr>
      </p:sp>
      <p:pic>
        <p:nvPicPr>
          <p:cNvPr id="6" name="Icon FaCode" descr="Code icon">    </p:cNvPr>
          <p:cNvPicPr>
            <a:picLocks noChangeAspect="1"/>
          </p:cNvPicPr>
          <p:nvPr/>
        </p:nvPicPr>
        <p:blipFill>
          <a:blip r:embed="rId1"/>
          <a:stretch>
            <a:fillRect/>
          </a:stretch>
        </p:blipFill>
        <p:spPr>
          <a:xfrm>
            <a:off x="931774" y="1846174"/>
            <a:ext cx="285293" cy="285293"/>
          </a:xfrm>
          <a:prstGeom prst="rect">
            <a:avLst/>
          </a:prstGeom>
        </p:spPr>
      </p:pic>
      <p:sp>
        <p:nvSpPr>
          <p:cNvPr id="7" name="Text 25"/>
          <p:cNvSpPr txBox="1"/>
          <p:nvPr/>
        </p:nvSpPr>
        <p:spPr>
          <a:xfrm>
            <a:off x="1554480"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Application development</a:t>
            </a:r>
            <a:endParaRPr lang="en-US" sz="2000" dirty="0"/>
          </a:p>
        </p:txBody>
      </p:sp>
      <p:sp>
        <p:nvSpPr>
          <p:cNvPr id="8" name="Text 26"/>
          <p:cNvSpPr txBox="1"/>
          <p:nvPr/>
        </p:nvSpPr>
        <p:spPr>
          <a:xfrm>
            <a:off x="777240"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Accepts input, performs operations and shows correct results.</a:t>
            </a:r>
            <a:endParaRPr lang="en-US" sz="1600" dirty="0"/>
          </a:p>
        </p:txBody>
      </p:sp>
      <p:sp>
        <p:nvSpPr>
          <p:cNvPr id="9" name="Card 2"/>
          <p:cNvSpPr/>
          <p:nvPr/>
        </p:nvSpPr>
        <p:spPr>
          <a:xfrm>
            <a:off x="4334256" y="1463040"/>
            <a:ext cx="3520440" cy="2103120"/>
          </a:xfrm>
          <a:prstGeom prst="roundRect">
            <a:avLst>
              <a:gd name="adj" fmla="val 4348"/>
            </a:avLst>
          </a:prstGeom>
          <a:solidFill>
            <a:schemeClr val="bg2"/>
          </a:solidFill>
          <a:ln/>
        </p:spPr>
      </p:sp>
      <p:sp>
        <p:nvSpPr>
          <p:cNvPr id="10" name="Icon circle"/>
          <p:cNvSpPr/>
          <p:nvPr/>
        </p:nvSpPr>
        <p:spPr>
          <a:xfrm>
            <a:off x="4562856" y="1691640"/>
            <a:ext cx="594360" cy="594360"/>
          </a:xfrm>
          <a:prstGeom prst="ellipse">
            <a:avLst/>
          </a:prstGeom>
          <a:solidFill>
            <a:schemeClr val="accent1"/>
          </a:solidFill>
          <a:ln/>
        </p:spPr>
      </p:sp>
      <p:pic>
        <p:nvPicPr>
          <p:cNvPr id="11" name="Icon FaPen" descr="Pen icon">    </p:cNvPr>
          <p:cNvPicPr>
            <a:picLocks noChangeAspect="1"/>
          </p:cNvPicPr>
          <p:nvPr/>
        </p:nvPicPr>
        <p:blipFill>
          <a:blip r:embed="rId2"/>
          <a:stretch>
            <a:fillRect/>
          </a:stretch>
        </p:blipFill>
        <p:spPr>
          <a:xfrm>
            <a:off x="4717390" y="1846174"/>
            <a:ext cx="285293" cy="285293"/>
          </a:xfrm>
          <a:prstGeom prst="rect">
            <a:avLst/>
          </a:prstGeom>
        </p:spPr>
      </p:pic>
      <p:sp>
        <p:nvSpPr>
          <p:cNvPr id="12" name="Text 27"/>
          <p:cNvSpPr txBox="1"/>
          <p:nvPr/>
        </p:nvSpPr>
        <p:spPr>
          <a:xfrm>
            <a:off x="5340096"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Maintainability</a:t>
            </a:r>
            <a:endParaRPr lang="en-US" sz="2000" dirty="0"/>
          </a:p>
        </p:txBody>
      </p:sp>
      <p:sp>
        <p:nvSpPr>
          <p:cNvPr id="13" name="Text 28"/>
          <p:cNvSpPr txBox="1"/>
          <p:nvPr/>
        </p:nvSpPr>
        <p:spPr>
          <a:xfrm>
            <a:off x="4562856"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Clear names, functions and structure.</a:t>
            </a:r>
            <a:endParaRPr lang="en-US" sz="1600" dirty="0"/>
          </a:p>
        </p:txBody>
      </p:sp>
      <p:sp>
        <p:nvSpPr>
          <p:cNvPr id="14" name="Card 3"/>
          <p:cNvSpPr/>
          <p:nvPr/>
        </p:nvSpPr>
        <p:spPr>
          <a:xfrm>
            <a:off x="8119872" y="1463040"/>
            <a:ext cx="3520440" cy="2103120"/>
          </a:xfrm>
          <a:prstGeom prst="roundRect">
            <a:avLst>
              <a:gd name="adj" fmla="val 4348"/>
            </a:avLst>
          </a:prstGeom>
          <a:solidFill>
            <a:schemeClr val="bg2"/>
          </a:solidFill>
          <a:ln/>
        </p:spPr>
      </p:sp>
      <p:sp>
        <p:nvSpPr>
          <p:cNvPr id="15" name="Icon circle"/>
          <p:cNvSpPr/>
          <p:nvPr/>
        </p:nvSpPr>
        <p:spPr>
          <a:xfrm>
            <a:off x="8348472" y="1691640"/>
            <a:ext cx="594360" cy="594360"/>
          </a:xfrm>
          <a:prstGeom prst="ellipse">
            <a:avLst/>
          </a:prstGeom>
          <a:solidFill>
            <a:schemeClr val="accent1"/>
          </a:solidFill>
          <a:ln/>
        </p:spPr>
      </p:sp>
      <p:pic>
        <p:nvPicPr>
          <p:cNvPr id="16" name="Icon FaShieldAlt" descr="ShieldAlt icon">    </p:cNvPr>
          <p:cNvPicPr>
            <a:picLocks noChangeAspect="1"/>
          </p:cNvPicPr>
          <p:nvPr/>
        </p:nvPicPr>
        <p:blipFill>
          <a:blip r:embed="rId3"/>
          <a:stretch>
            <a:fillRect/>
          </a:stretch>
        </p:blipFill>
        <p:spPr>
          <a:xfrm>
            <a:off x="8503006" y="1846174"/>
            <a:ext cx="285293" cy="285293"/>
          </a:xfrm>
          <a:prstGeom prst="rect">
            <a:avLst/>
          </a:prstGeom>
        </p:spPr>
      </p:pic>
      <p:sp>
        <p:nvSpPr>
          <p:cNvPr id="17" name="Text 29"/>
          <p:cNvSpPr txBox="1"/>
          <p:nvPr/>
        </p:nvSpPr>
        <p:spPr>
          <a:xfrm>
            <a:off x="9125712"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Security and reliability</a:t>
            </a:r>
            <a:endParaRPr lang="en-US" sz="2000" dirty="0"/>
          </a:p>
        </p:txBody>
      </p:sp>
      <p:sp>
        <p:nvSpPr>
          <p:cNvPr id="18" name="Text 30"/>
          <p:cNvSpPr txBox="1"/>
          <p:nvPr/>
        </p:nvSpPr>
        <p:spPr>
          <a:xfrm>
            <a:off x="8348472"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Invalid input handled with understandable messages.</a:t>
            </a:r>
            <a:endParaRPr lang="en-US" sz="1600" dirty="0"/>
          </a:p>
        </p:txBody>
      </p:sp>
      <p:sp>
        <p:nvSpPr>
          <p:cNvPr id="19" name="Card 4"/>
          <p:cNvSpPr/>
          <p:nvPr/>
        </p:nvSpPr>
        <p:spPr>
          <a:xfrm>
            <a:off x="548640" y="3749040"/>
            <a:ext cx="3520440" cy="2103120"/>
          </a:xfrm>
          <a:prstGeom prst="roundRect">
            <a:avLst>
              <a:gd name="adj" fmla="val 4348"/>
            </a:avLst>
          </a:prstGeom>
          <a:solidFill>
            <a:schemeClr val="bg2"/>
          </a:solidFill>
          <a:ln/>
        </p:spPr>
      </p:sp>
      <p:sp>
        <p:nvSpPr>
          <p:cNvPr id="20" name="Icon circle"/>
          <p:cNvSpPr/>
          <p:nvPr/>
        </p:nvSpPr>
        <p:spPr>
          <a:xfrm>
            <a:off x="777240" y="3977640"/>
            <a:ext cx="594360" cy="594360"/>
          </a:xfrm>
          <a:prstGeom prst="ellipse">
            <a:avLst/>
          </a:prstGeom>
          <a:solidFill>
            <a:schemeClr val="accent1"/>
          </a:solidFill>
          <a:ln/>
        </p:spPr>
      </p:sp>
      <p:pic>
        <p:nvPicPr>
          <p:cNvPr id="21" name="Icon FaBug" descr="Bug icon">    </p:cNvPr>
          <p:cNvPicPr>
            <a:picLocks noChangeAspect="1"/>
          </p:cNvPicPr>
          <p:nvPr/>
        </p:nvPicPr>
        <p:blipFill>
          <a:blip r:embed="rId4"/>
          <a:stretch>
            <a:fillRect/>
          </a:stretch>
        </p:blipFill>
        <p:spPr>
          <a:xfrm>
            <a:off x="931774" y="4132174"/>
            <a:ext cx="285293" cy="285293"/>
          </a:xfrm>
          <a:prstGeom prst="rect">
            <a:avLst/>
          </a:prstGeom>
        </p:spPr>
      </p:pic>
      <p:sp>
        <p:nvSpPr>
          <p:cNvPr id="22" name="Text 31"/>
          <p:cNvSpPr txBox="1"/>
          <p:nvPr/>
        </p:nvSpPr>
        <p:spPr>
          <a:xfrm>
            <a:off x="1554480"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Testing and debugging</a:t>
            </a:r>
            <a:endParaRPr lang="en-US" sz="2000" dirty="0"/>
          </a:p>
        </p:txBody>
      </p:sp>
      <p:sp>
        <p:nvSpPr>
          <p:cNvPr id="23" name="Text 32"/>
          <p:cNvSpPr txBox="1"/>
          <p:nvPr/>
        </p:nvSpPr>
        <p:spPr>
          <a:xfrm>
            <a:off x="777240"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A test case and an explanation of how you fixed a problem.</a:t>
            </a:r>
            <a:endParaRPr lang="en-US" sz="1600" dirty="0"/>
          </a:p>
        </p:txBody>
      </p:sp>
      <p:sp>
        <p:nvSpPr>
          <p:cNvPr id="24" name="Card 5"/>
          <p:cNvSpPr/>
          <p:nvPr/>
        </p:nvSpPr>
        <p:spPr>
          <a:xfrm>
            <a:off x="4334256" y="3749040"/>
            <a:ext cx="3520440" cy="2103120"/>
          </a:xfrm>
          <a:prstGeom prst="roundRect">
            <a:avLst>
              <a:gd name="adj" fmla="val 4348"/>
            </a:avLst>
          </a:prstGeom>
          <a:solidFill>
            <a:schemeClr val="bg2"/>
          </a:solidFill>
          <a:ln/>
        </p:spPr>
      </p:sp>
      <p:sp>
        <p:nvSpPr>
          <p:cNvPr id="25" name="Icon circle"/>
          <p:cNvSpPr/>
          <p:nvPr/>
        </p:nvSpPr>
        <p:spPr>
          <a:xfrm>
            <a:off x="4562856" y="3977640"/>
            <a:ext cx="594360" cy="594360"/>
          </a:xfrm>
          <a:prstGeom prst="ellipse">
            <a:avLst/>
          </a:prstGeom>
          <a:solidFill>
            <a:schemeClr val="accent1"/>
          </a:solidFill>
          <a:ln/>
        </p:spPr>
      </p:sp>
      <p:pic>
        <p:nvPicPr>
          <p:cNvPr id="26" name="Icon FaFolderOpen" descr="FolderOpen icon">    </p:cNvPr>
          <p:cNvPicPr>
            <a:picLocks noChangeAspect="1"/>
          </p:cNvPicPr>
          <p:nvPr/>
        </p:nvPicPr>
        <p:blipFill>
          <a:blip r:embed="rId5"/>
          <a:stretch>
            <a:fillRect/>
          </a:stretch>
        </p:blipFill>
        <p:spPr>
          <a:xfrm>
            <a:off x="4717390" y="4132174"/>
            <a:ext cx="285293" cy="285293"/>
          </a:xfrm>
          <a:prstGeom prst="rect">
            <a:avLst/>
          </a:prstGeom>
        </p:spPr>
      </p:pic>
      <p:sp>
        <p:nvSpPr>
          <p:cNvPr id="27" name="Text 33"/>
          <p:cNvSpPr txBox="1"/>
          <p:nvPr/>
        </p:nvSpPr>
        <p:spPr>
          <a:xfrm>
            <a:off x="5340096"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Project management</a:t>
            </a:r>
            <a:endParaRPr lang="en-US" sz="2000" dirty="0"/>
          </a:p>
        </p:txBody>
      </p:sp>
      <p:sp>
        <p:nvSpPr>
          <p:cNvPr id="28" name="Text 34"/>
          <p:cNvSpPr txBox="1"/>
          <p:nvPr/>
        </p:nvSpPr>
        <p:spPr>
          <a:xfrm>
            <a:off x="4562856"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Clear folders and a README with purpose, run and usage.</a:t>
            </a:r>
            <a:endParaRPr lang="en-US" sz="1600" dirty="0"/>
          </a:p>
        </p:txBody>
      </p:sp>
      <p:sp>
        <p:nvSpPr>
          <p:cNvPr id="29" name="Card 6"/>
          <p:cNvSpPr/>
          <p:nvPr/>
        </p:nvSpPr>
        <p:spPr>
          <a:xfrm>
            <a:off x="8119872" y="3749040"/>
            <a:ext cx="3520440" cy="2103120"/>
          </a:xfrm>
          <a:prstGeom prst="roundRect">
            <a:avLst>
              <a:gd name="adj" fmla="val 4348"/>
            </a:avLst>
          </a:prstGeom>
          <a:solidFill>
            <a:schemeClr val="bg2"/>
          </a:solidFill>
          <a:ln/>
        </p:spPr>
      </p:sp>
      <p:sp>
        <p:nvSpPr>
          <p:cNvPr id="30" name="Icon circle"/>
          <p:cNvSpPr/>
          <p:nvPr/>
        </p:nvSpPr>
        <p:spPr>
          <a:xfrm>
            <a:off x="8348472" y="3977640"/>
            <a:ext cx="594360" cy="594360"/>
          </a:xfrm>
          <a:prstGeom prst="ellipse">
            <a:avLst/>
          </a:prstGeom>
          <a:solidFill>
            <a:schemeClr val="accent1"/>
          </a:solidFill>
          <a:ln/>
        </p:spPr>
      </p:sp>
      <p:pic>
        <p:nvPicPr>
          <p:cNvPr id="31" name="Icon FaBoxOpen" descr="BoxOpen icon">    </p:cNvPr>
          <p:cNvPicPr>
            <a:picLocks noChangeAspect="1"/>
          </p:cNvPicPr>
          <p:nvPr/>
        </p:nvPicPr>
        <p:blipFill>
          <a:blip r:embed="rId6"/>
          <a:stretch>
            <a:fillRect/>
          </a:stretch>
        </p:blipFill>
        <p:spPr>
          <a:xfrm>
            <a:off x="8503006" y="4132174"/>
            <a:ext cx="285293" cy="285293"/>
          </a:xfrm>
          <a:prstGeom prst="rect">
            <a:avLst/>
          </a:prstGeom>
        </p:spPr>
      </p:pic>
      <p:sp>
        <p:nvSpPr>
          <p:cNvPr id="32" name="Text 35"/>
          <p:cNvSpPr txBox="1"/>
          <p:nvPr/>
        </p:nvSpPr>
        <p:spPr>
          <a:xfrm>
            <a:off x="9125712"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Delivery</a:t>
            </a:r>
            <a:endParaRPr lang="en-US" sz="2000" dirty="0"/>
          </a:p>
        </p:txBody>
      </p:sp>
      <p:sp>
        <p:nvSpPr>
          <p:cNvPr id="33" name="Text 36"/>
          <p:cNvSpPr txBox="1"/>
          <p:nvPr/>
        </p:nvSpPr>
        <p:spPr>
          <a:xfrm>
            <a:off x="8348472"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Runs in the target environment and can be handed to someone else.</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Build: complete the Task Tracker</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22 minutes (20-42)</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Source code and passing tests.</a:t>
            </a:r>
            <a:endParaRPr lang="en-US" sz="1600" dirty="0"/>
          </a:p>
        </p:txBody>
      </p:sp>
      <p:sp>
        <p:nvSpPr>
          <p:cNvPr id="10" name="Task marker 1"/>
          <p:cNvSpPr/>
          <p:nvPr/>
        </p:nvSpPr>
        <p:spPr>
          <a:xfrm>
            <a:off x="4206240" y="1626108"/>
            <a:ext cx="420624" cy="420624"/>
          </a:xfrm>
          <a:prstGeom prst="ellipse">
            <a:avLst/>
          </a:prstGeom>
          <a:solidFill>
            <a:schemeClr val="accent2"/>
          </a:solidFill>
          <a:ln/>
        </p:spPr>
      </p:sp>
      <p:sp>
        <p:nvSpPr>
          <p:cNvPr id="11" name="Task number"/>
          <p:cNvSpPr txBox="1"/>
          <p:nvPr/>
        </p:nvSpPr>
        <p:spPr>
          <a:xfrm>
            <a:off x="4206240" y="16261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46760"/>
          </a:xfrm>
          <a:prstGeom prst="rect">
            <a:avLst/>
          </a:prstGeom>
          <a:noFill/>
          <a:ln/>
        </p:spPr>
        <p:txBody>
          <a:bodyPr wrap="square" lIns="0" tIns="0" rIns="0" bIns="0" rtlCol="0" anchor="ctr"/>
          <a:lstStyle/>
          <a:p>
            <a:pPr indent="0" marL="0">
              <a:buNone/>
            </a:pPr>
            <a:r>
              <a:rPr lang="en-US" sz="1900" dirty="0">
                <a:solidFill>
                  <a:schemeClr val="tx1"/>
                </a:solidFill>
              </a:rPr>
              <a:t>Implement complete_task and remove_task.</a:t>
            </a:r>
            <a:endParaRPr lang="en-US" sz="1900" dirty="0"/>
          </a:p>
        </p:txBody>
      </p:sp>
      <p:sp>
        <p:nvSpPr>
          <p:cNvPr id="13" name="Task marker 2"/>
          <p:cNvSpPr/>
          <p:nvPr/>
        </p:nvSpPr>
        <p:spPr>
          <a:xfrm>
            <a:off x="4206240" y="2372868"/>
            <a:ext cx="420624" cy="420624"/>
          </a:xfrm>
          <a:prstGeom prst="ellipse">
            <a:avLst/>
          </a:prstGeom>
          <a:solidFill>
            <a:schemeClr val="accent2"/>
          </a:solidFill>
          <a:ln/>
        </p:spPr>
      </p:sp>
      <p:sp>
        <p:nvSpPr>
          <p:cNvPr id="14" name="Task number"/>
          <p:cNvSpPr txBox="1"/>
          <p:nvPr/>
        </p:nvSpPr>
        <p:spPr>
          <a:xfrm>
            <a:off x="4206240" y="23728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09800"/>
            <a:ext cx="6766560" cy="746760"/>
          </a:xfrm>
          <a:prstGeom prst="rect">
            <a:avLst/>
          </a:prstGeom>
          <a:noFill/>
          <a:ln/>
        </p:spPr>
        <p:txBody>
          <a:bodyPr wrap="square" lIns="0" tIns="0" rIns="0" bIns="0" rtlCol="0" anchor="ctr"/>
          <a:lstStyle/>
          <a:p>
            <a:pPr indent="0" marL="0">
              <a:buNone/>
            </a:pPr>
            <a:r>
              <a:rPr lang="en-US" sz="1900" dirty="0">
                <a:solidFill>
                  <a:schemeClr val="tx1"/>
                </a:solidFill>
              </a:rPr>
              <a:t>Fix show_tasks to number from 1 and show status.</a:t>
            </a:r>
            <a:endParaRPr lang="en-US" sz="1900" dirty="0"/>
          </a:p>
        </p:txBody>
      </p:sp>
      <p:sp>
        <p:nvSpPr>
          <p:cNvPr id="16" name="Task marker 3"/>
          <p:cNvSpPr/>
          <p:nvPr/>
        </p:nvSpPr>
        <p:spPr>
          <a:xfrm>
            <a:off x="4206240" y="3119628"/>
            <a:ext cx="420624" cy="420624"/>
          </a:xfrm>
          <a:prstGeom prst="ellipse">
            <a:avLst/>
          </a:prstGeom>
          <a:solidFill>
            <a:schemeClr val="accent2"/>
          </a:solidFill>
          <a:ln/>
        </p:spPr>
      </p:sp>
      <p:sp>
        <p:nvSpPr>
          <p:cNvPr id="17" name="Task number"/>
          <p:cNvSpPr txBox="1"/>
          <p:nvPr/>
        </p:nvSpPr>
        <p:spPr>
          <a:xfrm>
            <a:off x="4206240" y="31196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2956560"/>
            <a:ext cx="6766560" cy="746760"/>
          </a:xfrm>
          <a:prstGeom prst="rect">
            <a:avLst/>
          </a:prstGeom>
          <a:noFill/>
          <a:ln/>
        </p:spPr>
        <p:txBody>
          <a:bodyPr wrap="square" lIns="0" tIns="0" rIns="0" bIns="0" rtlCol="0" anchor="ctr"/>
          <a:lstStyle/>
          <a:p>
            <a:pPr indent="0" marL="0">
              <a:buNone/>
            </a:pPr>
            <a:r>
              <a:rPr lang="en-US" sz="1900" dirty="0">
                <a:solidFill>
                  <a:schemeClr val="tx1"/>
                </a:solidFill>
              </a:rPr>
              <a:t>Reject empty task titles in add_task.</a:t>
            </a:r>
            <a:endParaRPr lang="en-US" sz="1900" dirty="0"/>
          </a:p>
        </p:txBody>
      </p:sp>
      <p:sp>
        <p:nvSpPr>
          <p:cNvPr id="19" name="Task marker 4"/>
          <p:cNvSpPr/>
          <p:nvPr/>
        </p:nvSpPr>
        <p:spPr>
          <a:xfrm>
            <a:off x="4206240" y="3866388"/>
            <a:ext cx="420624" cy="420624"/>
          </a:xfrm>
          <a:prstGeom prst="ellipse">
            <a:avLst/>
          </a:prstGeom>
          <a:solidFill>
            <a:schemeClr val="accent2"/>
          </a:solidFill>
          <a:ln/>
        </p:spPr>
      </p:sp>
      <p:sp>
        <p:nvSpPr>
          <p:cNvPr id="20" name="Task number"/>
          <p:cNvSpPr txBox="1"/>
          <p:nvPr/>
        </p:nvSpPr>
        <p:spPr>
          <a:xfrm>
            <a:off x="4206240" y="38663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03320"/>
            <a:ext cx="6766560" cy="746760"/>
          </a:xfrm>
          <a:prstGeom prst="rect">
            <a:avLst/>
          </a:prstGeom>
          <a:noFill/>
          <a:ln/>
        </p:spPr>
        <p:txBody>
          <a:bodyPr wrap="square" lIns="0" tIns="0" rIns="0" bIns="0" rtlCol="0" anchor="ctr"/>
          <a:lstStyle/>
          <a:p>
            <a:pPr indent="0" marL="0">
              <a:buNone/>
            </a:pPr>
            <a:r>
              <a:rPr lang="en-US" sz="1900" dirty="0">
                <a:solidFill>
                  <a:schemeClr val="tx1"/>
                </a:solidFill>
              </a:rPr>
              <a:t>Handle invalid task numbers without crashing.</a:t>
            </a:r>
            <a:endParaRPr lang="en-US" sz="1900" dirty="0"/>
          </a:p>
        </p:txBody>
      </p:sp>
      <p:sp>
        <p:nvSpPr>
          <p:cNvPr id="22" name="Task marker 5"/>
          <p:cNvSpPr/>
          <p:nvPr/>
        </p:nvSpPr>
        <p:spPr>
          <a:xfrm>
            <a:off x="4206240" y="4613148"/>
            <a:ext cx="420624" cy="420624"/>
          </a:xfrm>
          <a:prstGeom prst="ellipse">
            <a:avLst/>
          </a:prstGeom>
          <a:solidFill>
            <a:schemeClr val="accent2"/>
          </a:solidFill>
          <a:ln/>
        </p:spPr>
      </p:sp>
      <p:sp>
        <p:nvSpPr>
          <p:cNvPr id="23" name="Task number"/>
          <p:cNvSpPr txBox="1"/>
          <p:nvPr/>
        </p:nvSpPr>
        <p:spPr>
          <a:xfrm>
            <a:off x="4206240" y="46131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450080"/>
            <a:ext cx="6766560" cy="746760"/>
          </a:xfrm>
          <a:prstGeom prst="rect">
            <a:avLst/>
          </a:prstGeom>
          <a:noFill/>
          <a:ln/>
        </p:spPr>
        <p:txBody>
          <a:bodyPr wrap="square" lIns="0" tIns="0" rIns="0" bIns="0" rtlCol="0" anchor="ctr"/>
          <a:lstStyle/>
          <a:p>
            <a:pPr indent="0" marL="0">
              <a:buNone/>
            </a:pPr>
            <a:r>
              <a:rPr lang="en-US" sz="1900" dirty="0">
                <a:solidFill>
                  <a:schemeClr val="tx1"/>
                </a:solidFill>
              </a:rPr>
              <a:t>Use functions and follow the coding standards.</a:t>
            </a:r>
            <a:endParaRPr lang="en-US" sz="1900" dirty="0"/>
          </a:p>
        </p:txBody>
      </p:sp>
      <p:sp>
        <p:nvSpPr>
          <p:cNvPr id="25" name="Task marker 6"/>
          <p:cNvSpPr/>
          <p:nvPr/>
        </p:nvSpPr>
        <p:spPr>
          <a:xfrm>
            <a:off x="4206240" y="5359908"/>
            <a:ext cx="420624" cy="420624"/>
          </a:xfrm>
          <a:prstGeom prst="ellipse">
            <a:avLst/>
          </a:prstGeom>
          <a:solidFill>
            <a:schemeClr val="accent2"/>
          </a:solidFill>
          <a:ln/>
        </p:spPr>
      </p:sp>
      <p:sp>
        <p:nvSpPr>
          <p:cNvPr id="26" name="Task number"/>
          <p:cNvSpPr txBox="1"/>
          <p:nvPr/>
        </p:nvSpPr>
        <p:spPr>
          <a:xfrm>
            <a:off x="4206240" y="53599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7" name="Task text"/>
          <p:cNvSpPr txBox="1"/>
          <p:nvPr/>
        </p:nvSpPr>
        <p:spPr>
          <a:xfrm>
            <a:off x="4846320" y="5196840"/>
            <a:ext cx="6766560" cy="746760"/>
          </a:xfrm>
          <a:prstGeom prst="rect">
            <a:avLst/>
          </a:prstGeom>
          <a:noFill/>
          <a:ln/>
        </p:spPr>
        <p:txBody>
          <a:bodyPr wrap="square" lIns="0" tIns="0" rIns="0" bIns="0" rtlCol="0" anchor="ctr"/>
          <a:lstStyle/>
          <a:p>
            <a:pPr indent="0" marL="0">
              <a:buNone/>
            </a:pPr>
            <a:r>
              <a:rPr lang="en-US" sz="1900" dirty="0">
                <a:solidFill>
                  <a:schemeClr val="tx1"/>
                </a:solidFill>
              </a:rPr>
              <a:t>Run python tests.py until every check passes.</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Test plan for the Task Tracker</a:t>
            </a:r>
            <a:endParaRPr lang="en-US" sz="3000" dirty="0"/>
          </a:p>
        </p:txBody>
      </p:sp>
      <p:graphicFrame>
        <p:nvGraphicFramePr>
          <p:cNvPr id="26"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3108960"/>
                <a:gridCol w="5212080"/>
              </a:tblGrid>
              <a:tr h="566928">
                <a:tc>
                  <a:txBody>
                    <a:bodyPr/>
                    <a:lstStyle/>
                    <a:p>
                      <a:pPr indent="0" marL="0">
                        <a:buNone/>
                      </a:pPr>
                      <a:r>
                        <a:rPr lang="en-US" sz="1600" b="1" dirty="0">
                          <a:solidFill>
                            <a:schemeClr val="bg1"/>
                          </a:solidFill>
                        </a:rPr>
                        <a:t>Test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Input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Expected result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66928">
                <a:tc>
                  <a:txBody>
                    <a:bodyPr/>
                    <a:lstStyle/>
                    <a:p>
                      <a:pPr indent="0" marL="0">
                        <a:buNone/>
                      </a:pPr>
                      <a:r>
                        <a:rPr lang="en-US" sz="1600" b="1" dirty="0">
                          <a:solidFill>
                            <a:schemeClr val="tx1"/>
                          </a:solidFill>
                        </a:rPr>
                        <a:t>Add task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Buy milk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Task added, shown as number 1</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Empty title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(blank or spaces)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Rejected with a clear message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Complete task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Task shown as done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Out of range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99</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Clear message, no crash</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Non-numeric number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abc</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Clear message, no crash</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Remove task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Task removed, list renumbered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Write the README</a:t>
            </a:r>
            <a:endParaRPr lang="en-US" sz="3000" dirty="0"/>
          </a:p>
        </p:txBody>
      </p:sp>
      <p:sp>
        <p:nvSpPr>
          <p:cNvPr id="4" name="Step marker 1"/>
          <p:cNvSpPr/>
          <p:nvPr/>
        </p:nvSpPr>
        <p:spPr>
          <a:xfrm>
            <a:off x="548640" y="1572768"/>
            <a:ext cx="457200" cy="457200"/>
          </a:xfrm>
          <a:prstGeom prst="ellipse">
            <a:avLst/>
          </a:prstGeom>
          <a:solidFill>
            <a:schemeClr val="accent1"/>
          </a:solidFill>
          <a:ln/>
        </p:spPr>
      </p:sp>
      <p:sp>
        <p:nvSpPr>
          <p:cNvPr id="5" name="Step number"/>
          <p:cNvSpPr txBox="1"/>
          <p:nvPr/>
        </p:nvSpPr>
        <p:spPr>
          <a:xfrm>
            <a:off x="548640"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text"/>
          <p:cNvSpPr txBox="1"/>
          <p:nvPr/>
        </p:nvSpPr>
        <p:spPr>
          <a:xfrm>
            <a:off x="1188720" y="1463040"/>
            <a:ext cx="10424160" cy="713232"/>
          </a:xfrm>
          <a:prstGeom prst="rect">
            <a:avLst/>
          </a:prstGeom>
          <a:noFill/>
          <a:ln/>
        </p:spPr>
        <p:txBody>
          <a:bodyPr wrap="square" lIns="0" tIns="0" rIns="0" bIns="0" rtlCol="0" anchor="ctr"/>
          <a:lstStyle/>
          <a:p>
            <a:pPr indent="0" marL="0">
              <a:buNone/>
            </a:pPr>
            <a:r>
              <a:rPr lang="en-US" sz="2000" b="1" dirty="0">
                <a:solidFill>
                  <a:schemeClr val="accent1"/>
                </a:solidFill>
              </a:rPr>
              <a:t>Purpose.  </a:t>
            </a:r>
            <a:pPr indent="0" marL="0">
              <a:buNone/>
            </a:pPr>
            <a:r>
              <a:rPr lang="en-US" sz="2000" dirty="0">
                <a:solidFill>
                  <a:schemeClr val="tx1"/>
                </a:solidFill>
              </a:rPr>
              <a:t>One or two sentences on what the app does.</a:t>
            </a:r>
            <a:endParaRPr lang="en-US" sz="2000" dirty="0"/>
          </a:p>
        </p:txBody>
      </p:sp>
      <p:sp>
        <p:nvSpPr>
          <p:cNvPr id="7" name="Step marker 2"/>
          <p:cNvSpPr/>
          <p:nvPr/>
        </p:nvSpPr>
        <p:spPr>
          <a:xfrm>
            <a:off x="548640" y="2286000"/>
            <a:ext cx="457200" cy="457200"/>
          </a:xfrm>
          <a:prstGeom prst="ellipse">
            <a:avLst/>
          </a:prstGeom>
          <a:solidFill>
            <a:schemeClr val="accent1"/>
          </a:solidFill>
          <a:ln/>
        </p:spPr>
      </p:sp>
      <p:sp>
        <p:nvSpPr>
          <p:cNvPr id="8" name="Step number"/>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tep text"/>
          <p:cNvSpPr txBox="1"/>
          <p:nvPr/>
        </p:nvSpPr>
        <p:spPr>
          <a:xfrm>
            <a:off x="1188720" y="2176272"/>
            <a:ext cx="10424160" cy="713232"/>
          </a:xfrm>
          <a:prstGeom prst="rect">
            <a:avLst/>
          </a:prstGeom>
          <a:noFill/>
          <a:ln/>
        </p:spPr>
        <p:txBody>
          <a:bodyPr wrap="square" lIns="0" tIns="0" rIns="0" bIns="0" rtlCol="0" anchor="ctr"/>
          <a:lstStyle/>
          <a:p>
            <a:pPr indent="0" marL="0">
              <a:buNone/>
            </a:pPr>
            <a:r>
              <a:rPr lang="en-US" sz="2000" b="1" dirty="0">
                <a:solidFill>
                  <a:schemeClr val="accent1"/>
                </a:solidFill>
              </a:rPr>
              <a:t>Requirements.  </a:t>
            </a:r>
            <a:pPr indent="0" marL="0">
              <a:buNone/>
            </a:pPr>
            <a:r>
              <a:rPr lang="en-US" sz="2000" dirty="0">
                <a:solidFill>
                  <a:schemeClr val="tx1"/>
                </a:solidFill>
              </a:rPr>
              <a:t>Python version and any dependencies.</a:t>
            </a:r>
            <a:endParaRPr lang="en-US" sz="2000" dirty="0"/>
          </a:p>
        </p:txBody>
      </p:sp>
      <p:sp>
        <p:nvSpPr>
          <p:cNvPr id="10" name="Step marker 3"/>
          <p:cNvSpPr/>
          <p:nvPr/>
        </p:nvSpPr>
        <p:spPr>
          <a:xfrm>
            <a:off x="548640" y="2999232"/>
            <a:ext cx="457200" cy="457200"/>
          </a:xfrm>
          <a:prstGeom prst="ellipse">
            <a:avLst/>
          </a:prstGeom>
          <a:solidFill>
            <a:schemeClr val="accent1"/>
          </a:solidFill>
          <a:ln/>
        </p:spPr>
      </p:sp>
      <p:sp>
        <p:nvSpPr>
          <p:cNvPr id="11" name="Step number"/>
          <p:cNvSpPr txBox="1"/>
          <p:nvPr/>
        </p:nvSpPr>
        <p:spPr>
          <a:xfrm>
            <a:off x="548640" y="2999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Step text"/>
          <p:cNvSpPr txBox="1"/>
          <p:nvPr/>
        </p:nvSpPr>
        <p:spPr>
          <a:xfrm>
            <a:off x="1188720" y="2889504"/>
            <a:ext cx="10424160" cy="713232"/>
          </a:xfrm>
          <a:prstGeom prst="rect">
            <a:avLst/>
          </a:prstGeom>
          <a:noFill/>
          <a:ln/>
        </p:spPr>
        <p:txBody>
          <a:bodyPr wrap="square" lIns="0" tIns="0" rIns="0" bIns="0" rtlCol="0" anchor="ctr"/>
          <a:lstStyle/>
          <a:p>
            <a:pPr indent="0" marL="0">
              <a:buNone/>
            </a:pPr>
            <a:r>
              <a:rPr lang="en-US" sz="2000" b="1" dirty="0">
                <a:solidFill>
                  <a:schemeClr val="accent1"/>
                </a:solidFill>
              </a:rPr>
              <a:t>How to run.  </a:t>
            </a:r>
            <a:pPr indent="0" marL="0">
              <a:buNone/>
            </a:pPr>
            <a:r>
              <a:rPr lang="en-US" sz="2000" dirty="0">
                <a:solidFill>
                  <a:schemeClr val="tx1"/>
                </a:solidFill>
              </a:rPr>
              <a:t>The exact command: python main.py</a:t>
            </a:r>
            <a:endParaRPr lang="en-US" sz="2000" dirty="0"/>
          </a:p>
        </p:txBody>
      </p:sp>
      <p:sp>
        <p:nvSpPr>
          <p:cNvPr id="13" name="Step marker 4"/>
          <p:cNvSpPr/>
          <p:nvPr/>
        </p:nvSpPr>
        <p:spPr>
          <a:xfrm>
            <a:off x="548640" y="3712464"/>
            <a:ext cx="457200" cy="457200"/>
          </a:xfrm>
          <a:prstGeom prst="ellipse">
            <a:avLst/>
          </a:prstGeom>
          <a:solidFill>
            <a:schemeClr val="accent1"/>
          </a:solidFill>
          <a:ln/>
        </p:spPr>
      </p:sp>
      <p:sp>
        <p:nvSpPr>
          <p:cNvPr id="14" name="Step number"/>
          <p:cNvSpPr txBox="1"/>
          <p:nvPr/>
        </p:nvSpPr>
        <p:spPr>
          <a:xfrm>
            <a:off x="548640" y="37124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Step text"/>
          <p:cNvSpPr txBox="1"/>
          <p:nvPr/>
        </p:nvSpPr>
        <p:spPr>
          <a:xfrm>
            <a:off x="1188720" y="3602736"/>
            <a:ext cx="10424160" cy="713232"/>
          </a:xfrm>
          <a:prstGeom prst="rect">
            <a:avLst/>
          </a:prstGeom>
          <a:noFill/>
          <a:ln/>
        </p:spPr>
        <p:txBody>
          <a:bodyPr wrap="square" lIns="0" tIns="0" rIns="0" bIns="0" rtlCol="0" anchor="ctr"/>
          <a:lstStyle/>
          <a:p>
            <a:pPr indent="0" marL="0">
              <a:buNone/>
            </a:pPr>
            <a:r>
              <a:rPr lang="en-US" sz="2000" b="1" dirty="0">
                <a:solidFill>
                  <a:schemeClr val="accent1"/>
                </a:solidFill>
              </a:rPr>
              <a:t>How to use.  </a:t>
            </a:r>
            <a:pPr indent="0" marL="0">
              <a:buNone/>
            </a:pPr>
            <a:r>
              <a:rPr lang="en-US" sz="2000" dirty="0">
                <a:solidFill>
                  <a:schemeClr val="tx1"/>
                </a:solidFill>
              </a:rPr>
              <a:t>Menu options with a short example session.</a:t>
            </a:r>
            <a:endParaRPr lang="en-US" sz="2000" dirty="0"/>
          </a:p>
        </p:txBody>
      </p:sp>
      <p:sp>
        <p:nvSpPr>
          <p:cNvPr id="16" name="Step marker 5"/>
          <p:cNvSpPr/>
          <p:nvPr/>
        </p:nvSpPr>
        <p:spPr>
          <a:xfrm>
            <a:off x="548640" y="4425696"/>
            <a:ext cx="457200" cy="457200"/>
          </a:xfrm>
          <a:prstGeom prst="ellipse">
            <a:avLst/>
          </a:prstGeom>
          <a:solidFill>
            <a:schemeClr val="accent1"/>
          </a:solidFill>
          <a:ln/>
        </p:spPr>
      </p:sp>
      <p:sp>
        <p:nvSpPr>
          <p:cNvPr id="17" name="Step number"/>
          <p:cNvSpPr txBox="1"/>
          <p:nvPr/>
        </p:nvSpPr>
        <p:spPr>
          <a:xfrm>
            <a:off x="548640" y="44256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Step text"/>
          <p:cNvSpPr txBox="1"/>
          <p:nvPr/>
        </p:nvSpPr>
        <p:spPr>
          <a:xfrm>
            <a:off x="1188720" y="4315968"/>
            <a:ext cx="10424160" cy="713232"/>
          </a:xfrm>
          <a:prstGeom prst="rect">
            <a:avLst/>
          </a:prstGeom>
          <a:noFill/>
          <a:ln/>
        </p:spPr>
        <p:txBody>
          <a:bodyPr wrap="square" lIns="0" tIns="0" rIns="0" bIns="0" rtlCol="0" anchor="ctr"/>
          <a:lstStyle/>
          <a:p>
            <a:pPr indent="0" marL="0">
              <a:buNone/>
            </a:pPr>
            <a:r>
              <a:rPr lang="en-US" sz="2000" b="1" dirty="0">
                <a:solidFill>
                  <a:schemeClr val="accent1"/>
                </a:solidFill>
              </a:rPr>
              <a:t>Testing.  </a:t>
            </a:r>
            <a:pPr indent="0" marL="0">
              <a:buNone/>
            </a:pPr>
            <a:r>
              <a:rPr lang="en-US" sz="2000" dirty="0">
                <a:solidFill>
                  <a:schemeClr val="tx1"/>
                </a:solidFill>
              </a:rPr>
              <a:t>How to run the tests and what to expect.</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Delivery: reproducible setup</a:t>
            </a:r>
            <a:endParaRPr lang="en-US" sz="3000" dirty="0"/>
          </a:p>
        </p:txBody>
      </p:sp>
      <p:sp>
        <p:nvSpPr>
          <p:cNvPr id="4" name="Code block"/>
          <p:cNvSpPr/>
          <p:nvPr/>
        </p:nvSpPr>
        <p:spPr>
          <a:xfrm>
            <a:off x="548640" y="1463040"/>
            <a:ext cx="6583680" cy="1545336"/>
          </a:xfrm>
          <a:prstGeom prst="roundRect">
            <a:avLst>
              <a:gd name="adj" fmla="val 4734"/>
            </a:avLst>
          </a:prstGeom>
          <a:solidFill>
            <a:srgbClr val="0B1B38"/>
          </a:solidFill>
          <a:ln/>
        </p:spPr>
      </p:sp>
      <p:sp>
        <p:nvSpPr>
          <p:cNvPr id="5" name="Code text"/>
          <p:cNvSpPr txBox="1"/>
          <p:nvPr/>
        </p:nvSpPr>
        <p:spPr>
          <a:xfrm>
            <a:off x="777240" y="1645920"/>
            <a:ext cx="6126480" cy="1179576"/>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python -m venv .venv</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.venv\Scripts\activate</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pip install -r requirements.txt</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python main.py</a:t>
            </a:r>
            <a:endParaRPr lang="en-US" sz="1600" dirty="0"/>
          </a:p>
        </p:txBody>
      </p:sp>
      <p:sp>
        <p:nvSpPr>
          <p:cNvPr id="6"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Dependencies and environments</a:t>
            </a:r>
            <a:endParaRPr lang="en-US" sz="2200" dirty="0"/>
          </a:p>
        </p:txBody>
      </p:sp>
      <p:sp>
        <p:nvSpPr>
          <p:cNvPr id="7"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Task Tracker uses only the standard library</a:t>
            </a:r>
            <a:endParaRPr lang="en-US" sz="1800" dirty="0"/>
          </a:p>
          <a:p>
            <a:pPr marL="342900" indent="-342900">
              <a:spcAft>
                <a:spcPts val="1000"/>
              </a:spcAft>
              <a:buSzPct val="100000"/>
              <a:buChar char="•"/>
            </a:pPr>
            <a:r>
              <a:rPr lang="en-US" sz="1800" dirty="0">
                <a:solidFill>
                  <a:schemeClr val="tx1"/>
                </a:solidFill>
              </a:rPr>
              <a:t>So requirements.txt is optional today</a:t>
            </a:r>
            <a:endParaRPr lang="en-US" sz="1800" dirty="0"/>
          </a:p>
          <a:p>
            <a:pPr marL="342900" indent="-342900">
              <a:spcAft>
                <a:spcPts val="1000"/>
              </a:spcAft>
              <a:buSzPct val="100000"/>
              <a:buChar char="•"/>
            </a:pPr>
            <a:r>
              <a:rPr lang="en-US" sz="1800" dirty="0">
                <a:solidFill>
                  <a:schemeClr val="tx1"/>
                </a:solidFill>
              </a:rPr>
              <a:t>With third-party packages, use a virtual environment</a:t>
            </a:r>
            <a:endParaRPr lang="en-US" sz="1800" dirty="0"/>
          </a:p>
          <a:p>
            <a:pPr marL="342900" indent="-342900">
              <a:spcAft>
                <a:spcPts val="1000"/>
              </a:spcAft>
              <a:buSzPct val="100000"/>
              <a:buChar char="•"/>
            </a:pPr>
            <a:r>
              <a:rPr lang="en-US" sz="1800" dirty="0">
                <a:solidFill>
                  <a:schemeClr val="tx1"/>
                </a:solidFill>
              </a:rPr>
              <a:t>List packages in requirements.txt</a:t>
            </a:r>
            <a:endParaRPr lang="en-US" sz="1800" dirty="0"/>
          </a:p>
          <a:p>
            <a:pPr marL="342900" indent="-342900">
              <a:spcAft>
                <a:spcPts val="1000"/>
              </a:spcAft>
              <a:buSzPct val="100000"/>
              <a:buChar char="•"/>
            </a:pPr>
            <a:r>
              <a:rPr lang="en-US" sz="1800" dirty="0">
                <a:solidFill>
                  <a:schemeClr val="tx1"/>
                </a:solidFill>
              </a:rPr>
              <a:t>On macOS/Linux: source .venv/bin/activate</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Peer demonstration</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8 minutes (60-68)</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Brief explanation of the debugging process.</a:t>
            </a:r>
            <a:endParaRPr lang="en-US" sz="1600" dirty="0"/>
          </a:p>
        </p:txBody>
      </p:sp>
      <p:sp>
        <p:nvSpPr>
          <p:cNvPr id="10" name="Task marker 1"/>
          <p:cNvSpPr/>
          <p:nvPr/>
        </p:nvSpPr>
        <p:spPr>
          <a:xfrm>
            <a:off x="4206240" y="1641348"/>
            <a:ext cx="420624" cy="420624"/>
          </a:xfrm>
          <a:prstGeom prst="ellipse">
            <a:avLst/>
          </a:prstGeom>
          <a:solidFill>
            <a:schemeClr val="accent2"/>
          </a:solidFill>
          <a:ln/>
        </p:spPr>
      </p:sp>
      <p:sp>
        <p:nvSpPr>
          <p:cNvPr id="11" name="Task number"/>
          <p:cNvSpPr txBox="1"/>
          <p:nvPr/>
        </p:nvSpPr>
        <p:spPr>
          <a:xfrm>
            <a:off x="4206240" y="16413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77240"/>
          </a:xfrm>
          <a:prstGeom prst="rect">
            <a:avLst/>
          </a:prstGeom>
          <a:noFill/>
          <a:ln/>
        </p:spPr>
        <p:txBody>
          <a:bodyPr wrap="square" lIns="0" tIns="0" rIns="0" bIns="0" rtlCol="0" anchor="ctr"/>
          <a:lstStyle/>
          <a:p>
            <a:pPr indent="0" marL="0">
              <a:buNone/>
            </a:pPr>
            <a:r>
              <a:rPr lang="en-US" sz="1900" dirty="0">
                <a:solidFill>
                  <a:schemeClr val="tx1"/>
                </a:solidFill>
              </a:rPr>
              <a:t>Give your partner the project folder and README only.</a:t>
            </a:r>
            <a:endParaRPr lang="en-US" sz="1900" dirty="0"/>
          </a:p>
        </p:txBody>
      </p:sp>
      <p:sp>
        <p:nvSpPr>
          <p:cNvPr id="13" name="Task marker 2"/>
          <p:cNvSpPr/>
          <p:nvPr/>
        </p:nvSpPr>
        <p:spPr>
          <a:xfrm>
            <a:off x="4206240" y="2418588"/>
            <a:ext cx="420624" cy="420624"/>
          </a:xfrm>
          <a:prstGeom prst="ellipse">
            <a:avLst/>
          </a:prstGeom>
          <a:solidFill>
            <a:schemeClr val="accent2"/>
          </a:solidFill>
          <a:ln/>
        </p:spPr>
      </p:sp>
      <p:sp>
        <p:nvSpPr>
          <p:cNvPr id="14" name="Task number"/>
          <p:cNvSpPr txBox="1"/>
          <p:nvPr/>
        </p:nvSpPr>
        <p:spPr>
          <a:xfrm>
            <a:off x="4206240" y="24185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40280"/>
            <a:ext cx="6766560" cy="777240"/>
          </a:xfrm>
          <a:prstGeom prst="rect">
            <a:avLst/>
          </a:prstGeom>
          <a:noFill/>
          <a:ln/>
        </p:spPr>
        <p:txBody>
          <a:bodyPr wrap="square" lIns="0" tIns="0" rIns="0" bIns="0" rtlCol="0" anchor="ctr"/>
          <a:lstStyle/>
          <a:p>
            <a:pPr indent="0" marL="0">
              <a:buNone/>
            </a:pPr>
            <a:r>
              <a:rPr lang="en-US" sz="1900" dirty="0">
                <a:solidFill>
                  <a:schemeClr val="tx1"/>
                </a:solidFill>
              </a:rPr>
              <a:t>They run the app by following your README.</a:t>
            </a:r>
            <a:endParaRPr lang="en-US" sz="1900" dirty="0"/>
          </a:p>
        </p:txBody>
      </p:sp>
      <p:sp>
        <p:nvSpPr>
          <p:cNvPr id="16" name="Task marker 3"/>
          <p:cNvSpPr/>
          <p:nvPr/>
        </p:nvSpPr>
        <p:spPr>
          <a:xfrm>
            <a:off x="4206240" y="3195828"/>
            <a:ext cx="420624" cy="420624"/>
          </a:xfrm>
          <a:prstGeom prst="ellipse">
            <a:avLst/>
          </a:prstGeom>
          <a:solidFill>
            <a:schemeClr val="accent2"/>
          </a:solidFill>
          <a:ln/>
        </p:spPr>
      </p:sp>
      <p:sp>
        <p:nvSpPr>
          <p:cNvPr id="17" name="Task number"/>
          <p:cNvSpPr txBox="1"/>
          <p:nvPr/>
        </p:nvSpPr>
        <p:spPr>
          <a:xfrm>
            <a:off x="4206240" y="31958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3017520"/>
            <a:ext cx="6766560" cy="777240"/>
          </a:xfrm>
          <a:prstGeom prst="rect">
            <a:avLst/>
          </a:prstGeom>
          <a:noFill/>
          <a:ln/>
        </p:spPr>
        <p:txBody>
          <a:bodyPr wrap="square" lIns="0" tIns="0" rIns="0" bIns="0" rtlCol="0" anchor="ctr"/>
          <a:lstStyle/>
          <a:p>
            <a:pPr indent="0" marL="0">
              <a:buNone/>
            </a:pPr>
            <a:r>
              <a:rPr lang="en-US" sz="1900" dirty="0">
                <a:solidFill>
                  <a:schemeClr val="tx1"/>
                </a:solidFill>
              </a:rPr>
              <a:t>Show a normal case and an invalid input.</a:t>
            </a:r>
            <a:endParaRPr lang="en-US" sz="1900" dirty="0"/>
          </a:p>
        </p:txBody>
      </p:sp>
      <p:sp>
        <p:nvSpPr>
          <p:cNvPr id="19" name="Task marker 4"/>
          <p:cNvSpPr/>
          <p:nvPr/>
        </p:nvSpPr>
        <p:spPr>
          <a:xfrm>
            <a:off x="4206240" y="3973068"/>
            <a:ext cx="420624" cy="420624"/>
          </a:xfrm>
          <a:prstGeom prst="ellipse">
            <a:avLst/>
          </a:prstGeom>
          <a:solidFill>
            <a:schemeClr val="accent2"/>
          </a:solidFill>
          <a:ln/>
        </p:spPr>
      </p:sp>
      <p:sp>
        <p:nvSpPr>
          <p:cNvPr id="20" name="Task number"/>
          <p:cNvSpPr txBox="1"/>
          <p:nvPr/>
        </p:nvSpPr>
        <p:spPr>
          <a:xfrm>
            <a:off x="4206240" y="39730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94760"/>
            <a:ext cx="6766560" cy="777240"/>
          </a:xfrm>
          <a:prstGeom prst="rect">
            <a:avLst/>
          </a:prstGeom>
          <a:noFill/>
          <a:ln/>
        </p:spPr>
        <p:txBody>
          <a:bodyPr wrap="square" lIns="0" tIns="0" rIns="0" bIns="0" rtlCol="0" anchor="ctr"/>
          <a:lstStyle/>
          <a:p>
            <a:pPr indent="0" marL="0">
              <a:buNone/>
            </a:pPr>
            <a:r>
              <a:rPr lang="en-US" sz="1900" dirty="0">
                <a:solidFill>
                  <a:schemeClr val="tx1"/>
                </a:solidFill>
              </a:rPr>
              <a:t>Explain one bug you found and how you fixed it.</a:t>
            </a:r>
            <a:endParaRPr lang="en-US" sz="1900" dirty="0"/>
          </a:p>
        </p:txBody>
      </p:sp>
      <p:sp>
        <p:nvSpPr>
          <p:cNvPr id="22" name="Task marker 5"/>
          <p:cNvSpPr/>
          <p:nvPr/>
        </p:nvSpPr>
        <p:spPr>
          <a:xfrm>
            <a:off x="4206240" y="4750308"/>
            <a:ext cx="420624" cy="420624"/>
          </a:xfrm>
          <a:prstGeom prst="ellipse">
            <a:avLst/>
          </a:prstGeom>
          <a:solidFill>
            <a:schemeClr val="accent2"/>
          </a:solidFill>
          <a:ln/>
        </p:spPr>
      </p:sp>
      <p:sp>
        <p:nvSpPr>
          <p:cNvPr id="23" name="Task number"/>
          <p:cNvSpPr txBox="1"/>
          <p:nvPr/>
        </p:nvSpPr>
        <p:spPr>
          <a:xfrm>
            <a:off x="4206240" y="47503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572000"/>
            <a:ext cx="6766560" cy="777240"/>
          </a:xfrm>
          <a:prstGeom prst="rect">
            <a:avLst/>
          </a:prstGeom>
          <a:noFill/>
          <a:ln/>
        </p:spPr>
        <p:txBody>
          <a:bodyPr wrap="square" lIns="0" tIns="0" rIns="0" bIns="0" rtlCol="0" anchor="ctr"/>
          <a:lstStyle/>
          <a:p>
            <a:pPr indent="0" marL="0">
              <a:buNone/>
            </a:pPr>
            <a:r>
              <a:rPr lang="en-US" sz="1900" dirty="0">
                <a:solidFill>
                  <a:schemeClr val="tx1"/>
                </a:solidFill>
              </a:rPr>
              <a:t>Swap roles and give each other feedback.</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Reflection and evidence</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ClipboardCheck" descr="ClipboardCheck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37"/>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Evidence to collect</a:t>
            </a:r>
            <a:endParaRPr lang="en-US" sz="2400" dirty="0"/>
          </a:p>
        </p:txBody>
      </p:sp>
      <p:sp>
        <p:nvSpPr>
          <p:cNvPr id="8" name="Text 38"/>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Source code, README, test results and a brief explanation of your debugging process.</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CommentDots" descr="CommentDots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39"/>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Reflect</a:t>
            </a:r>
            <a:endParaRPr lang="en-US" sz="2400" dirty="0"/>
          </a:p>
        </p:txBody>
      </p:sp>
      <p:sp>
        <p:nvSpPr>
          <p:cNvPr id="13" name="Text 40"/>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Which tool or habit changed how you write code most? What would you improve next time?</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FlagCheckered" descr="FlagCheckered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41"/>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Next steps</a:t>
            </a:r>
            <a:endParaRPr lang="en-US" sz="2400" dirty="0"/>
          </a:p>
        </p:txBody>
      </p:sp>
      <p:sp>
        <p:nvSpPr>
          <p:cNvPr id="18" name="Text 42"/>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Map your evidence to the assignment criteria, then use Git for version control when you are ready.</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Unit summary: three classes</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LaptopCode" descr="LaptopCode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43"/>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Class 1: tools</a:t>
            </a:r>
            <a:endParaRPr lang="en-US" sz="2400" dirty="0"/>
          </a:p>
        </p:txBody>
      </p:sp>
      <p:sp>
        <p:nvSpPr>
          <p:cNvPr id="8" name="Text 44"/>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IDE components, running a project, error types and the debugging workflow.</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Search" descr="Search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45"/>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Class 2: investigate</a:t>
            </a:r>
            <a:endParaRPr lang="en-US" sz="2400" dirty="0"/>
          </a:p>
        </p:txBody>
      </p:sp>
      <p:sp>
        <p:nvSpPr>
          <p:cNvPr id="13" name="Text 46"/>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Breakpoints, watch lists, tracing, coding standards and code review.</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ShieldAlt" descr="ShieldAlt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47"/>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Class 3: deliver</a:t>
            </a:r>
            <a:endParaRPr lang="en-US" sz="2400" dirty="0"/>
          </a:p>
        </p:txBody>
      </p:sp>
      <p:sp>
        <p:nvSpPr>
          <p:cNvPr id="18" name="Text 48"/>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Secure input, testing and a documented, runnable application.</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KCIC Navy Gold">
  <a:themeElements>
    <a:clrScheme name="KCIC Navy Gold">
      <a:dk1>
        <a:srgbClr val="1F2937"/>
      </a:dk1>
      <a:lt1>
        <a:srgbClr val="FFFFFF"/>
      </a:lt1>
      <a:dk2>
        <a:srgbClr val="03265E"/>
      </a:dk2>
      <a:lt2>
        <a:srgbClr val="F1F4F9"/>
      </a:lt2>
      <a:accent1>
        <a:srgbClr val="03265E"/>
      </a:accent1>
      <a:accent2>
        <a:srgbClr val="B8975A"/>
      </a:accent2>
      <a:accent3>
        <a:srgbClr val="1E7A4F"/>
      </a:accent3>
      <a:accent4>
        <a:srgbClr val="B3261E"/>
      </a:accent4>
      <a:accent5>
        <a:srgbClr val="2F6DB5"/>
      </a:accent5>
      <a:accent6>
        <a:srgbClr val="5B6678"/>
      </a:accent6>
      <a:hlink>
        <a:srgbClr val="2F6DB5"/>
      </a:hlink>
      <a:folHlink>
        <a:srgbClr val="5B6678"/>
      </a:folHlink>
    </a:clrScheme>
    <a:fontScheme name="KCIC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Kings Cornerstone International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3 - Security, Testing and Application Delivery</dc:title>
  <dc:subject>Sessions 5-6</dc:subject>
  <dc:creator>KCIC Computing Department</dc:creator>
  <cp:lastModifiedBy>KCIC Computing Department</cp:lastModifiedBy>
  <cp:revision>1</cp:revision>
  <dcterms:created xsi:type="dcterms:W3CDTF">2026-10-11T08:19:30Z</dcterms:created>
  <dcterms:modified xsi:type="dcterms:W3CDTF">2026-10-11T08:19:30Z</dcterms:modified>
</cp:coreProperties>
</file>